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07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2743200"/>
            <a:ext cx="4572000" cy="502920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1"/>
          <p:cNvSpPr/>
          <p:nvPr/>
        </p:nvSpPr>
        <p:spPr>
          <a:xfrm>
            <a:off x="685800" y="2743200"/>
            <a:ext cx="45720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0000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CAPSTONE PROJECT I · E5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685800" y="352044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4E4B4C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Evaluación del modelo: plan, baseline, Model Card y riesgos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82690" y="5345758"/>
            <a:ext cx="7138073" cy="921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1" dirty="0">
                <a:solidFill>
                  <a:srgbClr val="4E4B4C"/>
                </a:solidFill>
                <a:latin typeface="Arial Nova Light"/>
              </a:rPr>
              <a:t>Equipo N.º 7 · Proyecto: Portal Gamarrino AI</a:t>
            </a:r>
            <a:endParaRPr lang="en-US" sz="1400" b="1" dirty="0"/>
          </a:p>
          <a:p>
            <a:endParaRPr lang="en-US" sz="1400" dirty="0"/>
          </a:p>
          <a:p>
            <a:r>
              <a:rPr sz="1400" dirty="0" err="1">
                <a:solidFill>
                  <a:srgbClr val="4E4B4C"/>
                </a:solidFill>
                <a:latin typeface="Arial Nova Light"/>
              </a:rPr>
              <a:t>Integrantes</a:t>
            </a:r>
            <a:r>
              <a:rPr sz="1400" dirty="0">
                <a:solidFill>
                  <a:srgbClr val="4E4B4C"/>
                </a:solidFill>
                <a:latin typeface="Arial Nova Light"/>
              </a:rPr>
              <a:t>: 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Christian Cajusol, </a:t>
            </a:r>
            <a:r>
              <a:rPr lang="es-PE" sz="1400" b="1" dirty="0">
                <a:solidFill>
                  <a:srgbClr val="4E4B4C"/>
                </a:solidFill>
                <a:latin typeface="Arial Nova Light"/>
              </a:rPr>
              <a:t>Hugo Ángeles, 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Francisco Meza, Jhomar </a:t>
            </a:r>
            <a:r>
              <a:rPr sz="1400" b="1" dirty="0" err="1">
                <a:solidFill>
                  <a:srgbClr val="4E4B4C"/>
                </a:solidFill>
                <a:latin typeface="Arial Nova Light"/>
              </a:rPr>
              <a:t>Yurivilca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 ·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904169"/>
            <a:ext cx="5242255" cy="304966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2557668"/>
            <a:ext cx="4236415" cy="1742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Cómo usar esta plantilla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Estructura común para todos los equipos; el contenido, las métricas y los métodos los eligen y justifican ustedes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85800" y="2377440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23774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1371600" y="23774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Las 6 preguntas del taller de la Semana 6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Evidencias 2.4 y 2.5 del P4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3273552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685800" y="3273552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371600" y="327355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Baseline contra modelo v0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Tabla comparativa con rangos y dónde falla el modelo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Evidencias 2.3, 2.6, 2.7 y 4.2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85800" y="4169664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685800" y="4169664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1371600" y="4169664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Qué es el modelo, para qué sirve y para qué no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 5.3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85800" y="5065776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685800" y="5065776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371600" y="506577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Registro de 3 riesgos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El registro del pre-mortem, completo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 5.4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0" y="2377440"/>
            <a:ext cx="3733495" cy="342900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/>
          <p:cNvSpPr/>
          <p:nvPr/>
        </p:nvSpPr>
        <p:spPr>
          <a:xfrm>
            <a:off x="8001000" y="2560320"/>
            <a:ext cx="327629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E1FF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Reglas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Cada caja trae pistas en gris: una para ML clásico y otra para LLM o agente. Usen la que corresponda y bórrenlas antes de entregar.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Si algo no aplica a su proyecto, escriban «No aplica, porque…» en una línea. No fuercen contenido.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Los números se reportan con su rango, no solos.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Entrega por Canvas: este archivo en PDF más el enlace al notebook o repositorio.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 (1/2)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1 · PLAN DE EVALUACIÓN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1 · Problema de </a:t>
            </a:r>
            <a:r>
              <a:rPr lang="en-US" sz="1500" b="1" dirty="0" err="1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Agente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2" y="2514599"/>
            <a:ext cx="3215948" cy="3692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Recuperación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semántica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+ ranking top-3 (no es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clasificación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ni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generación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pura).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El LLM solo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redactaría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explicación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breve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cada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coincidencia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; no decide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qué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tiendas se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r>
              <a:rPr lang="es-MX"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</a:p>
          <a:p>
            <a:pPr algn="ctr"/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Unidad: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 del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usuario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×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tiendas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activas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Momento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enviar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 consulta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asistente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web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móvil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antes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salir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casa (81,4%)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durante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viaje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Horizonte: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inmediato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sola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interacción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Contexto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texto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libre + memoria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sesión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+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activo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</a:p>
        </p:txBody>
      </p:sp>
      <p:sp>
        <p:nvSpPr>
          <p:cNvPr id="10" name="Shape 7"/>
          <p:cNvSpPr/>
          <p:nvPr/>
        </p:nvSpPr>
        <p:spPr>
          <a:xfrm>
            <a:off x="4368698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4533290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2 · Métrica ↔ KPI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33290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4438" y="2525953"/>
            <a:ext cx="3125114" cy="334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Métrica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principal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Hit Rate@3, meta pre-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registrada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≥70%.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KPI de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impacto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Tasa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recomendación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útil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≥70%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informe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preliminar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Contrapeso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latencia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promedio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≤6s, p95 ≤10-12s.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Compuesta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(LLM/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agente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):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calidad por etiquetado humano (κ=0,627, bajo el umbral de 0,80 que exige la rúbrica); LLM juez intentado y descartado (κ=0,515, no validó); costo &lt;$0,01 USD por esta prueba; latencia por medir (sin prototipo desplegado aún).</a:t>
            </a:r>
          </a:p>
        </p:txBody>
      </p:sp>
      <p:sp>
        <p:nvSpPr>
          <p:cNvPr id="14" name="Shape 11"/>
          <p:cNvSpPr/>
          <p:nvPr/>
        </p:nvSpPr>
        <p:spPr>
          <a:xfrm>
            <a:off x="8051597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216189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3 · Baselines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6189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98485" y="2644221"/>
            <a:ext cx="3125114" cy="3447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No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hacer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nada: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3 tiendas al azar.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Lo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se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hoy: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como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Gamarra.com.pe / Mi Gamarra), sin NLP.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 simple: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TF-IDF/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léxico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 v0: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embeddings text-embedding-3-small +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similitud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coseno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ChromaDB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escalar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).</a:t>
            </a:r>
          </a:p>
        </p:txBody>
      </p:sp>
      <p:sp>
        <p:nvSpPr>
          <p:cNvPr id="18" name="Text 15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 (2/2)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1 · PLAN DE EVALUACIÓN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799" y="195403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4 · Con qué datos se prueba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1" y="2667990"/>
            <a:ext cx="3125114" cy="323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438 de 1.853 tiendas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consolidado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operativo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sistemática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con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arranque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al azar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semilla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42) de 378 (280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textos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distintos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frecuencia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real),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tomadas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4.000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mano (de 21.186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históricas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Ninguna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consulta de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prueba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se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usó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para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ajustar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 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piloto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no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universo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completo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</a:p>
        </p:txBody>
      </p:sp>
      <p:sp>
        <p:nvSpPr>
          <p:cNvPr id="10" name="Shape 7"/>
          <p:cNvSpPr/>
          <p:nvPr/>
        </p:nvSpPr>
        <p:spPr>
          <a:xfrm>
            <a:off x="4368698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4533290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5 · Un rango y dónde falla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33290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33290" y="2673289"/>
            <a:ext cx="312511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Rango: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IC 95%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bootstrap (1.000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remuestreos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las 378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3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segmentos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ver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Sección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2):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específica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prenda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(240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casos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ambigua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compuesta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(113), con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explícito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(25).</a:t>
            </a:r>
          </a:p>
        </p:txBody>
      </p:sp>
      <p:sp>
        <p:nvSpPr>
          <p:cNvPr id="14" name="Shape 11"/>
          <p:cNvSpPr/>
          <p:nvPr/>
        </p:nvSpPr>
        <p:spPr>
          <a:xfrm>
            <a:off x="8051597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216189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6 · Criterio de decisión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6189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6189" y="2673288"/>
            <a:ext cx="3125114" cy="35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 el Hit Rate@3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v0 no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supera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los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baselines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más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rango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 →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revisar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embeddings/ranking antes del 21-nov.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Resultado real: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SÍ superó a los baselines (intervalos no se cruzan); NO alcanzó la meta pre-registrada de 70% (66,9% &lt; 70%). Decisión: filtro híbrido (metadata + embeddings) para marca/talla/precio, y revisión del segmento ambiguo, antes del prototipo del 21-nov.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costo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o 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latencia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 del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supera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6s prom. / 10-12s p95 →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simplificar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pipeline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cambiar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proveedor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</a:p>
        </p:txBody>
      </p:sp>
      <p:sp>
        <p:nvSpPr>
          <p:cNvPr id="18" name="Text 15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Baseline contra modelo v0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Una fila por opción. La métrica principal es la misma del plan, medida en el conjunto de prueba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2 · BASELINE CONTRA MODELO V0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698"/>
              </p:ext>
            </p:extLst>
          </p:nvPr>
        </p:nvGraphicFramePr>
        <p:xfrm>
          <a:off x="685800" y="2377440"/>
          <a:ext cx="10820095" cy="247497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Opción</a:t>
                      </a:r>
                      <a:endParaRPr lang="en-US" sz="12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latin typeface="+mn-lt"/>
                        </a:rPr>
                        <a:t>Métrica</a:t>
                      </a:r>
                      <a:r>
                        <a:rPr sz="1200" b="1" dirty="0">
                          <a:latin typeface="+mn-lt"/>
                        </a:rPr>
                        <a:t> principal: Hit Rate@3 (con </a:t>
                      </a:r>
                      <a:r>
                        <a:rPr sz="1200" b="1" dirty="0" err="1">
                          <a:latin typeface="+mn-lt"/>
                        </a:rPr>
                        <a:t>rango</a:t>
                      </a:r>
                      <a:r>
                        <a:rPr sz="1200" b="1" dirty="0">
                          <a:latin typeface="+mn-lt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latin typeface="+mn-lt"/>
                        </a:rPr>
                        <a:t>Métrica</a:t>
                      </a:r>
                      <a:r>
                        <a:rPr sz="1200" b="1" dirty="0">
                          <a:latin typeface="+mn-lt"/>
                        </a:rPr>
                        <a:t> de </a:t>
                      </a:r>
                      <a:r>
                        <a:rPr sz="1200" b="1" dirty="0" err="1">
                          <a:latin typeface="+mn-lt"/>
                        </a:rPr>
                        <a:t>contrapeso</a:t>
                      </a:r>
                      <a:r>
                        <a:rPr sz="1200" b="1" dirty="0">
                          <a:latin typeface="+mn-lt"/>
                        </a:rPr>
                        <a:t>: </a:t>
                      </a:r>
                      <a:r>
                        <a:rPr sz="1200" b="1" dirty="0" err="1">
                          <a:latin typeface="+mn-lt"/>
                        </a:rPr>
                        <a:t>Latencia</a:t>
                      </a:r>
                      <a:endParaRPr sz="1200" b="1" dirty="0">
                        <a:latin typeface="+mn-lt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Costo y latencia por caso*</a:t>
                      </a:r>
                      <a:endParaRPr lang="en-US" sz="12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N.º de casos de prueba</a:t>
                      </a:r>
                      <a:endParaRPr lang="en-US" sz="12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dirty="0"/>
                        <a:t>No </a:t>
                      </a:r>
                      <a:r>
                        <a:rPr sz="1400" dirty="0" err="1"/>
                        <a:t>hacer</a:t>
                      </a:r>
                      <a:r>
                        <a:rPr sz="1400" dirty="0"/>
                        <a:t> nada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23,0% [18,8-27,5]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$0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dirty="0"/>
                        <a:t>Lo </a:t>
                      </a:r>
                      <a:r>
                        <a:rPr sz="1400" dirty="0" err="1"/>
                        <a:t>que</a:t>
                      </a:r>
                      <a:r>
                        <a:rPr sz="1400" dirty="0"/>
                        <a:t> se </a:t>
                      </a:r>
                      <a:r>
                        <a:rPr sz="1400" dirty="0" err="1"/>
                        <a:t>hace</a:t>
                      </a:r>
                      <a:r>
                        <a:rPr sz="1400" dirty="0"/>
                        <a:t> hoy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46,8% [41,8-51,6]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Por medir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$0 / &lt;50ms cómputo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dirty="0"/>
                        <a:t>Modelo simple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52,9% [48,2-57,7]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Por medir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$0 / &lt;50ms cómputo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Modelo v0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66,9% [61,9-71,4]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Por medir (sin prototipo)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&lt;$0,01 / ~0,3-0,5s embed.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" y="4893130"/>
            <a:ext cx="108200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5"/>
          <p:cNvSpPr/>
          <p:nvPr/>
        </p:nvSpPr>
        <p:spPr>
          <a:xfrm>
            <a:off x="850392" y="5001768"/>
            <a:ext cx="104909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Lectura en tres líneas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50392" y="5349240"/>
            <a:ext cx="10490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926744" y="5354507"/>
            <a:ext cx="10490911" cy="85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De 46,8% con lo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hoy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 a 66,9% con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v0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ponderado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, IC95% 61,9-71,4%). La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diferencia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es mayor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rango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ambos —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los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no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, es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mejora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real, no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ruido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. 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0" indent="0">
              <a:buNone/>
            </a:pPr>
            <a:endParaRPr lang="es-PE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0" indent="0">
              <a:buNone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Conclusión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justifica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construir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v0 con embeddings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vez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quedarse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con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simple.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685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* Obligatorio para LLM o agente; opcional para ML clásico.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Dónde falla el modelo v0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Error por segmento: dónde funciona peor y por qué creen que pasa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2 · BASELINE CONTRA MODELO V0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163078"/>
              </p:ext>
            </p:extLst>
          </p:nvPr>
        </p:nvGraphicFramePr>
        <p:xfrm>
          <a:off x="685800" y="2377440"/>
          <a:ext cx="10820095" cy="243230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30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Segmento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N.º de casos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Métrica principal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Diferencia frente al total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Por qué creemos que pasa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4E4B4C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Total</a:t>
                      </a:r>
                      <a:endParaRPr lang="en-US" sz="12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378 (280)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66,9%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6A6A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n-US" sz="100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6A6A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n-US" sz="100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dirty="0" err="1">
                          <a:latin typeface="Arial Nova" panose="020B0504020202020204" pitchFamily="34" charset="0"/>
                        </a:rPr>
                        <a:t>Específica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una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prenda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240 (150 sin ponderar)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79,6% [IC95 74,6-84,6]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+12,7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Nombre de prenda claro → el embedding encuentra match directo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Ambigua o compuesta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113 (105 sin ponderar)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50,4% [IC95 41,6-60,2]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-16,5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Sin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prenda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estilo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/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tendencia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sin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etiqueta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catálogo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(yk2,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años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2000, 'de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pinterest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')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Con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marca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precio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25 (25 sin ponderar)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20,0% [IC95 4,0-36,0]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-46,9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Embeddings no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filtran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atributos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estructurados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precio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" y="5052605"/>
            <a:ext cx="10820095" cy="132479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9" name="Text 5"/>
          <p:cNvSpPr/>
          <p:nvPr/>
        </p:nvSpPr>
        <p:spPr>
          <a:xfrm>
            <a:off x="850392" y="5221193"/>
            <a:ext cx="104909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Qué harán con esto antes del 21 de noviembre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50392" y="5257800"/>
            <a:ext cx="104909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50391" y="5577839"/>
            <a:ext cx="10490911" cy="744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Nota: </a:t>
            </a:r>
            <a:r>
              <a:rPr lang="es-MX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 '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diferencia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frente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al total' es un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número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puntual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sin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intervalo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propio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;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es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más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chico (n=25, IC95% de 4,0% a 36,0%) y se lee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indicio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no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conclusión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firme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Declaramos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limitación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conocida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v0 (motor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semántico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no</a:t>
            </a:r>
            <a:r>
              <a:rPr lang="es-MX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estructurado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y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diseñamos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un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filtro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híbrido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(metadata + embeddings) para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prototipo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21-nov.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ambiguo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queda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documentado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Model Card; no se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fuerza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su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corrección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antes de la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entrega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 (1/2)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Versión reducida de Mitchell et al. (2019). Una página en total, repartida en dos láminas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3 · MODEL CARD V0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85800" y="2331720"/>
            <a:ext cx="52957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0392" y="244144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¿</a:t>
            </a:r>
            <a:r>
              <a:rPr lang="en-US" sz="1500" b="1" dirty="0" err="1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Qué</a:t>
            </a: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 es?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78892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64692" y="2811779"/>
            <a:ext cx="4966564" cy="111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Motor de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recuperación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semántica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embeddings text-embedding-3-small (OpenAI)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subcategoría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tags,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descripción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ubicación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+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similitud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coseno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el top-3. No es un LLM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generativo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decidiendo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el LLM solo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redactaría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la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explicación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breve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implementar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Versión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v0,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piloto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10148" y="2331720"/>
            <a:ext cx="52957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6374740" y="244144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Uso previsto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74740" y="278892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374740" y="2862072"/>
            <a:ext cx="49665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Comprador individual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Gamarra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asistente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web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móvil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decidir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qué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visitar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antes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salir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casa 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durante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recorrido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Responde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lenguaje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natural con un top-3 de tiendas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directorio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Shape 12"/>
          <p:cNvSpPr/>
          <p:nvPr/>
        </p:nvSpPr>
        <p:spPr>
          <a:xfrm>
            <a:off x="685800" y="4343399"/>
            <a:ext cx="5295748" cy="194839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/>
          <p:nvPr/>
        </p:nvSpPr>
        <p:spPr>
          <a:xfrm>
            <a:off x="850392" y="445312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Uso no previsto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50392" y="480060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32688" y="4874659"/>
            <a:ext cx="4966564" cy="1361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garantiza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stock,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tiempo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real.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procesa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búsqueda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imagen. 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debe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usarse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validar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autenticidad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legalidad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productos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es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apto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con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restricciones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estrictas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210148" y="4343400"/>
            <a:ext cx="5295748" cy="194839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374740" y="445312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Datos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374740" y="480060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57036" y="4932672"/>
            <a:ext cx="4966564" cy="120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438 tiendas de Portal Gamarrino 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(de 1.853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totales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;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datasheet E4).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Prueba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sistemática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378 (280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distintas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de 4.000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reales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mano (de 21.186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históricas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semilla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42.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952" y="110185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 (2/2)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3 · MODEL CARD V0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5295748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Resultados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2" y="2496312"/>
            <a:ext cx="49665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Hit Rate@3 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= 66,9% [61,9-71,4%]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ponderado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378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frente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 52,9%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léxico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y 46,8%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mejora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se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más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débil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explícito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(20,0%, -46,9pp).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10148" y="1920240"/>
            <a:ext cx="5295748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sz="1600"/>
          </a:p>
        </p:txBody>
      </p:sp>
      <p:sp>
        <p:nvSpPr>
          <p:cNvPr id="11" name="Text 8"/>
          <p:cNvSpPr/>
          <p:nvPr/>
        </p:nvSpPr>
        <p:spPr>
          <a:xfrm>
            <a:off x="6374740" y="202996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Cómo se evaluó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374740" y="237744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74740" y="2390001"/>
            <a:ext cx="4966564" cy="1578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Juicios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binarios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Sí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/No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etiquetados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los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integrantes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doble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ciego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+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desempate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con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reglas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escritas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LLM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juez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(Claude)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intentado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primero: κ=0,515, no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validó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Humano-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humano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acuerdo bruto 87,4% / κ=0,627 en consultas generales (reevaluación ciega real, 3 réplicas independientes); acuerdo 93-94% / κ=0,86-0,88 en los pares nuevos propuestos por modelo v0.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85800" y="4133088"/>
            <a:ext cx="5295748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50392" y="4242816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Limitaciones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" y="4590288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10948" y="4681727"/>
            <a:ext cx="4966564" cy="1664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filtra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disponibilidad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 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(HR@3 cae a 20% ahí; filtro híbrido metadata+embeddings planificado para el prototipo del 21-nov). El acuerdo humano sobre 'relevante' tiene un techo real (87,4% bruto / κ≈0,63) en consultas ambiguas de estilo (yk2, años 2000, 'de pinterest') — el catálogo no tiene esas etiquetas.</a:t>
            </a: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Evaluado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sobre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438/1.853 tiendas y 378/21.186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(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piloto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no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universo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completo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 Costo y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latencia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prototipo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aún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medidos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(sin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despliegue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210148" y="4133087"/>
            <a:ext cx="5295748" cy="2267711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6"/>
          <p:cNvSpPr/>
          <p:nvPr/>
        </p:nvSpPr>
        <p:spPr>
          <a:xfrm>
            <a:off x="6374740" y="4242816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Consideraciones éticas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374740" y="4590288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48902" y="4584168"/>
            <a:ext cx="4966564" cy="1816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se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procesan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datos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personales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compradores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(solo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texto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consulta).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sin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datos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contacto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expuestos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fuera de 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autorizado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(H3,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uso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académico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firmado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6-oct-2026).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Riesgo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piden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productos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'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réplica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' —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sistema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debe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recomendar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fuente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falsificaciones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riesgo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3).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Sesgo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potencial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el ranking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puede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favorecer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con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fichas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más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completas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monitoreo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Text 19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98" y="946131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Registro de los 3 riesgos principales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799" y="1449050"/>
            <a:ext cx="10820095" cy="772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El registro del pre-mortem, completo. Categorías: datos · modelo · adopción · ética o regulación (Se consideró también dependencia de la API de OpenAI y privacidad de las consultas; se priorizaron estos 3 por mayor probabilidad/impacto actual.)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8698687" y="457200"/>
            <a:ext cx="2807208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8698687" y="457200"/>
            <a:ext cx="280720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4 · RIESGOS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042776"/>
              </p:ext>
            </p:extLst>
          </p:nvPr>
        </p:nvGraphicFramePr>
        <p:xfrm>
          <a:off x="685800" y="2221992"/>
          <a:ext cx="10820095" cy="3858768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18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#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Riesgo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Categoría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Prob.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Impacto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Mitigación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Señal de alerta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Responsable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1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Limitación del etiquetado: el acuerdo humano sobre relevancia tiene un techo real (87,4% bruto / κ≈0,63) en consultas ambiguas de estilo/tendencia.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Datos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Alta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rial Nova" panose="020B0504020202020204" pitchFamily="34" charset="0"/>
                        </a:rPr>
                        <a:t>Medio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Declarar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limitación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el Model Card; para Capstone II,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enriquecer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el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catálogo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con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etiquetas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estilo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y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repetir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el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etiquetado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con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guía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más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detallada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Kappa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una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nueva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ronda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etiquetado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por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debajo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0,80 (umbral de la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rúbrica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) al 21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noviembre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rial Nova" panose="020B0504020202020204" pitchFamily="34" charset="0"/>
                        </a:rPr>
                        <a:t>Equipo completo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100">
                          <a:latin typeface="Arial Nova" panose="020B0504020202020204" pitchFamily="34" charset="0"/>
                        </a:rPr>
                        <a:t>2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Los embeddings no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filtran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atributos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estructurados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precio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marca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) — HR@3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cae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a 20%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ese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segmento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, el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más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débil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los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tres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rial Nova" panose="020B0504020202020204" pitchFamily="34" charset="0"/>
                        </a:rPr>
                        <a:t>Modelo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Alta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Alto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Diseñar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un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filtro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híbrido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(metadata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estructurada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+ embeddings) para el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prototipo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del 21-nov;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mientras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tanto,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declarar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limitación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Más del 30% de las quejas de usuarios de prueba son por talla/precio no filtrado, medido al 21 de noviembre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Equipo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técnico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3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Consultas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reales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piden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productos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'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' (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ej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. 'polos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a1') —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recomendar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tiendas sin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verificar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puede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facilitar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venta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falsificaciones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Ética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regulación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Media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Alto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Decisión de producto: el agente RECHAZA la consulta (no busca ni recomienda ninguna tienda) cuando detecta intención de réplica/falsificación — ya no es solo una regla de evaluación. Confirmar el criterio de detección con el asesor antes del 21 de noviembre.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Consultas de réplica/marca no autorizada en más del 5% de una muestra ampliada, medido al 21 de noviembre.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Francisco Meza /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asesor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" y="57150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9259257" y="6537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dirty="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30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Anexo: enlaces y verificación</a:t>
            </a:r>
            <a:endParaRPr lang="es-PE" sz="3000" noProof="0" dirty="0"/>
          </a:p>
        </p:txBody>
      </p:sp>
      <p:sp>
        <p:nvSpPr>
          <p:cNvPr id="4" name="Shape 1"/>
          <p:cNvSpPr/>
          <p:nvPr/>
        </p:nvSpPr>
        <p:spPr>
          <a:xfrm>
            <a:off x="10362895" y="457200"/>
            <a:ext cx="11430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5" name="Text 2"/>
          <p:cNvSpPr/>
          <p:nvPr/>
        </p:nvSpPr>
        <p:spPr>
          <a:xfrm>
            <a:off x="10362895" y="457200"/>
            <a:ext cx="11430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PE" sz="1100" b="1" noProof="0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ANEXO</a:t>
            </a:r>
            <a:endParaRPr lang="es-PE" sz="1100" noProof="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4937760" cy="241559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4608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Enlaces</a:t>
            </a:r>
            <a:endParaRPr lang="es-PE" sz="1500" noProof="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s-PE" sz="1100" noProof="0" dirty="0"/>
          </a:p>
        </p:txBody>
      </p:sp>
      <p:sp>
        <p:nvSpPr>
          <p:cNvPr id="9" name="Text 6"/>
          <p:cNvSpPr/>
          <p:nvPr/>
        </p:nvSpPr>
        <p:spPr>
          <a:xfrm>
            <a:off x="805520" y="2524289"/>
            <a:ext cx="4608576" cy="1671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latin typeface="Arial Nova Light"/>
              </a:rPr>
              <a:t>Pipeline y </a:t>
            </a:r>
            <a:r>
              <a:rPr sz="1300" dirty="0" err="1">
                <a:latin typeface="Arial Nova Light"/>
              </a:rPr>
              <a:t>resultados</a:t>
            </a:r>
            <a:r>
              <a:rPr sz="1300" dirty="0">
                <a:latin typeface="Arial Nova Light"/>
              </a:rPr>
              <a:t>: </a:t>
            </a:r>
            <a:r>
              <a:rPr sz="1300" b="1" u="sng" dirty="0">
                <a:latin typeface="Arial Nova Light"/>
              </a:rPr>
              <a:t>github.com/chris2009/portal-</a:t>
            </a:r>
            <a:r>
              <a:rPr sz="1300" b="1" u="sng" dirty="0" err="1">
                <a:latin typeface="Arial Nova Light"/>
              </a:rPr>
              <a:t>gamarrino</a:t>
            </a:r>
            <a:r>
              <a:rPr sz="1300" b="1" u="sng" dirty="0">
                <a:latin typeface="Arial Nova Light"/>
              </a:rPr>
              <a:t>-AI (privado).</a:t>
            </a:r>
            <a:endParaRPr lang="es-PE" sz="1300" b="1" u="sng" noProof="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1300" dirty="0"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 err="1">
                <a:latin typeface="Arial Nova Light"/>
              </a:rPr>
              <a:t>Incluye</a:t>
            </a:r>
            <a:r>
              <a:rPr sz="1300" dirty="0">
                <a:latin typeface="Arial Nova Light"/>
              </a:rPr>
              <a:t> pipeline/ (baselines, kappa) y Muestra_378_Evaluacion/ (</a:t>
            </a:r>
            <a:r>
              <a:rPr sz="1300" dirty="0" err="1">
                <a:latin typeface="Arial Nova Light"/>
              </a:rPr>
              <a:t>muestra</a:t>
            </a:r>
            <a:r>
              <a:rPr sz="1300" dirty="0">
                <a:latin typeface="Arial Nova Light"/>
              </a:rPr>
              <a:t> de 378, </a:t>
            </a:r>
            <a:r>
              <a:rPr sz="1300" dirty="0" err="1">
                <a:latin typeface="Arial Nova Light"/>
              </a:rPr>
              <a:t>modelo</a:t>
            </a:r>
            <a:r>
              <a:rPr sz="1300" dirty="0">
                <a:latin typeface="Arial Nova Light"/>
              </a:rPr>
              <a:t> v0, Model Card).</a:t>
            </a:r>
            <a:endParaRPr lang="es-MX" sz="1300" dirty="0"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300" dirty="0"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latin typeface="Arial Nova Light"/>
              </a:rPr>
              <a:t>Datasheet del dataset: </a:t>
            </a:r>
            <a:r>
              <a:rPr sz="1300" dirty="0" err="1">
                <a:latin typeface="Arial Nova Light"/>
              </a:rPr>
              <a:t>Entregable</a:t>
            </a:r>
            <a:r>
              <a:rPr sz="1300" dirty="0">
                <a:latin typeface="Arial Nova Light"/>
              </a:rPr>
              <a:t> E4 (</a:t>
            </a:r>
            <a:r>
              <a:rPr sz="1300" dirty="0" err="1">
                <a:latin typeface="Arial Nova Light"/>
              </a:rPr>
              <a:t>auditoría</a:t>
            </a:r>
            <a:r>
              <a:rPr sz="1300" dirty="0">
                <a:latin typeface="Arial Nova Light"/>
              </a:rPr>
              <a:t> de </a:t>
            </a:r>
            <a:r>
              <a:rPr sz="1300" dirty="0" err="1">
                <a:latin typeface="Arial Nova Light"/>
              </a:rPr>
              <a:t>datos</a:t>
            </a:r>
            <a:r>
              <a:rPr sz="1300" dirty="0">
                <a:latin typeface="Arial Nova Light"/>
              </a:rPr>
              <a:t>).</a:t>
            </a:r>
          </a:p>
        </p:txBody>
      </p:sp>
      <p:sp>
        <p:nvSpPr>
          <p:cNvPr id="10" name="Shape 7"/>
          <p:cNvSpPr/>
          <p:nvPr/>
        </p:nvSpPr>
        <p:spPr>
          <a:xfrm>
            <a:off x="685800" y="4480560"/>
            <a:ext cx="4937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11" name="Text 8"/>
          <p:cNvSpPr/>
          <p:nvPr/>
        </p:nvSpPr>
        <p:spPr>
          <a:xfrm>
            <a:off x="850392" y="4696141"/>
            <a:ext cx="4608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Lo que no aplica</a:t>
            </a:r>
            <a:endParaRPr lang="es-PE" sz="1500" noProof="0" dirty="0"/>
          </a:p>
        </p:txBody>
      </p:sp>
      <p:sp>
        <p:nvSpPr>
          <p:cNvPr id="12" name="Text 9"/>
          <p:cNvSpPr/>
          <p:nvPr/>
        </p:nvSpPr>
        <p:spPr>
          <a:xfrm>
            <a:off x="850392" y="475488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s-PE" sz="1100" noProof="0" dirty="0"/>
          </a:p>
        </p:txBody>
      </p:sp>
      <p:sp>
        <p:nvSpPr>
          <p:cNvPr id="13" name="Text 10"/>
          <p:cNvSpPr/>
          <p:nvPr/>
        </p:nvSpPr>
        <p:spPr>
          <a:xfrm>
            <a:off x="932688" y="5128390"/>
            <a:ext cx="4608576" cy="127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PE" sz="1300" b="1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Búsqueda por imagen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No aplica, porque el informe preliminar ya la declaró fuera de alcance del v0 (backlog </a:t>
            </a:r>
            <a:r>
              <a:rPr lang="es-PE" sz="130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Capstone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II).</a:t>
            </a:r>
          </a:p>
          <a:p>
            <a:pPr marL="0" indent="0" algn="just">
              <a:buNone/>
            </a:pPr>
            <a:endParaRPr lang="es-PE" sz="1300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just"/>
            <a:r>
              <a:rPr lang="es-PE" sz="1300" b="1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Fine-</a:t>
            </a:r>
            <a:r>
              <a:rPr lang="es-PE" sz="1300" b="1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tuning</a:t>
            </a:r>
            <a:r>
              <a:rPr lang="es-PE" sz="1300" b="1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un modelo propio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No aplica, porque el enfoque es RAG con </a:t>
            </a:r>
            <a:r>
              <a:rPr lang="es-PE" sz="130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embeddings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lang="es-PE" sz="130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pre-entrenados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, no entrenamiento desde cero.</a:t>
            </a:r>
          </a:p>
        </p:txBody>
      </p:sp>
      <p:sp>
        <p:nvSpPr>
          <p:cNvPr id="14" name="Text 11"/>
          <p:cNvSpPr/>
          <p:nvPr/>
        </p:nvSpPr>
        <p:spPr>
          <a:xfrm>
            <a:off x="5852160" y="192024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Lista de verificación antes de entregar</a:t>
            </a:r>
            <a:endParaRPr lang="es-PE" sz="1500" noProof="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073067"/>
              </p:ext>
            </p:extLst>
          </p:nvPr>
        </p:nvGraphicFramePr>
        <p:xfrm>
          <a:off x="5852160" y="2331720"/>
          <a:ext cx="5653735" cy="3694176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7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✓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Verificación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Evidencia P4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La métrica principal se conecta con el KPI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2.4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Los datos de prueba no se usaron para entrenar/ajustar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2.5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Hay al menos dos </a:t>
                      </a:r>
                      <a:r>
                        <a:rPr lang="es-PE" sz="1200" noProof="0" dirty="0" err="1">
                          <a:latin typeface="Arial Nova" panose="020B0504020202020204" pitchFamily="34" charset="0"/>
                        </a:rPr>
                        <a:t>baselines</a:t>
                      </a:r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 en la tabla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2.3 · 4.2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Cada número tiene su rango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2.6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Hay al menos 2 segmentos analizados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2.7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La Model Card tiene sus 8 cajas llenas o 'No aplica, porque...'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5.3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Los 3 riesgos tienen señal de alerta con fecha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5.4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Se borraron todas las pistas en gris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PE" sz="1000" noProof="0" dirty="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s-PE" sz="10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2400</Words>
  <Application>Microsoft Office PowerPoint</Application>
  <PresentationFormat>Panorámica</PresentationFormat>
  <Paragraphs>265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Arial Nova</vt:lpstr>
      <vt:lpstr>Arial Nova Cond</vt:lpstr>
      <vt:lpstr>Arial Nova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E5 · Plantilla de evaluación del modelo</dc:title>
  <dc:subject>PptxGenJS Presentation</dc:subject>
  <dc:creator>Diego Benavides Huaita</dc:creator>
  <cp:lastModifiedBy>christian edgardo cajusol mio</cp:lastModifiedBy>
  <cp:revision>23</cp:revision>
  <dcterms:created xsi:type="dcterms:W3CDTF">2026-10-25T01:26:34Z</dcterms:created>
  <dcterms:modified xsi:type="dcterms:W3CDTF">2026-10-30T01:14:26Z</dcterms:modified>
</cp:coreProperties>
</file>