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731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2194560" cy="4297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2743200"/>
            <a:ext cx="4572000" cy="502920"/>
          </a:xfrm>
          <a:prstGeom prst="rect">
            <a:avLst/>
          </a:prstGeom>
          <a:solidFill>
            <a:srgbClr val="00E1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1"/>
          <p:cNvSpPr/>
          <p:nvPr/>
        </p:nvSpPr>
        <p:spPr>
          <a:xfrm>
            <a:off x="685800" y="2743200"/>
            <a:ext cx="45720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CAPSTONE PROJECT I · E5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85800" y="352044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4E4B4C"/>
                </a:solidFill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Evaluación del modelo: plan, baseline, Model Card y riesgos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82690" y="5345758"/>
            <a:ext cx="7138073" cy="921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 dirty="0">
                <a:solidFill>
                  <a:srgbClr val="4E4B4C"/>
                </a:solidFill>
                <a:latin typeface="Arial Nova Light"/>
              </a:rPr>
              <a:t>Equipo N.º 7 · Proyecto: Portal Gamarrino AI</a:t>
            </a:r>
            <a:endParaRPr lang="en-US" sz="1400" b="1" dirty="0"/>
          </a:p>
          <a:p>
            <a:endParaRPr lang="en-US" sz="1400" dirty="0"/>
          </a:p>
          <a:p>
            <a:r>
              <a:rPr sz="1400" dirty="0" err="1">
                <a:solidFill>
                  <a:srgbClr val="4E4B4C"/>
                </a:solidFill>
                <a:latin typeface="Arial Nova Light"/>
              </a:rPr>
              <a:t>Integrantes</a:t>
            </a:r>
            <a:r>
              <a:rPr sz="1400" dirty="0">
                <a:solidFill>
                  <a:srgbClr val="4E4B4C"/>
                </a:solidFill>
                <a:latin typeface="Arial Nova Light"/>
              </a:rPr>
              <a:t>: </a:t>
            </a:r>
            <a:r>
              <a:rPr sz="1400" b="1" dirty="0">
                <a:solidFill>
                  <a:srgbClr val="4E4B4C"/>
                </a:solidFill>
                <a:latin typeface="Arial Nova Light"/>
              </a:rPr>
              <a:t>Christian Cajusol, </a:t>
            </a:r>
            <a:r>
              <a:rPr lang="es-PE" sz="1400" b="1" dirty="0">
                <a:solidFill>
                  <a:srgbClr val="4E4B4C"/>
                </a:solidFill>
                <a:latin typeface="Arial Nova Light"/>
              </a:rPr>
              <a:t>Hugo Ángeles, </a:t>
            </a:r>
            <a:r>
              <a:rPr sz="1400" b="1" dirty="0">
                <a:solidFill>
                  <a:srgbClr val="4E4B4C"/>
                </a:solidFill>
                <a:latin typeface="Arial Nova Light"/>
              </a:rPr>
              <a:t>Francisco Meza, Jhomar </a:t>
            </a:r>
            <a:r>
              <a:rPr sz="1400" b="1" dirty="0" err="1">
                <a:solidFill>
                  <a:srgbClr val="4E4B4C"/>
                </a:solidFill>
                <a:latin typeface="Arial Nova Light"/>
              </a:rPr>
              <a:t>Yurivilca</a:t>
            </a:r>
            <a:r>
              <a:rPr sz="1400" b="1" dirty="0">
                <a:solidFill>
                  <a:srgbClr val="4E4B4C"/>
                </a:solidFill>
                <a:latin typeface="Arial Nova Light"/>
              </a:rPr>
              <a:t> ·</a:t>
            </a: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904169"/>
            <a:ext cx="5242255" cy="3049661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2557668"/>
            <a:ext cx="4236415" cy="1742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2194560" cy="429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0972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Cómo usar esta plantilla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85800" y="17830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Estructura común para todos los equipos; el contenido, las métricas y los métodos los eligen y justifican ustedes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85800" y="2377440"/>
            <a:ext cx="548640" cy="731520"/>
          </a:xfrm>
          <a:prstGeom prst="rect">
            <a:avLst/>
          </a:prstGeom>
          <a:solidFill>
            <a:srgbClr val="4E4B4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685800" y="23774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1FF"/>
                </a:solidFill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371600" y="23774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Plan de evaluación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Las 6 preguntas del taller de la Semana 6 · </a:t>
            </a:r>
            <a:r>
              <a:rPr lang="en-US" sz="1300" i="1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Evidencias 2.4 y 2.5 del P4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3273552"/>
            <a:ext cx="548640" cy="731520"/>
          </a:xfrm>
          <a:prstGeom prst="rect">
            <a:avLst/>
          </a:prstGeom>
          <a:solidFill>
            <a:srgbClr val="4E4B4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685800" y="327355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1FF"/>
                </a:solidFill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371600" y="327355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Baseline contra modelo v0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Tabla comparativa con rangos y dónde falla el modelo · </a:t>
            </a:r>
            <a:r>
              <a:rPr lang="en-US" sz="1300" i="1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Evidencias 2.3, 2.6, 2.7 y 4.2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5800" y="4169664"/>
            <a:ext cx="548640" cy="731520"/>
          </a:xfrm>
          <a:prstGeom prst="rect">
            <a:avLst/>
          </a:prstGeom>
          <a:solidFill>
            <a:srgbClr val="4E4B4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685800" y="416966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1FF"/>
                </a:solidFill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371600" y="4169664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Model Card v0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Qué es el modelo, para qué sirve y para qué no · </a:t>
            </a:r>
            <a:r>
              <a:rPr lang="en-US" sz="1300" i="1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Evidencia 5.3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5800" y="5065776"/>
            <a:ext cx="548640" cy="731520"/>
          </a:xfrm>
          <a:prstGeom prst="rect">
            <a:avLst/>
          </a:prstGeom>
          <a:solidFill>
            <a:srgbClr val="4E4B4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685800" y="506577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1FF"/>
                </a:solidFill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371600" y="5065776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Registro de 3 riesgos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El registro del pre-mortem, completo · </a:t>
            </a:r>
            <a:r>
              <a:rPr lang="en-US" sz="1300" i="1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Evidencia 5.4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772400" y="2377440"/>
            <a:ext cx="3733495" cy="3429000"/>
          </a:xfrm>
          <a:prstGeom prst="rect">
            <a:avLst/>
          </a:prstGeom>
          <a:solidFill>
            <a:srgbClr val="4E4B4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5"/>
          <p:cNvSpPr/>
          <p:nvPr/>
        </p:nvSpPr>
        <p:spPr>
          <a:xfrm>
            <a:off x="8001000" y="2560320"/>
            <a:ext cx="32762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0E1FF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Reglas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Cada caja trae pistas en gris: una para ML clásico y otra para LLM o agente. Usen la que corresponda y bórrenlas antes de entregar.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Si algo no aplica a su proyecto, escriban «No aplica, porque…» en una línea. No fuercen contenido.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Los números se reportan con su rango, no solos.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Entrega por Canvas: este archivo en PDF más el enlace al notebook o repositorio.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2194560" cy="429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0972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Plan de evaluación (1/2)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391095" y="457200"/>
            <a:ext cx="4114800" cy="347472"/>
          </a:xfrm>
          <a:prstGeom prst="rect">
            <a:avLst/>
          </a:prstGeom>
          <a:solidFill>
            <a:srgbClr val="00E1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2"/>
          <p:cNvSpPr/>
          <p:nvPr/>
        </p:nvSpPr>
        <p:spPr>
          <a:xfrm>
            <a:off x="7391095" y="457200"/>
            <a:ext cx="41148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SECCIÓN 1 · PLAN DE EVALUACIÓN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85800" y="1920240"/>
            <a:ext cx="345429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4"/>
          <p:cNvSpPr/>
          <p:nvPr/>
        </p:nvSpPr>
        <p:spPr>
          <a:xfrm>
            <a:off x="850392" y="2029968"/>
            <a:ext cx="312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1 · Problema de </a:t>
            </a:r>
            <a:r>
              <a:rPr lang="en-US" sz="1500" b="1" dirty="0" err="1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Agente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0392" y="2377440"/>
            <a:ext cx="312511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0392" y="2514599"/>
            <a:ext cx="3215948" cy="3692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b="1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Recuperación</a:t>
            </a:r>
            <a:r>
              <a:rPr sz="1300" b="1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b="1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semántica</a:t>
            </a:r>
            <a:r>
              <a:rPr sz="1300" b="1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+ ranking top-3 (no es </a:t>
            </a:r>
            <a:r>
              <a:rPr sz="1300" b="1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clasificación</a:t>
            </a:r>
            <a:r>
              <a:rPr sz="1300" b="1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b="1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ni</a:t>
            </a:r>
            <a:r>
              <a:rPr sz="1300" b="1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b="1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generación</a:t>
            </a:r>
            <a:r>
              <a:rPr sz="1300" b="1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pura). 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El LLM solo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redactaría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la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explicación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breve de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cada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coincidencia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; no decide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qué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tiendas se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muestran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.</a:t>
            </a:r>
            <a:r>
              <a:rPr lang="es-MX"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</a:p>
          <a:p>
            <a:pPr algn="ctr"/>
            <a:endParaRPr lang="en-US" sz="13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b="1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Unidad: 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consulta del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usuario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×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catálogo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de tiendas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activas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.</a:t>
            </a:r>
            <a:endParaRPr lang="es-MX" sz="1300" dirty="0">
              <a:solidFill>
                <a:schemeClr val="bg2">
                  <a:lumMod val="50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sz="1300" dirty="0">
              <a:solidFill>
                <a:schemeClr val="bg2">
                  <a:lumMod val="50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b="1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Momento</a:t>
            </a:r>
            <a:r>
              <a:rPr sz="1300" b="1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: 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al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enviar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la consulta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en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el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asistente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web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móvil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, antes de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salir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de casa (81,4%) o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durante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el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viaje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.</a:t>
            </a:r>
            <a:endParaRPr lang="es-MX" sz="1300" dirty="0">
              <a:solidFill>
                <a:schemeClr val="bg2">
                  <a:lumMod val="50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sz="1300" dirty="0">
              <a:solidFill>
                <a:schemeClr val="bg2">
                  <a:lumMod val="50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b="1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Horizonte: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inmediato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,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una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sola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interacción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.</a:t>
            </a:r>
            <a:endParaRPr lang="es-MX" sz="1300" dirty="0">
              <a:solidFill>
                <a:schemeClr val="bg2">
                  <a:lumMod val="50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sz="1300" dirty="0">
              <a:solidFill>
                <a:schemeClr val="bg2">
                  <a:lumMod val="50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b="1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Contexto</a:t>
            </a:r>
            <a:r>
              <a:rPr sz="1300" b="1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: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texto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libre + memoria de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sesión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+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catálogo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activo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(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rag_text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).</a:t>
            </a:r>
          </a:p>
        </p:txBody>
      </p:sp>
      <p:sp>
        <p:nvSpPr>
          <p:cNvPr id="10" name="Shape 7"/>
          <p:cNvSpPr/>
          <p:nvPr/>
        </p:nvSpPr>
        <p:spPr>
          <a:xfrm>
            <a:off x="4368698" y="1920240"/>
            <a:ext cx="345429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4533290" y="2029968"/>
            <a:ext cx="312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2 · Métrica ↔ KPI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33290" y="2377440"/>
            <a:ext cx="312511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4438" y="2525953"/>
            <a:ext cx="3125114" cy="3349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3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Métrica</a:t>
            </a:r>
            <a:r>
              <a:rPr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principal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: Hit Rate@3, meta pre-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registrada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≥70%.</a:t>
            </a:r>
            <a:endParaRPr lang="es-MX" sz="1300" dirty="0">
              <a:solidFill>
                <a:schemeClr val="tx1">
                  <a:lumMod val="65000"/>
                  <a:lumOff val="35000"/>
                </a:schemeClr>
              </a:solidFill>
              <a:latin typeface="Arial Nova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KPI de </a:t>
            </a:r>
            <a:r>
              <a:rPr sz="13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impacto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: Tasa de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recomendación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útil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≥70% (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informe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preliminar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).</a:t>
            </a:r>
            <a:endParaRPr lang="es-MX" sz="1300" dirty="0">
              <a:solidFill>
                <a:schemeClr val="tx1">
                  <a:lumMod val="65000"/>
                  <a:lumOff val="35000"/>
                </a:schemeClr>
              </a:solidFill>
              <a:latin typeface="Arial Nova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300" dirty="0">
              <a:solidFill>
                <a:schemeClr val="tx1">
                  <a:lumMod val="65000"/>
                  <a:lumOff val="35000"/>
                </a:schemeClr>
              </a:solidFill>
              <a:latin typeface="Arial Nova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Contrapeso</a:t>
            </a:r>
            <a:r>
              <a:rPr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: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latencia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promedio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≤6s, p95 ≤10-12s.</a:t>
            </a:r>
            <a:endParaRPr lang="es-MX" sz="1300" dirty="0">
              <a:solidFill>
                <a:schemeClr val="tx1">
                  <a:lumMod val="65000"/>
                  <a:lumOff val="35000"/>
                </a:schemeClr>
              </a:solidFill>
              <a:latin typeface="Arial Nova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300" dirty="0">
              <a:solidFill>
                <a:schemeClr val="tx1">
                  <a:lumMod val="65000"/>
                  <a:lumOff val="35000"/>
                </a:schemeClr>
              </a:solidFill>
              <a:latin typeface="Arial Nova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Compuesta</a:t>
            </a:r>
            <a:r>
              <a:rPr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(LLM/</a:t>
            </a:r>
            <a:r>
              <a:rPr sz="13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agente</a:t>
            </a:r>
            <a:r>
              <a:rPr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):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calidad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por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etiquetado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humano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(κ); LLM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juez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intentado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y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descartado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(κ=0,515, no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validó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);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costo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&lt;$0,01 USD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por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esta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prueba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;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latencia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por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medir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(sin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prototipo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desplegado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aún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).</a:t>
            </a:r>
          </a:p>
        </p:txBody>
      </p:sp>
      <p:sp>
        <p:nvSpPr>
          <p:cNvPr id="14" name="Shape 11"/>
          <p:cNvSpPr/>
          <p:nvPr/>
        </p:nvSpPr>
        <p:spPr>
          <a:xfrm>
            <a:off x="8051597" y="1920240"/>
            <a:ext cx="345429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8216189" y="2029968"/>
            <a:ext cx="312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3 · Baselines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16189" y="2377440"/>
            <a:ext cx="312511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98485" y="2644221"/>
            <a:ext cx="312511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+mj-lt"/>
              <a:buAutoNum type="arabicPeriod"/>
            </a:pPr>
            <a:r>
              <a:rPr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No </a:t>
            </a:r>
            <a:r>
              <a:rPr sz="13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hacer</a:t>
            </a:r>
            <a:r>
              <a:rPr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nada: 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3 tiendas al azar.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Lo </a:t>
            </a:r>
            <a:r>
              <a:rPr sz="13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que</a:t>
            </a:r>
            <a:r>
              <a:rPr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se </a:t>
            </a:r>
            <a:r>
              <a:rPr sz="13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hace</a:t>
            </a:r>
            <a:r>
              <a:rPr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hoy: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filtro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por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categoría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(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como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Gamarra.com.pe / Mi Gamarra), sin NLP.</a:t>
            </a:r>
          </a:p>
          <a:p>
            <a:pPr marL="342900" indent="-342900">
              <a:buFont typeface="+mj-lt"/>
              <a:buAutoNum type="arabicPeriod"/>
            </a:pPr>
            <a:r>
              <a:rPr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Modelo simple: 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TF-IDF/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léxico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sobre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rag_text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Modelo v0: 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embeddings text-embedding-3-small +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similitud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de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coseno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(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ChromaDB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pendiente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para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escalar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).</a:t>
            </a:r>
          </a:p>
        </p:txBody>
      </p:sp>
      <p:sp>
        <p:nvSpPr>
          <p:cNvPr id="18" name="Text 15"/>
          <p:cNvSpPr/>
          <p:nvPr/>
        </p:nvSpPr>
        <p:spPr>
          <a:xfrm>
            <a:off x="876269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666666"/>
                </a:solidFill>
                <a:latin typeface="Arial Nova Light"/>
              </a:rPr>
              <a:t>E5 · Equipo N.º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2194560" cy="429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0972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Plan de evaluación (2/2)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391095" y="457200"/>
            <a:ext cx="4114800" cy="347472"/>
          </a:xfrm>
          <a:prstGeom prst="rect">
            <a:avLst/>
          </a:prstGeom>
          <a:solidFill>
            <a:srgbClr val="00E1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2"/>
          <p:cNvSpPr/>
          <p:nvPr/>
        </p:nvSpPr>
        <p:spPr>
          <a:xfrm>
            <a:off x="7391095" y="457200"/>
            <a:ext cx="41148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SECCIÓN 1 · PLAN DE EVALUACIÓN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85799" y="1954030"/>
            <a:ext cx="345429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PE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50392" y="2029968"/>
            <a:ext cx="312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4 · Con qué datos se prueba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0392" y="2377440"/>
            <a:ext cx="312511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0391" y="2667990"/>
            <a:ext cx="3125114" cy="3236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b="1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Catálogo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: 438 de 1.853 tiendas (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consolidado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operativo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).</a:t>
            </a:r>
            <a:endParaRPr lang="es-MX" sz="1300" dirty="0">
              <a:solidFill>
                <a:schemeClr val="bg2">
                  <a:lumMod val="50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b="1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Consultas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: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muestra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sistemática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con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arranque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al azar (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semilla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42) de 378 (280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textos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distintos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,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ponderados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por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frecuencia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real),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tomadas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de 4.000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consultas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reales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en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mano (de 21.186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históricas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).</a:t>
            </a:r>
            <a:endParaRPr lang="es-MX" sz="1300" dirty="0">
              <a:solidFill>
                <a:schemeClr val="bg2">
                  <a:lumMod val="50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sz="1300" dirty="0">
              <a:solidFill>
                <a:schemeClr val="bg2">
                  <a:lumMod val="50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b="1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Ninguna</a:t>
            </a:r>
            <a:r>
              <a:rPr sz="1300" b="1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consulta de </a:t>
            </a:r>
            <a:r>
              <a:rPr sz="1300" b="1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prueba</a:t>
            </a:r>
            <a:r>
              <a:rPr sz="1300" b="1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se </a:t>
            </a:r>
            <a:r>
              <a:rPr sz="1300" b="1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usó</a:t>
            </a:r>
            <a:r>
              <a:rPr sz="1300" b="1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para </a:t>
            </a:r>
            <a:r>
              <a:rPr sz="1300" b="1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ajustar</a:t>
            </a:r>
            <a:r>
              <a:rPr sz="1300" b="1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el </a:t>
            </a:r>
            <a:r>
              <a:rPr sz="1300" b="1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modelo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. Es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una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muestra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piloto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, no el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universo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completo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.</a:t>
            </a:r>
          </a:p>
        </p:txBody>
      </p:sp>
      <p:sp>
        <p:nvSpPr>
          <p:cNvPr id="10" name="Shape 7"/>
          <p:cNvSpPr/>
          <p:nvPr/>
        </p:nvSpPr>
        <p:spPr>
          <a:xfrm>
            <a:off x="4368698" y="1920240"/>
            <a:ext cx="345429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4533290" y="2029968"/>
            <a:ext cx="312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5 · Un rango y dónde falla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33290" y="2377440"/>
            <a:ext cx="312511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33290" y="2809055"/>
            <a:ext cx="312511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b="1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Rango: 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IC 95%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por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bootstrap (1.000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remuestreos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)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sobre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las 378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consultas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ponderadas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.</a:t>
            </a:r>
            <a:endParaRPr lang="es-MX" sz="1300" dirty="0">
              <a:solidFill>
                <a:schemeClr val="bg2">
                  <a:lumMod val="50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b="1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3 </a:t>
            </a:r>
            <a:r>
              <a:rPr sz="1300" b="1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segmentos</a:t>
            </a:r>
            <a:r>
              <a:rPr sz="1300" b="1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(</a:t>
            </a:r>
            <a:r>
              <a:rPr sz="1300" b="1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ver</a:t>
            </a:r>
            <a:r>
              <a:rPr sz="1300" b="1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b="1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Sección</a:t>
            </a:r>
            <a:r>
              <a:rPr sz="1300" b="1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2):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específica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de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una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prenda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(240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casos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ponderados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),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ambigua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o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compuesta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(113), con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marca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/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talla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/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precio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explícito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(25).</a:t>
            </a:r>
          </a:p>
        </p:txBody>
      </p:sp>
      <p:sp>
        <p:nvSpPr>
          <p:cNvPr id="14" name="Shape 11"/>
          <p:cNvSpPr/>
          <p:nvPr/>
        </p:nvSpPr>
        <p:spPr>
          <a:xfrm>
            <a:off x="8051597" y="1920240"/>
            <a:ext cx="345429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8216189" y="2029968"/>
            <a:ext cx="312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6 · Criterio de decisión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16189" y="2377440"/>
            <a:ext cx="312511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16189" y="2740354"/>
            <a:ext cx="312511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Si el Hit Rate@3 de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modelo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v0 no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supera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a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los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baselines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por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más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que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el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rango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(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intervalos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se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cruzan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) →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revisar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embeddings/ranking antes del 21-nov.</a:t>
            </a:r>
            <a:endParaRPr lang="es-MX" sz="1300" dirty="0">
              <a:solidFill>
                <a:schemeClr val="bg2">
                  <a:lumMod val="50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PE" sz="1300" dirty="0">
              <a:solidFill>
                <a:schemeClr val="bg2">
                  <a:lumMod val="50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Resultado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real: SÍ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superó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,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intervalos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no se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cruzan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.</a:t>
            </a:r>
            <a:endParaRPr lang="es-MX" sz="1300" dirty="0">
              <a:solidFill>
                <a:schemeClr val="bg2">
                  <a:lumMod val="50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Si el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costo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o la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latencia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real del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prototipo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supera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6s prom. / 10-12s p95 →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simplificar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pipeline o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cambiar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proveedor</a:t>
            </a:r>
            <a:r>
              <a:rPr sz="1300" dirty="0">
                <a:solidFill>
                  <a:schemeClr val="bg2">
                    <a:lumMod val="50000"/>
                  </a:schemeClr>
                </a:solidFill>
                <a:latin typeface="Arial Nova Light"/>
              </a:rPr>
              <a:t>.</a:t>
            </a:r>
          </a:p>
        </p:txBody>
      </p:sp>
      <p:sp>
        <p:nvSpPr>
          <p:cNvPr id="18" name="Text 15"/>
          <p:cNvSpPr/>
          <p:nvPr/>
        </p:nvSpPr>
        <p:spPr>
          <a:xfrm>
            <a:off x="876269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666666"/>
                </a:solidFill>
                <a:latin typeface="Arial Nova Light"/>
              </a:rPr>
              <a:t>E5 · Equipo N.º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2194560" cy="429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0972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Baseline contra modelo v0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85800" y="17830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Una fila por opción. La métrica principal es la misma del plan, medida en el conjunto de prueba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751015" y="457200"/>
            <a:ext cx="4754880" cy="347472"/>
          </a:xfrm>
          <a:prstGeom prst="rect">
            <a:avLst/>
          </a:prstGeom>
          <a:solidFill>
            <a:srgbClr val="00E1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6751015" y="457200"/>
            <a:ext cx="475488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SECCIÓN 2 · BASELINE CONTRA MODELO V0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698"/>
              </p:ext>
            </p:extLst>
          </p:nvPr>
        </p:nvGraphicFramePr>
        <p:xfrm>
          <a:off x="685800" y="2377440"/>
          <a:ext cx="10820095" cy="247497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  <a:ea typeface="Arial Nova" pitchFamily="34" charset="-122"/>
                          <a:cs typeface="Arial Nova" pitchFamily="34" charset="-120"/>
                        </a:rPr>
                        <a:t>Opción</a:t>
                      </a:r>
                      <a:endParaRPr lang="en-US" sz="1200" dirty="0">
                        <a:latin typeface="+mn-lt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latin typeface="+mn-lt"/>
                        </a:rPr>
                        <a:t>Métrica</a:t>
                      </a:r>
                      <a:r>
                        <a:rPr sz="1200" b="1" dirty="0">
                          <a:latin typeface="+mn-lt"/>
                        </a:rPr>
                        <a:t> principal: Hit Rate@3 (con </a:t>
                      </a:r>
                      <a:r>
                        <a:rPr sz="1200" b="1" dirty="0" err="1">
                          <a:latin typeface="+mn-lt"/>
                        </a:rPr>
                        <a:t>rango</a:t>
                      </a:r>
                      <a:r>
                        <a:rPr sz="1200" b="1" dirty="0">
                          <a:latin typeface="+mn-lt"/>
                        </a:rPr>
                        <a:t>)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latin typeface="+mn-lt"/>
                        </a:rPr>
                        <a:t>Métrica</a:t>
                      </a:r>
                      <a:r>
                        <a:rPr sz="1200" b="1" dirty="0">
                          <a:latin typeface="+mn-lt"/>
                        </a:rPr>
                        <a:t> de </a:t>
                      </a:r>
                      <a:r>
                        <a:rPr sz="1200" b="1" dirty="0" err="1">
                          <a:latin typeface="+mn-lt"/>
                        </a:rPr>
                        <a:t>contrapeso</a:t>
                      </a:r>
                      <a:r>
                        <a:rPr sz="1200" b="1" dirty="0">
                          <a:latin typeface="+mn-lt"/>
                        </a:rPr>
                        <a:t>: </a:t>
                      </a:r>
                      <a:r>
                        <a:rPr sz="1200" b="1" dirty="0" err="1">
                          <a:latin typeface="+mn-lt"/>
                        </a:rPr>
                        <a:t>Latencia</a:t>
                      </a:r>
                      <a:endParaRPr sz="1200" b="1" dirty="0">
                        <a:latin typeface="+mn-lt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  <a:ea typeface="Arial Nova" pitchFamily="34" charset="-122"/>
                          <a:cs typeface="Arial Nova" pitchFamily="34" charset="-120"/>
                        </a:rPr>
                        <a:t>Costo y latencia por caso*</a:t>
                      </a:r>
                      <a:endParaRPr lang="en-US" sz="1200" dirty="0">
                        <a:latin typeface="+mn-lt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  <a:ea typeface="Arial Nova" pitchFamily="34" charset="-122"/>
                          <a:cs typeface="Arial Nova" pitchFamily="34" charset="-120"/>
                        </a:rPr>
                        <a:t>N.º de casos de prueba</a:t>
                      </a:r>
                      <a:endParaRPr lang="en-US" sz="1200" dirty="0">
                        <a:latin typeface="+mn-lt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dirty="0"/>
                        <a:t>No </a:t>
                      </a:r>
                      <a:r>
                        <a:rPr sz="1400" dirty="0" err="1"/>
                        <a:t>hacer</a:t>
                      </a:r>
                      <a:r>
                        <a:rPr sz="1400" dirty="0"/>
                        <a:t> nada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23,0% [18,8-27,5]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$0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378 (280 dist.)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dirty="0"/>
                        <a:t>Lo </a:t>
                      </a:r>
                      <a:r>
                        <a:rPr sz="1400" dirty="0" err="1"/>
                        <a:t>que</a:t>
                      </a:r>
                      <a:r>
                        <a:rPr sz="1400" dirty="0"/>
                        <a:t> se </a:t>
                      </a:r>
                      <a:r>
                        <a:rPr sz="1400" dirty="0" err="1"/>
                        <a:t>hace</a:t>
                      </a:r>
                      <a:r>
                        <a:rPr sz="1400" dirty="0"/>
                        <a:t> hoy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46,8% [41,8-51,6]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Por medir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$0 / &lt;50ms cómputo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378 (280 dist.)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dirty="0"/>
                        <a:t>Modelo simple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52,9% [48,2-57,7]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Por medir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$0 / &lt;50ms cómputo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378 (280 dist.)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Modelo v0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66,9% [61,9-71,4]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Por medir (sin prototipo)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&lt;$0,01 / ~0,3-0,5s embed.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378 (280 dist.)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85800" y="4893130"/>
            <a:ext cx="10820095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5"/>
          <p:cNvSpPr/>
          <p:nvPr/>
        </p:nvSpPr>
        <p:spPr>
          <a:xfrm>
            <a:off x="850392" y="5001768"/>
            <a:ext cx="10490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Lectura en tres líneas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50392" y="5349240"/>
            <a:ext cx="104909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26744" y="5354507"/>
            <a:ext cx="10490911" cy="858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De 46,8% con lo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que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se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hace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hoy (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filtro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por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categoría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) a 66,9% con el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modelo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v0 (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ponderado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, IC95% 61,9-71,4%). La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diferencia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es mayor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que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el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rango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de ambos —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los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intervalos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no se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cruzan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, es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una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mejora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real, no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ruido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. </a:t>
            </a:r>
            <a:endParaRPr lang="es-MX" sz="1300" dirty="0">
              <a:solidFill>
                <a:schemeClr val="tx1">
                  <a:lumMod val="65000"/>
                  <a:lumOff val="35000"/>
                </a:schemeClr>
              </a:solidFill>
              <a:latin typeface="Arial Nova Light"/>
            </a:endParaRPr>
          </a:p>
          <a:p>
            <a:pPr marL="0" indent="0">
              <a:buNone/>
            </a:pPr>
            <a:endParaRPr lang="es-PE" sz="1300" dirty="0">
              <a:solidFill>
                <a:schemeClr val="tx1">
                  <a:lumMod val="65000"/>
                  <a:lumOff val="35000"/>
                </a:schemeClr>
              </a:solidFill>
              <a:latin typeface="Arial Nova Light"/>
            </a:endParaRPr>
          </a:p>
          <a:p>
            <a:pPr marL="0" indent="0">
              <a:buNone/>
            </a:pPr>
            <a:r>
              <a:rPr sz="13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Conclusión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: se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justifica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construir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el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prototipo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v0 con embeddings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en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vez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de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quedarse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con el </a:t>
            </a:r>
            <a:r>
              <a:rPr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filtro</a:t>
            </a:r>
            <a:r>
              <a:rPr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simple.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* Obligatorio para LLM o agente; opcional para ML clásico.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876269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666666"/>
                </a:solidFill>
                <a:latin typeface="Arial Nova Light"/>
              </a:rPr>
              <a:t>E5 · Equipo N.º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2194560" cy="429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0972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Dónde falla el modelo v0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85800" y="17830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Error por segmento: dónde funciona peor y por qué creen que pasa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751015" y="457200"/>
            <a:ext cx="4754880" cy="347472"/>
          </a:xfrm>
          <a:prstGeom prst="rect">
            <a:avLst/>
          </a:prstGeom>
          <a:solidFill>
            <a:srgbClr val="00E1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6751015" y="457200"/>
            <a:ext cx="475488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SECCIÓN 2 · BASELINE CONTRA MODELO V0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163078"/>
              </p:ext>
            </p:extLst>
          </p:nvPr>
        </p:nvGraphicFramePr>
        <p:xfrm>
          <a:off x="685800" y="2377440"/>
          <a:ext cx="10820095" cy="243230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Segmento</a:t>
                      </a:r>
                      <a:endParaRPr lang="en-US" sz="120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N.º de casos</a:t>
                      </a:r>
                      <a:endParaRPr lang="en-US" sz="120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Métrica principal</a:t>
                      </a:r>
                      <a:endParaRPr lang="en-US" sz="120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Diferencia frente al total</a:t>
                      </a:r>
                      <a:endParaRPr lang="en-US" sz="120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Por qué creemos que pasa</a:t>
                      </a:r>
                      <a:endParaRPr lang="en-US" sz="1200" dirty="0">
                        <a:latin typeface="Arial Nova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E4B4C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Total</a:t>
                      </a:r>
                      <a:endParaRPr lang="en-US" sz="1200" dirty="0">
                        <a:latin typeface="Arial Nova" panose="020B0504020202020204" pitchFamily="34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 Nova" panose="020B0504020202020204" pitchFamily="34" charset="0"/>
                        </a:rPr>
                        <a:t>378 (280)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 Nova" panose="020B0504020202020204" pitchFamily="34" charset="0"/>
                        </a:rPr>
                        <a:t>66,9%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6A6A6"/>
                          </a:solidFill>
                          <a:latin typeface="Arial Nova" panose="020B0504020202020204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—</a:t>
                      </a:r>
                      <a:endParaRPr lang="en-US" sz="1000" dirty="0">
                        <a:latin typeface="Arial Nova" panose="020B0504020202020204" pitchFamily="34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6A6A6"/>
                          </a:solidFill>
                          <a:latin typeface="Arial Nova" panose="020B0504020202020204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—</a:t>
                      </a:r>
                      <a:endParaRPr lang="en-US" sz="1000" dirty="0">
                        <a:latin typeface="Arial Nova" panose="020B0504020202020204" pitchFamily="34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dirty="0" err="1">
                          <a:latin typeface="Arial Nova" panose="020B0504020202020204" pitchFamily="34" charset="0"/>
                        </a:rPr>
                        <a:t>Específica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(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una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prenda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)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240 (ponder.)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79,6%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+12,7 pp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 Nova" panose="020B0504020202020204" pitchFamily="34" charset="0"/>
                        </a:rPr>
                        <a:t>Nombre de prenda claro → el embedding encuentra match directo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latin typeface="Arial Nova" panose="020B0504020202020204" pitchFamily="34" charset="0"/>
                        </a:rPr>
                        <a:t>Ambigua o compuesta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 Nova" panose="020B0504020202020204" pitchFamily="34" charset="0"/>
                        </a:rPr>
                        <a:t>113 (ponder.)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 Nova" panose="020B0504020202020204" pitchFamily="34" charset="0"/>
                        </a:rPr>
                        <a:t>50,4%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-16,5 pp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Sin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prenda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o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estilo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/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tendencia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sin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etiqueta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en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catálogo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(yk2,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años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2000, 'de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pinterest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')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Con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marca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,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talla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o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precio</a:t>
                      </a:r>
                      <a:endParaRPr sz="1200" dirty="0">
                        <a:latin typeface="Arial Nova" panose="020B0504020202020204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25 (ponder.)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20,0%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-46,9 pp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Embeddings no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filtran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atributos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estructurados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(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talla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,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precio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,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réplica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)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85800" y="5052605"/>
            <a:ext cx="10820095" cy="132479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9" name="Text 5"/>
          <p:cNvSpPr/>
          <p:nvPr/>
        </p:nvSpPr>
        <p:spPr>
          <a:xfrm>
            <a:off x="850392" y="5221193"/>
            <a:ext cx="10490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Qué harán con esto antes del 21 de noviembre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50392" y="5257800"/>
            <a:ext cx="1049091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50391" y="5577839"/>
            <a:ext cx="10490911" cy="744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Declaramos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el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segmento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de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marca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/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talla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/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precio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como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limitación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conocida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del v0 (motor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semántico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, no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estructurado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) y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diseñamos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un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filtro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híbrido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(metadata + embeddings) para el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prototipo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del 21-nov. El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segmento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ambiguo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queda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documentado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en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el Model Card; no se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fuerza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su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corrección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antes de la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entrega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.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876269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666666"/>
                </a:solidFill>
                <a:latin typeface="Arial Nova Light"/>
              </a:rPr>
              <a:t>E5 · Equipo N.º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2194560" cy="429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0972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Model Card v0 (1/2)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85800" y="17830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Versión reducida de Mitchell et al. (2019). Una página en total, repartida en dos láminas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985455" y="457200"/>
            <a:ext cx="3520440" cy="347472"/>
          </a:xfrm>
          <a:prstGeom prst="rect">
            <a:avLst/>
          </a:prstGeom>
          <a:solidFill>
            <a:srgbClr val="00E1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7985455" y="457200"/>
            <a:ext cx="352044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SECCIÓN 3 · MODEL CARD V0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85800" y="2331720"/>
            <a:ext cx="529574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850392" y="2441448"/>
            <a:ext cx="4966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¿</a:t>
            </a:r>
            <a:r>
              <a:rPr lang="en-US" sz="1500" b="1" dirty="0" err="1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Qué</a:t>
            </a: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 es?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0392" y="2788920"/>
            <a:ext cx="49665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4692" y="2811779"/>
            <a:ext cx="4966564" cy="1118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Motor de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recuperación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semántica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: embeddings text-embedding-3-small (OpenAI)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sobre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el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catálogo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(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rag_text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: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categoría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,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subcategoría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, tags,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descripción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,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ubicación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) +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similitud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de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coseno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para el top-3. No es un LLM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generativo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decidiendo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— el LLM solo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redactaría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la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explicación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breve (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pendiente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de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implementar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).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Versión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v0,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piloto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.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6210148" y="2331720"/>
            <a:ext cx="529574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6374740" y="2441448"/>
            <a:ext cx="4966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Uso previsto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74740" y="2788920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74740" y="2862072"/>
            <a:ext cx="496656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Comprador individual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en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Gamarra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,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en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el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asistente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web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móvil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, para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decidir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qué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tiendas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visitar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— antes de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salir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de casa o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durante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el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recorrido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.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Responde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consultas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en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lenguaje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natural con un top-3 de tiendas del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directorio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.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85800" y="4343399"/>
            <a:ext cx="5295748" cy="1948399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3"/>
          <p:cNvSpPr/>
          <p:nvPr/>
        </p:nvSpPr>
        <p:spPr>
          <a:xfrm>
            <a:off x="850392" y="4453128"/>
            <a:ext cx="4966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Uso no previsto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50392" y="4800600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32688" y="4874659"/>
            <a:ext cx="4966564" cy="1361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No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garantiza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stock,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talla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o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precio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en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tiempo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real. No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procesa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búsqueda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por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imagen. </a:t>
            </a:r>
            <a:endParaRPr lang="es-MX" sz="1300" dirty="0">
              <a:solidFill>
                <a:schemeClr val="tx1">
                  <a:lumMod val="75000"/>
                  <a:lumOff val="25000"/>
                </a:schemeClr>
              </a:solidFill>
              <a:latin typeface="Arial Nova Light"/>
            </a:endParaRPr>
          </a:p>
          <a:p>
            <a:endParaRPr lang="es-MX" sz="1300" dirty="0">
              <a:solidFill>
                <a:schemeClr val="tx1">
                  <a:lumMod val="75000"/>
                  <a:lumOff val="25000"/>
                </a:schemeClr>
              </a:solidFill>
              <a:latin typeface="Arial Nova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No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debe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usarse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para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validar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autenticidad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/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legalidad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de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productos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.</a:t>
            </a:r>
            <a:endParaRPr lang="es-MX" sz="1300" dirty="0">
              <a:solidFill>
                <a:schemeClr val="tx1">
                  <a:lumMod val="75000"/>
                  <a:lumOff val="25000"/>
                </a:schemeClr>
              </a:solidFill>
              <a:latin typeface="Arial Nova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300" dirty="0">
              <a:solidFill>
                <a:schemeClr val="tx1">
                  <a:lumMod val="75000"/>
                  <a:lumOff val="25000"/>
                </a:schemeClr>
              </a:solidFill>
              <a:latin typeface="Arial Nova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No es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apto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para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consultas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con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restricciones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estrictas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de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talla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/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marca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/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precio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.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210148" y="4343400"/>
            <a:ext cx="5295748" cy="194839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7"/>
          <p:cNvSpPr/>
          <p:nvPr/>
        </p:nvSpPr>
        <p:spPr>
          <a:xfrm>
            <a:off x="6374740" y="4453128"/>
            <a:ext cx="4966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Datos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374740" y="4800600"/>
            <a:ext cx="49665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57036" y="4932672"/>
            <a:ext cx="4966564" cy="120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Catálogo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de 438 tiendas de Portal Gamarrino 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(de 1.853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totales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;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ver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datasheet E4).</a:t>
            </a:r>
            <a:endParaRPr lang="es-MX" sz="1300" dirty="0">
              <a:solidFill>
                <a:schemeClr val="tx1">
                  <a:lumMod val="75000"/>
                  <a:lumOff val="25000"/>
                </a:schemeClr>
              </a:solidFill>
              <a:latin typeface="Arial Nova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sz="1300" dirty="0">
              <a:solidFill>
                <a:schemeClr val="tx1">
                  <a:lumMod val="75000"/>
                  <a:lumOff val="25000"/>
                </a:schemeClr>
              </a:solidFill>
              <a:latin typeface="Arial Nova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Prueba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: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muestra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sistemática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de 378 (280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distintas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) de 4.000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consultas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reales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en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mano (de 21.186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históricas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),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semilla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42.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876269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666666"/>
                </a:solidFill>
                <a:latin typeface="Arial Nova Light"/>
              </a:rPr>
              <a:t>E5 · Equipo N.º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2194560" cy="429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952" y="110185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Model Card v0 (2/2)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985455" y="457200"/>
            <a:ext cx="3520440" cy="347472"/>
          </a:xfrm>
          <a:prstGeom prst="rect">
            <a:avLst/>
          </a:prstGeom>
          <a:solidFill>
            <a:srgbClr val="00E1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2"/>
          <p:cNvSpPr/>
          <p:nvPr/>
        </p:nvSpPr>
        <p:spPr>
          <a:xfrm>
            <a:off x="7985455" y="457200"/>
            <a:ext cx="352044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SECCIÓN 3 · MODEL CARD V0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85800" y="1920240"/>
            <a:ext cx="5295748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4"/>
          <p:cNvSpPr/>
          <p:nvPr/>
        </p:nvSpPr>
        <p:spPr>
          <a:xfrm>
            <a:off x="850392" y="2029968"/>
            <a:ext cx="4966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Resultados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0392" y="2377440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0392" y="2496312"/>
            <a:ext cx="49665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Hit Rate@3 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= 66,9% [61,9-71,4%] (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ponderado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, 378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consultas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),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frente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a 52,9% del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léxico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y 46,8% del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filtro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por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categoría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—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mejora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real,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intervalos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no se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cruzan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.</a:t>
            </a:r>
            <a:endParaRPr lang="es-MX" sz="1300" dirty="0">
              <a:solidFill>
                <a:schemeClr val="tx1">
                  <a:lumMod val="75000"/>
                  <a:lumOff val="25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PE" sz="1300" dirty="0">
              <a:solidFill>
                <a:schemeClr val="tx1">
                  <a:lumMod val="75000"/>
                  <a:lumOff val="25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Segmento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más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débil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: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marca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/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talla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/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precio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explícito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(20,0%, -46,9pp).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10148" y="1920240"/>
            <a:ext cx="5295748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6374740" y="2029968"/>
            <a:ext cx="4966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Cómo se evaluó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74740" y="2377440"/>
            <a:ext cx="49665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74740" y="2390001"/>
            <a:ext cx="4966564" cy="1578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Juicios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binarios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Sí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/No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etiquetados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por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los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4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integrantes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, doble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ciego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+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desempate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con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reglas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escritas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.</a:t>
            </a:r>
            <a:endParaRPr lang="es-MX" sz="1300" dirty="0">
              <a:solidFill>
                <a:schemeClr val="tx1">
                  <a:lumMod val="75000"/>
                  <a:lumOff val="25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300" dirty="0">
              <a:solidFill>
                <a:schemeClr val="tx1">
                  <a:lumMod val="75000"/>
                  <a:lumOff val="25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LLM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juez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(Claude)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intentado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primero: κ=0,515, no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validó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.</a:t>
            </a:r>
            <a:endParaRPr lang="es-MX" sz="1300" dirty="0">
              <a:solidFill>
                <a:schemeClr val="tx1">
                  <a:lumMod val="75000"/>
                  <a:lumOff val="25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300" dirty="0">
              <a:solidFill>
                <a:schemeClr val="tx1">
                  <a:lumMod val="75000"/>
                  <a:lumOff val="25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Humano-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humano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: 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κ≈0,6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en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consultas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generales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(3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réplicas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independientes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); κ=0,86-0,88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en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los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pares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nuevos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propuestos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por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modelo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v0.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85800" y="4133088"/>
            <a:ext cx="5295748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850392" y="4242816"/>
            <a:ext cx="4966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Limitaciones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50392" y="4590288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10948" y="4681727"/>
            <a:ext cx="4966564" cy="1622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No filtra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talla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/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precio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/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disponibilidad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real 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(HR@3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cae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a 20% ahí). El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acuerdo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humano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sobre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'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relevante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'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tiene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un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techo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real de κ≈0,6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en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consultas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ambiguas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de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estilo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(yk2,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años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2000, 'de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pinterest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') — el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catálogo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no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tiene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esas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etiquetas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.</a:t>
            </a:r>
            <a:endParaRPr lang="es-MX" sz="1300" dirty="0">
              <a:solidFill>
                <a:schemeClr val="tx1">
                  <a:lumMod val="75000"/>
                  <a:lumOff val="25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300" dirty="0">
              <a:solidFill>
                <a:schemeClr val="tx1">
                  <a:lumMod val="75000"/>
                  <a:lumOff val="25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Evaluado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sobre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438/1.853 tiendas y 378/21.186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consultas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(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piloto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, no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universo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completo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). Costo y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latencia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del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prototipo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real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aún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no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medidos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(sin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despliegue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).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210148" y="4133087"/>
            <a:ext cx="5295748" cy="2267711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6"/>
          <p:cNvSpPr/>
          <p:nvPr/>
        </p:nvSpPr>
        <p:spPr>
          <a:xfrm>
            <a:off x="6374740" y="4242816"/>
            <a:ext cx="4966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Consideraciones éticas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374740" y="4590288"/>
            <a:ext cx="496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48902" y="4584168"/>
            <a:ext cx="4966564" cy="1816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No se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procesan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datos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personales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de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compradores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(solo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texto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de consulta).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Catálogo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sin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datos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de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contacto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expuestos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fuera de lo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autorizado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(H3,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uso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académico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,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firmado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6-oct-2026).</a:t>
            </a:r>
            <a:endParaRPr lang="es-MX" sz="1300" dirty="0">
              <a:solidFill>
                <a:schemeClr val="tx1">
                  <a:lumMod val="75000"/>
                  <a:lumOff val="25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300" dirty="0">
              <a:solidFill>
                <a:schemeClr val="tx1">
                  <a:lumMod val="75000"/>
                  <a:lumOff val="25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Riesgo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: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consultas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piden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productos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'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réplica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' — el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sistema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no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debe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recomendar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tiendas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como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fuente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de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falsificaciones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(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ver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riesgo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3).</a:t>
            </a:r>
            <a:endParaRPr lang="es-MX" sz="1300" dirty="0">
              <a:solidFill>
                <a:schemeClr val="tx1">
                  <a:lumMod val="75000"/>
                  <a:lumOff val="25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PE" sz="1300" dirty="0">
              <a:solidFill>
                <a:schemeClr val="tx1">
                  <a:lumMod val="75000"/>
                  <a:lumOff val="25000"/>
                </a:schemeClr>
              </a:solidFill>
              <a:latin typeface="Arial Nova Ligh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Sesgo</a:t>
            </a:r>
            <a:r>
              <a:rPr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potencial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: el ranking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puede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favorecer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tiendas con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fichas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más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completas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—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pendiente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 de </a:t>
            </a:r>
            <a:r>
              <a:rPr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monitoreo</a:t>
            </a:r>
            <a:r>
              <a:rPr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/>
              </a:rPr>
              <a:t>.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876269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666666"/>
                </a:solidFill>
                <a:latin typeface="Arial Nova Light"/>
              </a:rPr>
              <a:t>E5 · Equipo N.º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2194560" cy="429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0972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Registro de los 3 riesgos principales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85800" y="17830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El registro del pre-mortem, completo. Categorías: datos · modelo · adopción · ética o regulación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698687" y="457200"/>
            <a:ext cx="2807208" cy="347472"/>
          </a:xfrm>
          <a:prstGeom prst="rect">
            <a:avLst/>
          </a:prstGeom>
          <a:solidFill>
            <a:srgbClr val="00E1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8698687" y="457200"/>
            <a:ext cx="280720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SECCIÓN 4 · RIESGOS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274128"/>
              </p:ext>
            </p:extLst>
          </p:nvPr>
        </p:nvGraphicFramePr>
        <p:xfrm>
          <a:off x="685800" y="2221992"/>
          <a:ext cx="10820095" cy="3950208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#</a:t>
                      </a:r>
                      <a:endParaRPr lang="en-US" sz="900" dirty="0">
                        <a:latin typeface="Arial Nova" panose="020B0504020202020204" pitchFamily="34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Riesgo</a:t>
                      </a:r>
                      <a:endParaRPr lang="en-US" sz="900" dirty="0">
                        <a:latin typeface="Arial Nova" panose="020B0504020202020204" pitchFamily="34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Categoría</a:t>
                      </a:r>
                      <a:endParaRPr lang="en-US" sz="900" dirty="0">
                        <a:latin typeface="Arial Nova" panose="020B0504020202020204" pitchFamily="34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Prob.</a:t>
                      </a:r>
                      <a:endParaRPr lang="en-US" sz="900" dirty="0">
                        <a:latin typeface="Arial Nova" panose="020B0504020202020204" pitchFamily="34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Impacto</a:t>
                      </a:r>
                      <a:endParaRPr lang="en-US" sz="900" dirty="0">
                        <a:latin typeface="Arial Nova" panose="020B0504020202020204" pitchFamily="34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Mitigación</a:t>
                      </a:r>
                      <a:endParaRPr lang="en-US" sz="900" dirty="0">
                        <a:latin typeface="Arial Nova" panose="020B0504020202020204" pitchFamily="34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Señal de alerta</a:t>
                      </a:r>
                      <a:endParaRPr lang="en-US" sz="900" dirty="0">
                        <a:latin typeface="Arial Nova" panose="020B0504020202020204" pitchFamily="34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 Nova" pitchFamily="34" charset="0"/>
                          <a:ea typeface="Arial Nova" pitchFamily="34" charset="-122"/>
                          <a:cs typeface="Arial Nova" pitchFamily="34" charset="-120"/>
                        </a:rPr>
                        <a:t>Responsable</a:t>
                      </a:r>
                      <a:endParaRPr lang="en-US" sz="900" dirty="0">
                        <a:latin typeface="Arial Nova" panose="020B0504020202020204" pitchFamily="34" charset="0"/>
                        <a:ea typeface="Arial Nova" charset="0"/>
                        <a:cs typeface="Arial Nov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1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El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acuerdo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humano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sobre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relevancia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tiene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un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techo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real de κ≈0,6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en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consultas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ambiguas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de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estilo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/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tendencia</a:t>
                      </a:r>
                      <a:endParaRPr sz="1200" dirty="0">
                        <a:latin typeface="Arial Nova" panose="020B0504020202020204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Datos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Alta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 Nova" panose="020B0504020202020204" pitchFamily="34" charset="0"/>
                        </a:rPr>
                        <a:t>Medio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latin typeface="Arial Nova" panose="020B0504020202020204" pitchFamily="34" charset="0"/>
                        </a:rPr>
                        <a:t>Declarar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la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limitación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en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el Model Card; para Capstone II,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enriquecer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el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catálogo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con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etiquetas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de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estilo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y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repetir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el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etiquetado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con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guía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más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detallada</a:t>
                      </a:r>
                      <a:endParaRPr sz="1200" dirty="0">
                        <a:latin typeface="Arial Nova" panose="020B0504020202020204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 Nova" panose="020B0504020202020204" pitchFamily="34" charset="0"/>
                        </a:rPr>
                        <a:t>Kappa de una nueva ronda de etiquetado por debajo de 0,70 al 21 de noviembre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 Nova" panose="020B0504020202020204" pitchFamily="34" charset="0"/>
                        </a:rPr>
                        <a:t>Equipo completo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200">
                          <a:latin typeface="Arial Nova" panose="020B0504020202020204" pitchFamily="34" charset="0"/>
                        </a:rPr>
                        <a:t>2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Los embeddings no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filtran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atributos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estructurados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(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talla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,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precio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,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marca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) — HR@3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cae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a 20%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en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ese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segmento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, el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más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débil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de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los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tres</a:t>
                      </a:r>
                      <a:endParaRPr sz="1200" dirty="0">
                        <a:latin typeface="Arial Nova" panose="020B0504020202020204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 Nova" panose="020B0504020202020204" pitchFamily="34" charset="0"/>
                        </a:rPr>
                        <a:t>Modelo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Alta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Alto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latin typeface="Arial Nova" panose="020B0504020202020204" pitchFamily="34" charset="0"/>
                        </a:rPr>
                        <a:t>Diseñar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un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filtro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híbrido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(metadata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estructurada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+ embeddings) para el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prototipo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del 21-nov;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mientras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tanto,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declarar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la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limitación</a:t>
                      </a:r>
                      <a:endParaRPr sz="1200" dirty="0">
                        <a:latin typeface="Arial Nova" panose="020B0504020202020204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Más del 30% de las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quejas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de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usuarios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de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prueba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son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por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talla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/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precio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no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filtrado</a:t>
                      </a:r>
                      <a:endParaRPr sz="1200" dirty="0">
                        <a:latin typeface="Arial Nova" panose="020B0504020202020204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Equipo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técnico</a:t>
                      </a:r>
                      <a:endParaRPr sz="1200" dirty="0">
                        <a:latin typeface="Arial Nova" panose="020B0504020202020204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3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latin typeface="Arial Nova" panose="020B0504020202020204" pitchFamily="34" charset="0"/>
                        </a:rPr>
                        <a:t>Consultas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reales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piden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productos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'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réplica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' (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ej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. 'polos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réplica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a1') —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recomendar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tiendas sin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verificar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puede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facilitar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la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venta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de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falsificaciones</a:t>
                      </a:r>
                      <a:endParaRPr sz="1200" dirty="0">
                        <a:latin typeface="Arial Nova" panose="020B0504020202020204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latin typeface="Arial Nova" panose="020B0504020202020204" pitchFamily="34" charset="0"/>
                        </a:rPr>
                        <a:t>Ética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o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regulación</a:t>
                      </a:r>
                      <a:endParaRPr sz="1200" dirty="0">
                        <a:latin typeface="Arial Nova" panose="020B0504020202020204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Media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Alto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No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marcar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como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relevante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ninguna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tienda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en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consultas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de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réplica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(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regla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ya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aplicada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en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el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etiquetado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);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consultar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con el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asesor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si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el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prototipo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debe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rechazar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este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tipo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de consulta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latin typeface="Arial Nova" panose="020B0504020202020204" pitchFamily="34" charset="0"/>
                        </a:rPr>
                        <a:t>Consultas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de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réplica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/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marca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no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autorizada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en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más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del 5% de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una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muestra</a:t>
                      </a:r>
                      <a:r>
                        <a:rPr sz="12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ampliada</a:t>
                      </a:r>
                      <a:endParaRPr sz="1200" dirty="0">
                        <a:latin typeface="Arial Nova" panose="020B0504020202020204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latin typeface="Arial Nova" panose="020B0504020202020204" pitchFamily="34" charset="0"/>
                        </a:rPr>
                        <a:t>Francisco Meza / </a:t>
                      </a:r>
                      <a:r>
                        <a:rPr sz="1200" dirty="0" err="1">
                          <a:latin typeface="Arial Nova" panose="020B0504020202020204" pitchFamily="34" charset="0"/>
                        </a:rPr>
                        <a:t>asesor</a:t>
                      </a:r>
                      <a:endParaRPr sz="1200" dirty="0">
                        <a:latin typeface="Arial Nova" panose="020B0504020202020204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85800" y="57150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76269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666666"/>
                </a:solidFill>
                <a:latin typeface="Arial Nova Light"/>
              </a:rPr>
              <a:t>E5 · Equipo N.º 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2194560" cy="429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0972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sz="3000" b="1" noProof="0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Anexo: enlaces y verificación</a:t>
            </a:r>
            <a:endParaRPr lang="es-PE" sz="3000" noProof="0" dirty="0"/>
          </a:p>
        </p:txBody>
      </p:sp>
      <p:sp>
        <p:nvSpPr>
          <p:cNvPr id="4" name="Shape 1"/>
          <p:cNvSpPr/>
          <p:nvPr/>
        </p:nvSpPr>
        <p:spPr>
          <a:xfrm>
            <a:off x="10362895" y="457200"/>
            <a:ext cx="1143000" cy="347472"/>
          </a:xfrm>
          <a:prstGeom prst="rect">
            <a:avLst/>
          </a:prstGeom>
          <a:solidFill>
            <a:srgbClr val="00E1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5" name="Text 2"/>
          <p:cNvSpPr/>
          <p:nvPr/>
        </p:nvSpPr>
        <p:spPr>
          <a:xfrm>
            <a:off x="10362895" y="457200"/>
            <a:ext cx="11430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s-PE" sz="1100" b="1" noProof="0" dirty="0">
                <a:solidFill>
                  <a:srgbClr val="000000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ANEXO</a:t>
            </a:r>
            <a:endParaRPr lang="es-PE" sz="1100" noProof="0" dirty="0"/>
          </a:p>
        </p:txBody>
      </p:sp>
      <p:sp>
        <p:nvSpPr>
          <p:cNvPr id="6" name="Shape 3"/>
          <p:cNvSpPr/>
          <p:nvPr/>
        </p:nvSpPr>
        <p:spPr>
          <a:xfrm>
            <a:off x="685800" y="1920240"/>
            <a:ext cx="4937760" cy="241559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7" name="Text 4"/>
          <p:cNvSpPr/>
          <p:nvPr/>
        </p:nvSpPr>
        <p:spPr>
          <a:xfrm>
            <a:off x="850392" y="2029968"/>
            <a:ext cx="4608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sz="1500" b="1" noProof="0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Enlaces</a:t>
            </a:r>
            <a:endParaRPr lang="es-PE" sz="1500" noProof="0" dirty="0"/>
          </a:p>
        </p:txBody>
      </p:sp>
      <p:sp>
        <p:nvSpPr>
          <p:cNvPr id="8" name="Text 5"/>
          <p:cNvSpPr/>
          <p:nvPr/>
        </p:nvSpPr>
        <p:spPr>
          <a:xfrm>
            <a:off x="850392" y="2377440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s-PE" sz="1100" noProof="0" dirty="0"/>
          </a:p>
        </p:txBody>
      </p:sp>
      <p:sp>
        <p:nvSpPr>
          <p:cNvPr id="9" name="Text 6"/>
          <p:cNvSpPr/>
          <p:nvPr/>
        </p:nvSpPr>
        <p:spPr>
          <a:xfrm>
            <a:off x="805520" y="2524289"/>
            <a:ext cx="4608576" cy="1671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300" dirty="0">
                <a:latin typeface="Arial Nova Light"/>
              </a:rPr>
              <a:t>Pipeline y </a:t>
            </a:r>
            <a:r>
              <a:rPr sz="1300" dirty="0" err="1">
                <a:latin typeface="Arial Nova Light"/>
              </a:rPr>
              <a:t>resultados</a:t>
            </a:r>
            <a:r>
              <a:rPr sz="1300" dirty="0">
                <a:latin typeface="Arial Nova Light"/>
              </a:rPr>
              <a:t>: </a:t>
            </a:r>
            <a:r>
              <a:rPr sz="1300" b="1" u="sng" dirty="0">
                <a:latin typeface="Arial Nova Light"/>
              </a:rPr>
              <a:t>github.com/chris2009/portal-</a:t>
            </a:r>
            <a:r>
              <a:rPr sz="1300" b="1" u="sng" dirty="0" err="1">
                <a:latin typeface="Arial Nova Light"/>
              </a:rPr>
              <a:t>gamarrino</a:t>
            </a:r>
            <a:r>
              <a:rPr sz="1300" b="1" u="sng" dirty="0">
                <a:latin typeface="Arial Nova Light"/>
              </a:rPr>
              <a:t>-AI (privado).</a:t>
            </a:r>
            <a:endParaRPr lang="es-PE" sz="1300" b="1" u="sng" noProof="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300" dirty="0">
              <a:latin typeface="Arial Nova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dirty="0" err="1">
                <a:latin typeface="Arial Nova Light"/>
              </a:rPr>
              <a:t>Incluye</a:t>
            </a:r>
            <a:r>
              <a:rPr sz="1300" dirty="0">
                <a:latin typeface="Arial Nova Light"/>
              </a:rPr>
              <a:t> pipeline/ (baselines, kappa) y Muestra_378_Evaluacion/ (</a:t>
            </a:r>
            <a:r>
              <a:rPr sz="1300" dirty="0" err="1">
                <a:latin typeface="Arial Nova Light"/>
              </a:rPr>
              <a:t>muestra</a:t>
            </a:r>
            <a:r>
              <a:rPr sz="1300" dirty="0">
                <a:latin typeface="Arial Nova Light"/>
              </a:rPr>
              <a:t> de 378, </a:t>
            </a:r>
            <a:r>
              <a:rPr sz="1300" dirty="0" err="1">
                <a:latin typeface="Arial Nova Light"/>
              </a:rPr>
              <a:t>modelo</a:t>
            </a:r>
            <a:r>
              <a:rPr sz="1300" dirty="0">
                <a:latin typeface="Arial Nova Light"/>
              </a:rPr>
              <a:t> v0, Model Card).</a:t>
            </a:r>
            <a:endParaRPr lang="es-MX" sz="1300" dirty="0">
              <a:latin typeface="Arial Nova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300" dirty="0">
              <a:latin typeface="Arial Nova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dirty="0">
                <a:latin typeface="Arial Nova Light"/>
              </a:rPr>
              <a:t>Datasheet del dataset: </a:t>
            </a:r>
            <a:r>
              <a:rPr sz="1300" dirty="0" err="1">
                <a:latin typeface="Arial Nova Light"/>
              </a:rPr>
              <a:t>Entregable</a:t>
            </a:r>
            <a:r>
              <a:rPr sz="1300" dirty="0">
                <a:latin typeface="Arial Nova Light"/>
              </a:rPr>
              <a:t> E4 (</a:t>
            </a:r>
            <a:r>
              <a:rPr sz="1300" dirty="0" err="1">
                <a:latin typeface="Arial Nova Light"/>
              </a:rPr>
              <a:t>auditoría</a:t>
            </a:r>
            <a:r>
              <a:rPr sz="1300" dirty="0">
                <a:latin typeface="Arial Nova Light"/>
              </a:rPr>
              <a:t> de </a:t>
            </a:r>
            <a:r>
              <a:rPr sz="1300" dirty="0" err="1">
                <a:latin typeface="Arial Nova Light"/>
              </a:rPr>
              <a:t>datos</a:t>
            </a:r>
            <a:r>
              <a:rPr sz="1300" dirty="0">
                <a:latin typeface="Arial Nova Light"/>
              </a:rPr>
              <a:t>).</a:t>
            </a:r>
          </a:p>
        </p:txBody>
      </p:sp>
      <p:sp>
        <p:nvSpPr>
          <p:cNvPr id="10" name="Shape 7"/>
          <p:cNvSpPr/>
          <p:nvPr/>
        </p:nvSpPr>
        <p:spPr>
          <a:xfrm>
            <a:off x="685800" y="4480560"/>
            <a:ext cx="4937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1" name="Text 8"/>
          <p:cNvSpPr/>
          <p:nvPr/>
        </p:nvSpPr>
        <p:spPr>
          <a:xfrm>
            <a:off x="850392" y="4696141"/>
            <a:ext cx="4608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sz="1500" b="1" noProof="0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Lo que no aplica</a:t>
            </a:r>
            <a:endParaRPr lang="es-PE" sz="1500" noProof="0" dirty="0"/>
          </a:p>
        </p:txBody>
      </p:sp>
      <p:sp>
        <p:nvSpPr>
          <p:cNvPr id="12" name="Text 9"/>
          <p:cNvSpPr/>
          <p:nvPr/>
        </p:nvSpPr>
        <p:spPr>
          <a:xfrm>
            <a:off x="850392" y="4754880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s-PE" sz="1100" noProof="0" dirty="0"/>
          </a:p>
        </p:txBody>
      </p:sp>
      <p:sp>
        <p:nvSpPr>
          <p:cNvPr id="13" name="Text 10"/>
          <p:cNvSpPr/>
          <p:nvPr/>
        </p:nvSpPr>
        <p:spPr>
          <a:xfrm>
            <a:off x="932688" y="5128390"/>
            <a:ext cx="4608576" cy="1272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PE" sz="13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Búsqueda por imagen</a:t>
            </a:r>
            <a:r>
              <a:rPr lang="es-PE" sz="13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: No aplica, porque el informe preliminar ya la declaró fuera de alcance del v0 (backlog </a:t>
            </a:r>
            <a:r>
              <a:rPr lang="es-PE" sz="1300" noProof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Capstone</a:t>
            </a:r>
            <a:r>
              <a:rPr lang="es-PE" sz="13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II).</a:t>
            </a:r>
          </a:p>
          <a:p>
            <a:pPr marL="0" indent="0" algn="just">
              <a:buNone/>
            </a:pPr>
            <a:endParaRPr lang="es-PE" sz="1300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just"/>
            <a:r>
              <a:rPr lang="es-PE" sz="13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Fine-</a:t>
            </a:r>
            <a:r>
              <a:rPr lang="es-PE" sz="1300" b="1" noProof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tuning</a:t>
            </a:r>
            <a:r>
              <a:rPr lang="es-PE" sz="13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de un modelo propio</a:t>
            </a:r>
            <a:r>
              <a:rPr lang="es-PE" sz="13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: No aplica, porque el enfoque es RAG con </a:t>
            </a:r>
            <a:r>
              <a:rPr lang="es-PE" sz="1300" noProof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embeddings</a:t>
            </a:r>
            <a:r>
              <a:rPr lang="es-PE" sz="13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 </a:t>
            </a:r>
            <a:r>
              <a:rPr lang="es-PE" sz="1300" noProof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pre-entrenados</a:t>
            </a:r>
            <a:r>
              <a:rPr lang="es-PE" sz="13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/>
              </a:rPr>
              <a:t>, no entrenamiento desde cero.</a:t>
            </a:r>
          </a:p>
        </p:txBody>
      </p:sp>
      <p:sp>
        <p:nvSpPr>
          <p:cNvPr id="14" name="Text 11"/>
          <p:cNvSpPr/>
          <p:nvPr/>
        </p:nvSpPr>
        <p:spPr>
          <a:xfrm>
            <a:off x="5852160" y="1920240"/>
            <a:ext cx="5653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b="1" noProof="0" dirty="0">
                <a:solidFill>
                  <a:srgbClr val="4E4B4C"/>
                </a:solidFill>
                <a:latin typeface="Arial Nova" pitchFamily="34" charset="0"/>
                <a:ea typeface="Arial Nova" pitchFamily="34" charset="-122"/>
                <a:cs typeface="Arial Nova" pitchFamily="34" charset="-120"/>
              </a:rPr>
              <a:t>Lista de verificación antes de entregar</a:t>
            </a:r>
            <a:endParaRPr lang="es-PE" sz="1500" noProof="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073067"/>
              </p:ext>
            </p:extLst>
          </p:nvPr>
        </p:nvGraphicFramePr>
        <p:xfrm>
          <a:off x="5852160" y="2331720"/>
          <a:ext cx="5653735" cy="369417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200" b="1" noProof="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✓</a:t>
                      </a:r>
                      <a:endParaRPr lang="es-PE" sz="1200" noProof="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E" sz="1200" b="1" noProof="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Verificación</a:t>
                      </a:r>
                      <a:endParaRPr lang="es-PE" sz="1200" noProof="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200" b="1" noProof="0" dirty="0">
                          <a:solidFill>
                            <a:srgbClr val="333333"/>
                          </a:solidFill>
                          <a:latin typeface="Arial Nova Light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Evidencia P4</a:t>
                      </a:r>
                      <a:endParaRPr lang="es-PE" sz="1200" noProof="0" dirty="0">
                        <a:latin typeface="Arial Nova Light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es-PE" sz="1200" noProof="0" dirty="0">
                          <a:latin typeface="Arial Nova" panose="020B0504020202020204" pitchFamily="34" charset="0"/>
                        </a:rPr>
                        <a:t>✓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noProof="0" dirty="0">
                          <a:latin typeface="Arial Nova" panose="020B0504020202020204" pitchFamily="34" charset="0"/>
                        </a:rPr>
                        <a:t>La métrica principal se conecta con el KPI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000" noProof="0" dirty="0">
                          <a:solidFill>
                            <a:srgbClr val="666666"/>
                          </a:solidFill>
                          <a:latin typeface="Arial Nova" panose="020B0504020202020204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2.4</a:t>
                      </a:r>
                      <a:endParaRPr lang="es-PE" sz="1000" noProof="0" dirty="0">
                        <a:latin typeface="Arial Nova" panose="020B0504020202020204" pitchFamily="34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es-PE" sz="1200" noProof="0" dirty="0">
                          <a:latin typeface="Arial Nova" panose="020B0504020202020204" pitchFamily="34" charset="0"/>
                        </a:rPr>
                        <a:t>✓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noProof="0" dirty="0">
                          <a:latin typeface="Arial Nova" panose="020B0504020202020204" pitchFamily="34" charset="0"/>
                        </a:rPr>
                        <a:t>Los datos de prueba no se usaron para entrenar/ajustar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000" noProof="0" dirty="0">
                          <a:solidFill>
                            <a:srgbClr val="666666"/>
                          </a:solidFill>
                          <a:latin typeface="Arial Nova" panose="020B0504020202020204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2.5</a:t>
                      </a:r>
                      <a:endParaRPr lang="es-PE" sz="1000" noProof="0" dirty="0">
                        <a:latin typeface="Arial Nova" panose="020B0504020202020204" pitchFamily="34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es-PE" sz="1200" noProof="0" dirty="0">
                          <a:latin typeface="Arial Nova" panose="020B0504020202020204" pitchFamily="34" charset="0"/>
                        </a:rPr>
                        <a:t>✓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noProof="0" dirty="0">
                          <a:latin typeface="Arial Nova" panose="020B0504020202020204" pitchFamily="34" charset="0"/>
                        </a:rPr>
                        <a:t>Hay al menos dos </a:t>
                      </a:r>
                      <a:r>
                        <a:rPr lang="es-PE" sz="1200" noProof="0" dirty="0" err="1">
                          <a:latin typeface="Arial Nova" panose="020B0504020202020204" pitchFamily="34" charset="0"/>
                        </a:rPr>
                        <a:t>baselines</a:t>
                      </a:r>
                      <a:r>
                        <a:rPr lang="es-PE" sz="1200" noProof="0" dirty="0">
                          <a:latin typeface="Arial Nova" panose="020B0504020202020204" pitchFamily="34" charset="0"/>
                        </a:rPr>
                        <a:t> en la tabla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000" noProof="0" dirty="0">
                          <a:solidFill>
                            <a:srgbClr val="666666"/>
                          </a:solidFill>
                          <a:latin typeface="Arial Nova" panose="020B0504020202020204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2.3 · 4.2</a:t>
                      </a:r>
                      <a:endParaRPr lang="es-PE" sz="1000" noProof="0" dirty="0">
                        <a:latin typeface="Arial Nova" panose="020B0504020202020204" pitchFamily="34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es-PE" sz="1200" noProof="0" dirty="0">
                          <a:latin typeface="Arial Nova" panose="020B0504020202020204" pitchFamily="34" charset="0"/>
                        </a:rPr>
                        <a:t>✓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noProof="0" dirty="0">
                          <a:latin typeface="Arial Nova" panose="020B0504020202020204" pitchFamily="34" charset="0"/>
                        </a:rPr>
                        <a:t>Cada número tiene su rango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000" noProof="0" dirty="0">
                          <a:solidFill>
                            <a:srgbClr val="666666"/>
                          </a:solidFill>
                          <a:latin typeface="Arial Nova" panose="020B0504020202020204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2.6</a:t>
                      </a:r>
                      <a:endParaRPr lang="es-PE" sz="1000" noProof="0" dirty="0">
                        <a:latin typeface="Arial Nova" panose="020B0504020202020204" pitchFamily="34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es-PE" sz="1200" noProof="0" dirty="0">
                          <a:latin typeface="Arial Nova" panose="020B0504020202020204" pitchFamily="34" charset="0"/>
                        </a:rPr>
                        <a:t>✓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noProof="0" dirty="0">
                          <a:latin typeface="Arial Nova" panose="020B0504020202020204" pitchFamily="34" charset="0"/>
                        </a:rPr>
                        <a:t>Hay al menos 2 segmentos analizados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000" noProof="0" dirty="0">
                          <a:solidFill>
                            <a:srgbClr val="666666"/>
                          </a:solidFill>
                          <a:latin typeface="Arial Nova" panose="020B0504020202020204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2.7</a:t>
                      </a:r>
                      <a:endParaRPr lang="es-PE" sz="1000" noProof="0" dirty="0">
                        <a:latin typeface="Arial Nova" panose="020B0504020202020204" pitchFamily="34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es-PE" sz="1200" noProof="0" dirty="0">
                          <a:latin typeface="Arial Nova" panose="020B0504020202020204" pitchFamily="34" charset="0"/>
                        </a:rPr>
                        <a:t>✓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noProof="0" dirty="0">
                          <a:latin typeface="Arial Nova" panose="020B0504020202020204" pitchFamily="34" charset="0"/>
                        </a:rPr>
                        <a:t>La Model Card tiene sus 8 cajas llenas o 'No aplica, porque...'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000" noProof="0" dirty="0">
                          <a:solidFill>
                            <a:srgbClr val="666666"/>
                          </a:solidFill>
                          <a:latin typeface="Arial Nova" panose="020B0504020202020204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5.3</a:t>
                      </a:r>
                      <a:endParaRPr lang="es-PE" sz="1000" noProof="0" dirty="0">
                        <a:latin typeface="Arial Nova" panose="020B0504020202020204" pitchFamily="34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es-PE" sz="1200" noProof="0" dirty="0">
                          <a:latin typeface="Arial Nova" panose="020B0504020202020204" pitchFamily="34" charset="0"/>
                        </a:rPr>
                        <a:t>✓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noProof="0" dirty="0">
                          <a:latin typeface="Arial Nova" panose="020B0504020202020204" pitchFamily="34" charset="0"/>
                        </a:rPr>
                        <a:t>Los 3 riesgos tienen señal de alerta con fecha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000" noProof="0" dirty="0">
                          <a:solidFill>
                            <a:srgbClr val="666666"/>
                          </a:solidFill>
                          <a:latin typeface="Arial Nova" panose="020B0504020202020204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5.4</a:t>
                      </a:r>
                      <a:endParaRPr lang="es-PE" sz="1000" noProof="0" dirty="0">
                        <a:latin typeface="Arial Nova" panose="020B0504020202020204" pitchFamily="34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es-PE" sz="1200" noProof="0" dirty="0">
                          <a:latin typeface="Arial Nova" panose="020B0504020202020204" pitchFamily="34" charset="0"/>
                        </a:rPr>
                        <a:t>✓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noProof="0" dirty="0">
                          <a:latin typeface="Arial Nova" panose="020B0504020202020204" pitchFamily="34" charset="0"/>
                        </a:rPr>
                        <a:t>Se borraron todas las pistas en gris</a:t>
                      </a: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000" noProof="0" dirty="0">
                          <a:solidFill>
                            <a:srgbClr val="666666"/>
                          </a:solidFill>
                          <a:latin typeface="Arial Nova" panose="020B0504020202020204" pitchFamily="34" charset="0"/>
                          <a:ea typeface="Arial Nova Light" pitchFamily="34" charset="-122"/>
                          <a:cs typeface="Arial Nova Light" pitchFamily="34" charset="-120"/>
                        </a:rPr>
                        <a:t>—</a:t>
                      </a:r>
                      <a:endParaRPr lang="es-PE" sz="1000" noProof="0" dirty="0">
                        <a:latin typeface="Arial Nova" panose="020B0504020202020204" pitchFamily="34" charset="0"/>
                        <a:ea typeface="Arial Nova Light" charset="0"/>
                        <a:cs typeface="Arial Nova Light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876269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000" noProof="0" dirty="0">
                <a:solidFill>
                  <a:srgbClr val="666666"/>
                </a:solidFill>
                <a:latin typeface="Arial Nova Light"/>
              </a:rPr>
              <a:t>E5 · Equipo N.º 7</a:t>
            </a:r>
            <a:endParaRPr lang="es-PE" sz="10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2168</Words>
  <Application>Microsoft Office PowerPoint</Application>
  <PresentationFormat>Panorámica</PresentationFormat>
  <Paragraphs>262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Arial Nova</vt:lpstr>
      <vt:lpstr>Arial Nova Cond</vt:lpstr>
      <vt:lpstr>Arial Nova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E5 · Plantilla de evaluación del modelo</dc:title>
  <dc:subject>PptxGenJS Presentation</dc:subject>
  <dc:creator>Diego Benavides Huaita</dc:creator>
  <cp:lastModifiedBy>christian edgardo cajusol mio</cp:lastModifiedBy>
  <cp:revision>18</cp:revision>
  <dcterms:created xsi:type="dcterms:W3CDTF">2026-10-25T01:26:34Z</dcterms:created>
  <dcterms:modified xsi:type="dcterms:W3CDTF">2026-10-28T16:46:12Z</dcterms:modified>
</cp:coreProperties>
</file>