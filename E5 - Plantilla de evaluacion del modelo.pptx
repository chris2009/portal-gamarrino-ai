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4E4E4"/>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48640" y="384048"/>
            <a:ext cx="2194560" cy="429768"/>
          </a:xfrm>
          <a:prstGeom prst="rect">
            <a:avLst/>
          </a:prstGeom>
        </p:spPr>
      </p:pic>
      <p:sp>
        <p:nvSpPr>
          <p:cNvPr id="3" name="Shape 0"/>
          <p:cNvSpPr/>
          <p:nvPr/>
        </p:nvSpPr>
        <p:spPr>
          <a:xfrm>
            <a:off x="685800" y="2743200"/>
            <a:ext cx="4572000" cy="502920"/>
          </a:xfrm>
          <a:prstGeom prst="rect">
            <a:avLst/>
          </a:prstGeom>
          <a:solidFill>
            <a:srgbClr val="00E1FF"/>
          </a:solidFill>
          <a:ln w="12700">
            <a:solidFill>
              <a:srgbClr val="333333"/>
            </a:solidFill>
            <a:prstDash val="solid"/>
          </a:ln>
        </p:spPr>
      </p:sp>
      <p:sp>
        <p:nvSpPr>
          <p:cNvPr id="4" name="Text 1"/>
          <p:cNvSpPr/>
          <p:nvPr/>
        </p:nvSpPr>
        <p:spPr>
          <a:xfrm>
            <a:off x="685800" y="2743200"/>
            <a:ext cx="4572000" cy="502920"/>
          </a:xfrm>
          <a:prstGeom prst="rect">
            <a:avLst/>
          </a:prstGeom>
          <a:noFill/>
          <a:ln/>
        </p:spPr>
        <p:txBody>
          <a:bodyPr wrap="none" lIns="0" tIns="0" rIns="0" bIns="0" rtlCol="0" anchor="ctr"/>
          <a:lstStyle/>
          <a:p>
            <a:pPr algn="ctr" indent="0" marL="0">
              <a:buNone/>
            </a:pPr>
            <a:r>
              <a:rPr lang="en-US" sz="1700" b="1" dirty="0">
                <a:solidFill>
                  <a:srgbClr val="000000"/>
                </a:solidFill>
                <a:latin typeface="Arial Nova Cond" pitchFamily="34" charset="0"/>
                <a:ea typeface="Arial Nova Cond" pitchFamily="34" charset="-122"/>
                <a:cs typeface="Arial Nova Cond" pitchFamily="34" charset="-120"/>
              </a:rPr>
              <a:t>CAPSTONE PROJECT I · E5</a:t>
            </a:r>
            <a:endParaRPr lang="en-US" sz="1700" dirty="0"/>
          </a:p>
        </p:txBody>
      </p:sp>
      <p:sp>
        <p:nvSpPr>
          <p:cNvPr id="5" name="Text 2"/>
          <p:cNvSpPr/>
          <p:nvPr/>
        </p:nvSpPr>
        <p:spPr>
          <a:xfrm>
            <a:off x="685800" y="3520440"/>
            <a:ext cx="5943600" cy="1828800"/>
          </a:xfrm>
          <a:prstGeom prst="rect">
            <a:avLst/>
          </a:prstGeom>
          <a:noFill/>
          <a:ln/>
        </p:spPr>
        <p:txBody>
          <a:bodyPr wrap="square" lIns="0" tIns="0" rIns="0" bIns="0" rtlCol="0" anchor="t"/>
          <a:lstStyle/>
          <a:p>
            <a:pPr indent="0" marL="0">
              <a:buNone/>
            </a:pPr>
            <a:r>
              <a:rPr lang="en-US" sz="3200" b="1" dirty="0">
                <a:solidFill>
                  <a:srgbClr val="4E4B4C"/>
                </a:solidFill>
                <a:latin typeface="Arial Nova Cond" pitchFamily="34" charset="0"/>
                <a:ea typeface="Arial Nova Cond" pitchFamily="34" charset="-122"/>
                <a:cs typeface="Arial Nova Cond" pitchFamily="34" charset="-120"/>
              </a:rPr>
              <a:t>Evaluación del modelo: plan, baseline, Model Card y riesgos</a:t>
            </a:r>
            <a:endParaRPr lang="en-US" sz="3200" dirty="0"/>
          </a:p>
        </p:txBody>
      </p:sp>
      <p:sp>
        <p:nvSpPr>
          <p:cNvPr id="6" name="Text 3"/>
          <p:cNvSpPr/>
          <p:nvPr/>
        </p:nvSpPr>
        <p:spPr>
          <a:xfrm>
            <a:off x="685800" y="5806440"/>
            <a:ext cx="5120640" cy="640080"/>
          </a:xfrm>
          <a:prstGeom prst="rect">
            <a:avLst/>
          </a:prstGeom>
          <a:noFill/>
          <a:ln/>
        </p:spPr>
        <p:txBody>
          <a:bodyPr wrap="square" lIns="0" tIns="0" rIns="0" bIns="0" rtlCol="0" anchor="ctr"/>
          <a:lstStyle/>
          <a:p>
            <a:pPr indent="0" marL="0">
              <a:buNone/>
            </a:pPr>
            <a:r>
              <a:rPr lang="en-US" sz="1400" b="1" dirty="0">
                <a:solidFill>
                  <a:srgbClr val="4E4B4C"/>
                </a:solidFill>
                <a:latin typeface="Arial Nova Light" pitchFamily="34" charset="0"/>
                <a:ea typeface="Arial Nova Light" pitchFamily="34" charset="-122"/>
                <a:cs typeface="Arial Nova Light" pitchFamily="34" charset="-120"/>
              </a:rPr>
              <a:t>Equipo N.º ____ · Proyecto: ____________
</a:t>
            </a:r>
            <a:endParaRPr lang="en-US" sz="1400" dirty="0"/>
          </a:p>
          <a:p>
            <a:pPr indent="0" marL="0">
              <a:buNone/>
            </a:pPr>
            <a:r>
              <a:rPr lang="en-US" sz="1400" dirty="0">
                <a:solidFill>
                  <a:srgbClr val="4E4B4C"/>
                </a:solidFill>
                <a:latin typeface="Arial Nova Light" pitchFamily="34" charset="0"/>
                <a:ea typeface="Arial Nova Light" pitchFamily="34" charset="-122"/>
                <a:cs typeface="Arial Nova Light" pitchFamily="34" charset="-120"/>
              </a:rPr>
              <a:t>Integrantes: ______________________ · Entrega: jueves 29 de octubre de 2026</a:t>
            </a:r>
            <a:endParaRPr lang="en-US" sz="1400" dirty="0"/>
          </a:p>
        </p:txBody>
      </p:sp>
      <p:pic>
        <p:nvPicPr>
          <p:cNvPr id="7" name="Image 1" descr="preencoded.png">    </p:cNvPr>
          <p:cNvPicPr>
            <a:picLocks noChangeAspect="1"/>
          </p:cNvPicPr>
          <p:nvPr/>
        </p:nvPicPr>
        <p:blipFill>
          <a:blip r:embed="rId2"/>
          <a:stretch>
            <a:fillRect/>
          </a:stretch>
        </p:blipFill>
        <p:spPr>
          <a:xfrm>
            <a:off x="6949440" y="1904169"/>
            <a:ext cx="5242255" cy="3049661"/>
          </a:xfrm>
          <a:prstGeom prst="rect">
            <a:avLst/>
          </a:prstGeom>
        </p:spPr>
      </p:pic>
      <p:pic>
        <p:nvPicPr>
          <p:cNvPr id="8" name="Image 2" descr="preencoded.png">    </p:cNvPr>
          <p:cNvPicPr>
            <a:picLocks noChangeAspect="1"/>
          </p:cNvPicPr>
          <p:nvPr/>
        </p:nvPicPr>
        <p:blipFill>
          <a:blip r:embed="rId3"/>
          <a:stretch>
            <a:fillRect/>
          </a:stretch>
        </p:blipFill>
        <p:spPr>
          <a:xfrm>
            <a:off x="7452360" y="2557668"/>
            <a:ext cx="4236415" cy="174266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4E4E4"/>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48640" y="384048"/>
            <a:ext cx="2194560" cy="429768"/>
          </a:xfrm>
          <a:prstGeom prst="rect">
            <a:avLst/>
          </a:prstGeom>
        </p:spPr>
      </p:pic>
      <p:sp>
        <p:nvSpPr>
          <p:cNvPr id="3" name="Text 0"/>
          <p:cNvSpPr/>
          <p:nvPr/>
        </p:nvSpPr>
        <p:spPr>
          <a:xfrm>
            <a:off x="685800" y="1097280"/>
            <a:ext cx="10820095" cy="685800"/>
          </a:xfrm>
          <a:prstGeom prst="rect">
            <a:avLst/>
          </a:prstGeom>
          <a:noFill/>
          <a:ln/>
        </p:spPr>
        <p:txBody>
          <a:bodyPr wrap="square" lIns="0" tIns="0" rIns="0" bIns="0" rtlCol="0" anchor="t"/>
          <a:lstStyle/>
          <a:p>
            <a:pPr indent="0" marL="0">
              <a:buNone/>
            </a:pPr>
            <a:r>
              <a:rPr lang="en-US" sz="3000" b="1" dirty="0">
                <a:solidFill>
                  <a:srgbClr val="4E4B4C"/>
                </a:solidFill>
                <a:latin typeface="Arial Nova" pitchFamily="34" charset="0"/>
                <a:ea typeface="Arial Nova" pitchFamily="34" charset="-122"/>
                <a:cs typeface="Arial Nova" pitchFamily="34" charset="-120"/>
              </a:rPr>
              <a:t>Cómo usar esta plantilla</a:t>
            </a:r>
            <a:endParaRPr lang="en-US" sz="3000" dirty="0"/>
          </a:p>
        </p:txBody>
      </p:sp>
      <p:sp>
        <p:nvSpPr>
          <p:cNvPr id="4" name="Text 1"/>
          <p:cNvSpPr/>
          <p:nvPr/>
        </p:nvSpPr>
        <p:spPr>
          <a:xfrm>
            <a:off x="685800" y="1783080"/>
            <a:ext cx="10820095" cy="457200"/>
          </a:xfrm>
          <a:prstGeom prst="rect">
            <a:avLst/>
          </a:prstGeom>
          <a:noFill/>
          <a:ln/>
        </p:spPr>
        <p:txBody>
          <a:bodyPr wrap="square" lIns="0" tIns="0" rIns="0" bIns="0" rtlCol="0" anchor="t"/>
          <a:lstStyle/>
          <a:p>
            <a:pPr indent="0" marL="0">
              <a:buNone/>
            </a:pPr>
            <a:r>
              <a:rPr lang="en-US" sz="1600" dirty="0">
                <a:solidFill>
                  <a:srgbClr val="666666"/>
                </a:solidFill>
                <a:latin typeface="Arial Nova Light" pitchFamily="34" charset="0"/>
                <a:ea typeface="Arial Nova Light" pitchFamily="34" charset="-122"/>
                <a:cs typeface="Arial Nova Light" pitchFamily="34" charset="-120"/>
              </a:rPr>
              <a:t>Estructura común para todos los equipos; el contenido, las métricas y los métodos los eligen y justifican ustedes</a:t>
            </a:r>
            <a:endParaRPr lang="en-US" sz="1600" dirty="0"/>
          </a:p>
        </p:txBody>
      </p:sp>
      <p:sp>
        <p:nvSpPr>
          <p:cNvPr id="5" name="Shape 2"/>
          <p:cNvSpPr/>
          <p:nvPr/>
        </p:nvSpPr>
        <p:spPr>
          <a:xfrm>
            <a:off x="685800" y="2377440"/>
            <a:ext cx="548640" cy="731520"/>
          </a:xfrm>
          <a:prstGeom prst="rect">
            <a:avLst/>
          </a:prstGeom>
          <a:solidFill>
            <a:srgbClr val="4E4B4C"/>
          </a:solidFill>
          <a:ln w="12700">
            <a:solidFill>
              <a:srgbClr val="333333"/>
            </a:solidFill>
            <a:prstDash val="solid"/>
          </a:ln>
        </p:spPr>
      </p:sp>
      <p:sp>
        <p:nvSpPr>
          <p:cNvPr id="6" name="Text 3"/>
          <p:cNvSpPr/>
          <p:nvPr/>
        </p:nvSpPr>
        <p:spPr>
          <a:xfrm>
            <a:off x="685800" y="2377440"/>
            <a:ext cx="548640" cy="731520"/>
          </a:xfrm>
          <a:prstGeom prst="rect">
            <a:avLst/>
          </a:prstGeom>
          <a:noFill/>
          <a:ln/>
        </p:spPr>
        <p:txBody>
          <a:bodyPr wrap="square" lIns="0" tIns="0" rIns="0" bIns="0" rtlCol="0" anchor="ctr"/>
          <a:lstStyle/>
          <a:p>
            <a:pPr algn="ctr" indent="0" marL="0">
              <a:buNone/>
            </a:pPr>
            <a:r>
              <a:rPr lang="en-US" sz="2600" b="1" dirty="0">
                <a:solidFill>
                  <a:srgbClr val="00E1FF"/>
                </a:solidFill>
                <a:latin typeface="Arial Nova Cond" pitchFamily="34" charset="0"/>
                <a:ea typeface="Arial Nova Cond" pitchFamily="34" charset="-122"/>
                <a:cs typeface="Arial Nova Cond" pitchFamily="34" charset="-120"/>
              </a:rPr>
              <a:t>1</a:t>
            </a:r>
            <a:endParaRPr lang="en-US" sz="2600" dirty="0"/>
          </a:p>
        </p:txBody>
      </p:sp>
      <p:sp>
        <p:nvSpPr>
          <p:cNvPr id="7" name="Text 4"/>
          <p:cNvSpPr/>
          <p:nvPr/>
        </p:nvSpPr>
        <p:spPr>
          <a:xfrm>
            <a:off x="1371600" y="2377440"/>
            <a:ext cx="6035040" cy="731520"/>
          </a:xfrm>
          <a:prstGeom prst="rect">
            <a:avLst/>
          </a:prstGeom>
          <a:noFill/>
          <a:ln/>
        </p:spPr>
        <p:txBody>
          <a:bodyPr wrap="square" lIns="0" tIns="0" rIns="0" bIns="0" rtlCol="0" anchor="ctr"/>
          <a:lstStyle/>
          <a:p>
            <a:pPr indent="0" marL="0">
              <a:buNone/>
            </a:pPr>
            <a:r>
              <a:rPr lang="en-US" sz="1600" b="1" dirty="0">
                <a:solidFill>
                  <a:srgbClr val="4E4B4C"/>
                </a:solidFill>
                <a:latin typeface="Arial Nova" pitchFamily="34" charset="0"/>
                <a:ea typeface="Arial Nova" pitchFamily="34" charset="-122"/>
                <a:cs typeface="Arial Nova" pitchFamily="34" charset="-120"/>
              </a:rPr>
              <a:t>Plan de evaluación</a:t>
            </a:r>
            <a:endParaRPr lang="en-US" sz="1600" dirty="0"/>
          </a:p>
          <a:p>
            <a:pPr indent="0" marL="0">
              <a:buNone/>
            </a:pPr>
            <a:r>
              <a:rPr lang="en-US" sz="1300" dirty="0">
                <a:solidFill>
                  <a:srgbClr val="333333"/>
                </a:solidFill>
                <a:latin typeface="Arial Nova Light" pitchFamily="34" charset="0"/>
                <a:ea typeface="Arial Nova Light" pitchFamily="34" charset="-122"/>
                <a:cs typeface="Arial Nova Light" pitchFamily="34" charset="-120"/>
              </a:rPr>
              <a:t>Las 6 preguntas del taller de la Semana 6 · </a:t>
            </a:r>
            <a:pPr indent="0" marL="0">
              <a:buNone/>
            </a:pPr>
            <a:r>
              <a:rPr lang="en-US" sz="1300" i="1" dirty="0">
                <a:solidFill>
                  <a:srgbClr val="666666"/>
                </a:solidFill>
                <a:latin typeface="Arial Nova Light" pitchFamily="34" charset="0"/>
                <a:ea typeface="Arial Nova Light" pitchFamily="34" charset="-122"/>
                <a:cs typeface="Arial Nova Light" pitchFamily="34" charset="-120"/>
              </a:rPr>
              <a:t>Evidencias 2.4 y 2.5 del P4</a:t>
            </a:r>
            <a:endParaRPr lang="en-US" sz="1600" dirty="0"/>
          </a:p>
        </p:txBody>
      </p:sp>
      <p:sp>
        <p:nvSpPr>
          <p:cNvPr id="8" name="Shape 5"/>
          <p:cNvSpPr/>
          <p:nvPr/>
        </p:nvSpPr>
        <p:spPr>
          <a:xfrm>
            <a:off x="685800" y="3273552"/>
            <a:ext cx="548640" cy="731520"/>
          </a:xfrm>
          <a:prstGeom prst="rect">
            <a:avLst/>
          </a:prstGeom>
          <a:solidFill>
            <a:srgbClr val="4E4B4C"/>
          </a:solidFill>
          <a:ln w="12700">
            <a:solidFill>
              <a:srgbClr val="333333"/>
            </a:solidFill>
            <a:prstDash val="solid"/>
          </a:ln>
        </p:spPr>
      </p:sp>
      <p:sp>
        <p:nvSpPr>
          <p:cNvPr id="9" name="Text 6"/>
          <p:cNvSpPr/>
          <p:nvPr/>
        </p:nvSpPr>
        <p:spPr>
          <a:xfrm>
            <a:off x="685800" y="3273552"/>
            <a:ext cx="548640" cy="731520"/>
          </a:xfrm>
          <a:prstGeom prst="rect">
            <a:avLst/>
          </a:prstGeom>
          <a:noFill/>
          <a:ln/>
        </p:spPr>
        <p:txBody>
          <a:bodyPr wrap="square" lIns="0" tIns="0" rIns="0" bIns="0" rtlCol="0" anchor="ctr"/>
          <a:lstStyle/>
          <a:p>
            <a:pPr algn="ctr" indent="0" marL="0">
              <a:buNone/>
            </a:pPr>
            <a:r>
              <a:rPr lang="en-US" sz="2600" b="1" dirty="0">
                <a:solidFill>
                  <a:srgbClr val="00E1FF"/>
                </a:solidFill>
                <a:latin typeface="Arial Nova Cond" pitchFamily="34" charset="0"/>
                <a:ea typeface="Arial Nova Cond" pitchFamily="34" charset="-122"/>
                <a:cs typeface="Arial Nova Cond" pitchFamily="34" charset="-120"/>
              </a:rPr>
              <a:t>2</a:t>
            </a:r>
            <a:endParaRPr lang="en-US" sz="2600" dirty="0"/>
          </a:p>
        </p:txBody>
      </p:sp>
      <p:sp>
        <p:nvSpPr>
          <p:cNvPr id="10" name="Text 7"/>
          <p:cNvSpPr/>
          <p:nvPr/>
        </p:nvSpPr>
        <p:spPr>
          <a:xfrm>
            <a:off x="1371600" y="3273552"/>
            <a:ext cx="6035040" cy="731520"/>
          </a:xfrm>
          <a:prstGeom prst="rect">
            <a:avLst/>
          </a:prstGeom>
          <a:noFill/>
          <a:ln/>
        </p:spPr>
        <p:txBody>
          <a:bodyPr wrap="square" lIns="0" tIns="0" rIns="0" bIns="0" rtlCol="0" anchor="ctr"/>
          <a:lstStyle/>
          <a:p>
            <a:pPr indent="0" marL="0">
              <a:buNone/>
            </a:pPr>
            <a:r>
              <a:rPr lang="en-US" sz="1600" b="1" dirty="0">
                <a:solidFill>
                  <a:srgbClr val="4E4B4C"/>
                </a:solidFill>
                <a:latin typeface="Arial Nova" pitchFamily="34" charset="0"/>
                <a:ea typeface="Arial Nova" pitchFamily="34" charset="-122"/>
                <a:cs typeface="Arial Nova" pitchFamily="34" charset="-120"/>
              </a:rPr>
              <a:t>Baseline contra modelo v0</a:t>
            </a:r>
            <a:endParaRPr lang="en-US" sz="1600" dirty="0"/>
          </a:p>
          <a:p>
            <a:pPr indent="0" marL="0">
              <a:buNone/>
            </a:pPr>
            <a:r>
              <a:rPr lang="en-US" sz="1300" dirty="0">
                <a:solidFill>
                  <a:srgbClr val="333333"/>
                </a:solidFill>
                <a:latin typeface="Arial Nova Light" pitchFamily="34" charset="0"/>
                <a:ea typeface="Arial Nova Light" pitchFamily="34" charset="-122"/>
                <a:cs typeface="Arial Nova Light" pitchFamily="34" charset="-120"/>
              </a:rPr>
              <a:t>Tabla comparativa con rangos y dónde falla el modelo · </a:t>
            </a:r>
            <a:pPr indent="0" marL="0">
              <a:buNone/>
            </a:pPr>
            <a:r>
              <a:rPr lang="en-US" sz="1300" i="1" dirty="0">
                <a:solidFill>
                  <a:srgbClr val="666666"/>
                </a:solidFill>
                <a:latin typeface="Arial Nova Light" pitchFamily="34" charset="0"/>
                <a:ea typeface="Arial Nova Light" pitchFamily="34" charset="-122"/>
                <a:cs typeface="Arial Nova Light" pitchFamily="34" charset="-120"/>
              </a:rPr>
              <a:t>Evidencias 2.3, 2.6, 2.7 y 4.2</a:t>
            </a:r>
            <a:endParaRPr lang="en-US" sz="1600" dirty="0"/>
          </a:p>
        </p:txBody>
      </p:sp>
      <p:sp>
        <p:nvSpPr>
          <p:cNvPr id="11" name="Shape 8"/>
          <p:cNvSpPr/>
          <p:nvPr/>
        </p:nvSpPr>
        <p:spPr>
          <a:xfrm>
            <a:off x="685800" y="4169664"/>
            <a:ext cx="548640" cy="731520"/>
          </a:xfrm>
          <a:prstGeom prst="rect">
            <a:avLst/>
          </a:prstGeom>
          <a:solidFill>
            <a:srgbClr val="4E4B4C"/>
          </a:solidFill>
          <a:ln w="12700">
            <a:solidFill>
              <a:srgbClr val="333333"/>
            </a:solidFill>
            <a:prstDash val="solid"/>
          </a:ln>
        </p:spPr>
      </p:sp>
      <p:sp>
        <p:nvSpPr>
          <p:cNvPr id="12" name="Text 9"/>
          <p:cNvSpPr/>
          <p:nvPr/>
        </p:nvSpPr>
        <p:spPr>
          <a:xfrm>
            <a:off x="685800" y="4169664"/>
            <a:ext cx="548640" cy="731520"/>
          </a:xfrm>
          <a:prstGeom prst="rect">
            <a:avLst/>
          </a:prstGeom>
          <a:noFill/>
          <a:ln/>
        </p:spPr>
        <p:txBody>
          <a:bodyPr wrap="square" lIns="0" tIns="0" rIns="0" bIns="0" rtlCol="0" anchor="ctr"/>
          <a:lstStyle/>
          <a:p>
            <a:pPr algn="ctr" indent="0" marL="0">
              <a:buNone/>
            </a:pPr>
            <a:r>
              <a:rPr lang="en-US" sz="2600" b="1" dirty="0">
                <a:solidFill>
                  <a:srgbClr val="00E1FF"/>
                </a:solidFill>
                <a:latin typeface="Arial Nova Cond" pitchFamily="34" charset="0"/>
                <a:ea typeface="Arial Nova Cond" pitchFamily="34" charset="-122"/>
                <a:cs typeface="Arial Nova Cond" pitchFamily="34" charset="-120"/>
              </a:rPr>
              <a:t>3</a:t>
            </a:r>
            <a:endParaRPr lang="en-US" sz="2600" dirty="0"/>
          </a:p>
        </p:txBody>
      </p:sp>
      <p:sp>
        <p:nvSpPr>
          <p:cNvPr id="13" name="Text 10"/>
          <p:cNvSpPr/>
          <p:nvPr/>
        </p:nvSpPr>
        <p:spPr>
          <a:xfrm>
            <a:off x="1371600" y="4169664"/>
            <a:ext cx="6035040" cy="731520"/>
          </a:xfrm>
          <a:prstGeom prst="rect">
            <a:avLst/>
          </a:prstGeom>
          <a:noFill/>
          <a:ln/>
        </p:spPr>
        <p:txBody>
          <a:bodyPr wrap="square" lIns="0" tIns="0" rIns="0" bIns="0" rtlCol="0" anchor="ctr"/>
          <a:lstStyle/>
          <a:p>
            <a:pPr indent="0" marL="0">
              <a:buNone/>
            </a:pPr>
            <a:r>
              <a:rPr lang="en-US" sz="1600" b="1" dirty="0">
                <a:solidFill>
                  <a:srgbClr val="4E4B4C"/>
                </a:solidFill>
                <a:latin typeface="Arial Nova" pitchFamily="34" charset="0"/>
                <a:ea typeface="Arial Nova" pitchFamily="34" charset="-122"/>
                <a:cs typeface="Arial Nova" pitchFamily="34" charset="-120"/>
              </a:rPr>
              <a:t>Model Card v0</a:t>
            </a:r>
            <a:endParaRPr lang="en-US" sz="1600" dirty="0"/>
          </a:p>
          <a:p>
            <a:pPr indent="0" marL="0">
              <a:buNone/>
            </a:pPr>
            <a:r>
              <a:rPr lang="en-US" sz="1300" dirty="0">
                <a:solidFill>
                  <a:srgbClr val="333333"/>
                </a:solidFill>
                <a:latin typeface="Arial Nova Light" pitchFamily="34" charset="0"/>
                <a:ea typeface="Arial Nova Light" pitchFamily="34" charset="-122"/>
                <a:cs typeface="Arial Nova Light" pitchFamily="34" charset="-120"/>
              </a:rPr>
              <a:t>Qué es el modelo, para qué sirve y para qué no · </a:t>
            </a:r>
            <a:pPr indent="0" marL="0">
              <a:buNone/>
            </a:pPr>
            <a:r>
              <a:rPr lang="en-US" sz="1300" i="1" dirty="0">
                <a:solidFill>
                  <a:srgbClr val="666666"/>
                </a:solidFill>
                <a:latin typeface="Arial Nova Light" pitchFamily="34" charset="0"/>
                <a:ea typeface="Arial Nova Light" pitchFamily="34" charset="-122"/>
                <a:cs typeface="Arial Nova Light" pitchFamily="34" charset="-120"/>
              </a:rPr>
              <a:t>Evidencia 5.3</a:t>
            </a:r>
            <a:endParaRPr lang="en-US" sz="1600" dirty="0"/>
          </a:p>
        </p:txBody>
      </p:sp>
      <p:sp>
        <p:nvSpPr>
          <p:cNvPr id="14" name="Shape 11"/>
          <p:cNvSpPr/>
          <p:nvPr/>
        </p:nvSpPr>
        <p:spPr>
          <a:xfrm>
            <a:off x="685800" y="5065776"/>
            <a:ext cx="548640" cy="731520"/>
          </a:xfrm>
          <a:prstGeom prst="rect">
            <a:avLst/>
          </a:prstGeom>
          <a:solidFill>
            <a:srgbClr val="4E4B4C"/>
          </a:solidFill>
          <a:ln w="12700">
            <a:solidFill>
              <a:srgbClr val="333333"/>
            </a:solidFill>
            <a:prstDash val="solid"/>
          </a:ln>
        </p:spPr>
      </p:sp>
      <p:sp>
        <p:nvSpPr>
          <p:cNvPr id="15" name="Text 12"/>
          <p:cNvSpPr/>
          <p:nvPr/>
        </p:nvSpPr>
        <p:spPr>
          <a:xfrm>
            <a:off x="685800" y="5065776"/>
            <a:ext cx="548640" cy="731520"/>
          </a:xfrm>
          <a:prstGeom prst="rect">
            <a:avLst/>
          </a:prstGeom>
          <a:noFill/>
          <a:ln/>
        </p:spPr>
        <p:txBody>
          <a:bodyPr wrap="square" lIns="0" tIns="0" rIns="0" bIns="0" rtlCol="0" anchor="ctr"/>
          <a:lstStyle/>
          <a:p>
            <a:pPr algn="ctr" indent="0" marL="0">
              <a:buNone/>
            </a:pPr>
            <a:r>
              <a:rPr lang="en-US" sz="2600" b="1" dirty="0">
                <a:solidFill>
                  <a:srgbClr val="00E1FF"/>
                </a:solidFill>
                <a:latin typeface="Arial Nova Cond" pitchFamily="34" charset="0"/>
                <a:ea typeface="Arial Nova Cond" pitchFamily="34" charset="-122"/>
                <a:cs typeface="Arial Nova Cond" pitchFamily="34" charset="-120"/>
              </a:rPr>
              <a:t>4</a:t>
            </a:r>
            <a:endParaRPr lang="en-US" sz="2600" dirty="0"/>
          </a:p>
        </p:txBody>
      </p:sp>
      <p:sp>
        <p:nvSpPr>
          <p:cNvPr id="16" name="Text 13"/>
          <p:cNvSpPr/>
          <p:nvPr/>
        </p:nvSpPr>
        <p:spPr>
          <a:xfrm>
            <a:off x="1371600" y="5065776"/>
            <a:ext cx="6035040" cy="731520"/>
          </a:xfrm>
          <a:prstGeom prst="rect">
            <a:avLst/>
          </a:prstGeom>
          <a:noFill/>
          <a:ln/>
        </p:spPr>
        <p:txBody>
          <a:bodyPr wrap="square" lIns="0" tIns="0" rIns="0" bIns="0" rtlCol="0" anchor="ctr"/>
          <a:lstStyle/>
          <a:p>
            <a:pPr indent="0" marL="0">
              <a:buNone/>
            </a:pPr>
            <a:r>
              <a:rPr lang="en-US" sz="1600" b="1" dirty="0">
                <a:solidFill>
                  <a:srgbClr val="4E4B4C"/>
                </a:solidFill>
                <a:latin typeface="Arial Nova" pitchFamily="34" charset="0"/>
                <a:ea typeface="Arial Nova" pitchFamily="34" charset="-122"/>
                <a:cs typeface="Arial Nova" pitchFamily="34" charset="-120"/>
              </a:rPr>
              <a:t>Registro de 3 riesgos</a:t>
            </a:r>
            <a:endParaRPr lang="en-US" sz="1600" dirty="0"/>
          </a:p>
          <a:p>
            <a:pPr indent="0" marL="0">
              <a:buNone/>
            </a:pPr>
            <a:r>
              <a:rPr lang="en-US" sz="1300" dirty="0">
                <a:solidFill>
                  <a:srgbClr val="333333"/>
                </a:solidFill>
                <a:latin typeface="Arial Nova Light" pitchFamily="34" charset="0"/>
                <a:ea typeface="Arial Nova Light" pitchFamily="34" charset="-122"/>
                <a:cs typeface="Arial Nova Light" pitchFamily="34" charset="-120"/>
              </a:rPr>
              <a:t>El registro del pre-mortem, completo · </a:t>
            </a:r>
            <a:pPr indent="0" marL="0">
              <a:buNone/>
            </a:pPr>
            <a:r>
              <a:rPr lang="en-US" sz="1300" i="1" dirty="0">
                <a:solidFill>
                  <a:srgbClr val="666666"/>
                </a:solidFill>
                <a:latin typeface="Arial Nova Light" pitchFamily="34" charset="0"/>
                <a:ea typeface="Arial Nova Light" pitchFamily="34" charset="-122"/>
                <a:cs typeface="Arial Nova Light" pitchFamily="34" charset="-120"/>
              </a:rPr>
              <a:t>Evidencia 5.4</a:t>
            </a:r>
            <a:endParaRPr lang="en-US" sz="1600" dirty="0"/>
          </a:p>
        </p:txBody>
      </p:sp>
      <p:sp>
        <p:nvSpPr>
          <p:cNvPr id="17" name="Shape 14"/>
          <p:cNvSpPr/>
          <p:nvPr/>
        </p:nvSpPr>
        <p:spPr>
          <a:xfrm>
            <a:off x="7772400" y="2377440"/>
            <a:ext cx="3733495" cy="3429000"/>
          </a:xfrm>
          <a:prstGeom prst="rect">
            <a:avLst/>
          </a:prstGeom>
          <a:solidFill>
            <a:srgbClr val="4E4B4C"/>
          </a:solidFill>
          <a:ln w="12700">
            <a:solidFill>
              <a:srgbClr val="333333"/>
            </a:solidFill>
            <a:prstDash val="solid"/>
          </a:ln>
        </p:spPr>
      </p:sp>
      <p:sp>
        <p:nvSpPr>
          <p:cNvPr id="18" name="Text 15"/>
          <p:cNvSpPr/>
          <p:nvPr/>
        </p:nvSpPr>
        <p:spPr>
          <a:xfrm>
            <a:off x="8001000" y="2560320"/>
            <a:ext cx="3276295" cy="3108960"/>
          </a:xfrm>
          <a:prstGeom prst="rect">
            <a:avLst/>
          </a:prstGeom>
          <a:noFill/>
          <a:ln/>
        </p:spPr>
        <p:txBody>
          <a:bodyPr wrap="square" lIns="0" tIns="0" rIns="0" bIns="0" rtlCol="0" anchor="t"/>
          <a:lstStyle/>
          <a:p>
            <a:pPr indent="0" marL="0">
              <a:spcAft>
                <a:spcPts val="800"/>
              </a:spcAft>
              <a:buNone/>
            </a:pPr>
            <a:r>
              <a:rPr lang="en-US" sz="1700" b="1" dirty="0">
                <a:solidFill>
                  <a:srgbClr val="00E1FF"/>
                </a:solidFill>
                <a:latin typeface="Arial Nova" pitchFamily="34" charset="0"/>
                <a:ea typeface="Arial Nova" pitchFamily="34" charset="-122"/>
                <a:cs typeface="Arial Nova" pitchFamily="34" charset="-120"/>
              </a:rPr>
              <a:t>Reglas</a:t>
            </a:r>
            <a:endParaRPr lang="en-US" sz="1700" dirty="0"/>
          </a:p>
          <a:p>
            <a:pPr marL="342900" indent="-342900">
              <a:spcAft>
                <a:spcPts val="700"/>
              </a:spcAft>
              <a:buSzPct val="100000"/>
              <a:buChar char="•"/>
            </a:pPr>
            <a:r>
              <a:rPr lang="en-US" sz="1300" dirty="0">
                <a:solidFill>
                  <a:srgbClr val="FFFFFF"/>
                </a:solidFill>
                <a:latin typeface="Arial Nova Light" pitchFamily="34" charset="0"/>
                <a:ea typeface="Arial Nova Light" pitchFamily="34" charset="-122"/>
                <a:cs typeface="Arial Nova Light" pitchFamily="34" charset="-120"/>
              </a:rPr>
              <a:t>Cada caja trae pistas en gris: una para ML clásico y otra para LLM o agente. Usen la que corresponda y bórrenlas antes de entregar.</a:t>
            </a:r>
            <a:endParaRPr lang="en-US" sz="1700" dirty="0"/>
          </a:p>
          <a:p>
            <a:pPr marL="342900" indent="-342900">
              <a:spcAft>
                <a:spcPts val="700"/>
              </a:spcAft>
              <a:buSzPct val="100000"/>
              <a:buChar char="•"/>
            </a:pPr>
            <a:r>
              <a:rPr lang="en-US" sz="1300" dirty="0">
                <a:solidFill>
                  <a:srgbClr val="FFFFFF"/>
                </a:solidFill>
                <a:latin typeface="Arial Nova Light" pitchFamily="34" charset="0"/>
                <a:ea typeface="Arial Nova Light" pitchFamily="34" charset="-122"/>
                <a:cs typeface="Arial Nova Light" pitchFamily="34" charset="-120"/>
              </a:rPr>
              <a:t>Si algo no aplica a su proyecto, escriban «No aplica, porque…» en una línea. No fuercen contenido.</a:t>
            </a:r>
            <a:endParaRPr lang="en-US" sz="1700" dirty="0"/>
          </a:p>
          <a:p>
            <a:pPr marL="342900" indent="-342900">
              <a:spcAft>
                <a:spcPts val="700"/>
              </a:spcAft>
              <a:buSzPct val="100000"/>
              <a:buChar char="•"/>
            </a:pPr>
            <a:r>
              <a:rPr lang="en-US" sz="1300" dirty="0">
                <a:solidFill>
                  <a:srgbClr val="FFFFFF"/>
                </a:solidFill>
                <a:latin typeface="Arial Nova Light" pitchFamily="34" charset="0"/>
                <a:ea typeface="Arial Nova Light" pitchFamily="34" charset="-122"/>
                <a:cs typeface="Arial Nova Light" pitchFamily="34" charset="-120"/>
              </a:rPr>
              <a:t>Los números se reportan con su rango, no solos.</a:t>
            </a:r>
            <a:endParaRPr lang="en-US" sz="1700" dirty="0"/>
          </a:p>
          <a:p>
            <a:pPr marL="342900" indent="-342900">
              <a:spcAft>
                <a:spcPts val="700"/>
              </a:spcAft>
              <a:buSzPct val="100000"/>
              <a:buChar char="•"/>
            </a:pPr>
            <a:r>
              <a:rPr lang="en-US" sz="1300" dirty="0">
                <a:solidFill>
                  <a:srgbClr val="FFFFFF"/>
                </a:solidFill>
                <a:latin typeface="Arial Nova Light" pitchFamily="34" charset="0"/>
                <a:ea typeface="Arial Nova Light" pitchFamily="34" charset="-122"/>
                <a:cs typeface="Arial Nova Light" pitchFamily="34" charset="-120"/>
              </a:rPr>
              <a:t>Entrega por Canvas: este archivo en PDF más el enlace al notebook o repositorio.</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4E4E4"/>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48640" y="384048"/>
            <a:ext cx="2194560" cy="429768"/>
          </a:xfrm>
          <a:prstGeom prst="rect">
            <a:avLst/>
          </a:prstGeom>
        </p:spPr>
      </p:pic>
      <p:sp>
        <p:nvSpPr>
          <p:cNvPr id="3" name="Text 0"/>
          <p:cNvSpPr/>
          <p:nvPr/>
        </p:nvSpPr>
        <p:spPr>
          <a:xfrm>
            <a:off x="685800" y="1097280"/>
            <a:ext cx="10820095" cy="685800"/>
          </a:xfrm>
          <a:prstGeom prst="rect">
            <a:avLst/>
          </a:prstGeom>
          <a:noFill/>
          <a:ln/>
        </p:spPr>
        <p:txBody>
          <a:bodyPr wrap="square" lIns="0" tIns="0" rIns="0" bIns="0" rtlCol="0" anchor="t"/>
          <a:lstStyle/>
          <a:p>
            <a:pPr indent="0" marL="0">
              <a:buNone/>
            </a:pPr>
            <a:r>
              <a:rPr lang="en-US" sz="3000" b="1" dirty="0">
                <a:solidFill>
                  <a:srgbClr val="4E4B4C"/>
                </a:solidFill>
                <a:latin typeface="Arial Nova" pitchFamily="34" charset="0"/>
                <a:ea typeface="Arial Nova" pitchFamily="34" charset="-122"/>
                <a:cs typeface="Arial Nova" pitchFamily="34" charset="-120"/>
              </a:rPr>
              <a:t>Plan de evaluación (1/2)</a:t>
            </a:r>
            <a:endParaRPr lang="en-US" sz="3000" dirty="0"/>
          </a:p>
        </p:txBody>
      </p:sp>
      <p:sp>
        <p:nvSpPr>
          <p:cNvPr id="4" name="Shape 1"/>
          <p:cNvSpPr/>
          <p:nvPr/>
        </p:nvSpPr>
        <p:spPr>
          <a:xfrm>
            <a:off x="7391095" y="457200"/>
            <a:ext cx="4114800" cy="347472"/>
          </a:xfrm>
          <a:prstGeom prst="rect">
            <a:avLst/>
          </a:prstGeom>
          <a:solidFill>
            <a:srgbClr val="00E1FF"/>
          </a:solidFill>
          <a:ln w="12700">
            <a:solidFill>
              <a:srgbClr val="333333"/>
            </a:solidFill>
            <a:prstDash val="solid"/>
          </a:ln>
        </p:spPr>
      </p:sp>
      <p:sp>
        <p:nvSpPr>
          <p:cNvPr id="5" name="Text 2"/>
          <p:cNvSpPr/>
          <p:nvPr/>
        </p:nvSpPr>
        <p:spPr>
          <a:xfrm>
            <a:off x="7391095" y="457200"/>
            <a:ext cx="4114800" cy="347472"/>
          </a:xfrm>
          <a:prstGeom prst="rect">
            <a:avLst/>
          </a:prstGeom>
          <a:noFill/>
          <a:ln/>
        </p:spPr>
        <p:txBody>
          <a:bodyPr wrap="none" lIns="0" tIns="0" rIns="0" bIns="0" rtlCol="0" anchor="ctr"/>
          <a:lstStyle/>
          <a:p>
            <a:pPr algn="ctr" indent="0" marL="0">
              <a:buNone/>
            </a:pPr>
            <a:r>
              <a:rPr lang="en-US" sz="1100" b="1" dirty="0">
                <a:solidFill>
                  <a:srgbClr val="000000"/>
                </a:solidFill>
                <a:latin typeface="Arial Nova" pitchFamily="34" charset="0"/>
                <a:ea typeface="Arial Nova" pitchFamily="34" charset="-122"/>
                <a:cs typeface="Arial Nova" pitchFamily="34" charset="-120"/>
              </a:rPr>
              <a:t>SECCIÓN 1 · PLAN DE EVALUACIÓN</a:t>
            </a:r>
            <a:endParaRPr lang="en-US" sz="1100" dirty="0"/>
          </a:p>
        </p:txBody>
      </p:sp>
      <p:sp>
        <p:nvSpPr>
          <p:cNvPr id="6" name="Shape 3"/>
          <p:cNvSpPr/>
          <p:nvPr/>
        </p:nvSpPr>
        <p:spPr>
          <a:xfrm>
            <a:off x="685800" y="1920240"/>
            <a:ext cx="3454298" cy="4343400"/>
          </a:xfrm>
          <a:prstGeom prst="rect">
            <a:avLst/>
          </a:prstGeom>
          <a:solidFill>
            <a:srgbClr val="FFFFFF"/>
          </a:solidFill>
          <a:ln w="12700">
            <a:solidFill>
              <a:srgbClr val="BFBFBF"/>
            </a:solidFill>
            <a:prstDash val="solid"/>
          </a:ln>
        </p:spPr>
      </p:sp>
      <p:sp>
        <p:nvSpPr>
          <p:cNvPr id="7" name="Text 4"/>
          <p:cNvSpPr/>
          <p:nvPr/>
        </p:nvSpPr>
        <p:spPr>
          <a:xfrm>
            <a:off x="850392" y="2029968"/>
            <a:ext cx="3125114" cy="329184"/>
          </a:xfrm>
          <a:prstGeom prst="rect">
            <a:avLst/>
          </a:prstGeom>
          <a:noFill/>
          <a:ln/>
        </p:spPr>
        <p:txBody>
          <a:bodyPr wrap="square" lIns="0" tIns="0" rIns="0" bIns="0" rtlCol="0" anchor="t"/>
          <a:lstStyle/>
          <a:p>
            <a:pPr indent="0" marL="0">
              <a:buNone/>
            </a:pPr>
            <a:r>
              <a:rPr lang="en-US" sz="1500" b="1" dirty="0">
                <a:solidFill>
                  <a:srgbClr val="4E4B4C"/>
                </a:solidFill>
                <a:latin typeface="Arial Nova" pitchFamily="34" charset="0"/>
                <a:ea typeface="Arial Nova" pitchFamily="34" charset="-122"/>
                <a:cs typeface="Arial Nova" pitchFamily="34" charset="-120"/>
              </a:rPr>
              <a:t>1 · Problema de ML</a:t>
            </a:r>
            <a:endParaRPr lang="en-US" sz="1500" dirty="0"/>
          </a:p>
        </p:txBody>
      </p:sp>
      <p:sp>
        <p:nvSpPr>
          <p:cNvPr id="8" name="Text 5"/>
          <p:cNvSpPr/>
          <p:nvPr/>
        </p:nvSpPr>
        <p:spPr>
          <a:xfrm>
            <a:off x="850392" y="2377440"/>
            <a:ext cx="3125114" cy="1234440"/>
          </a:xfrm>
          <a:prstGeom prst="rect">
            <a:avLst/>
          </a:prstGeom>
          <a:noFill/>
          <a:ln/>
        </p:spPr>
        <p:txBody>
          <a:bodyPr wrap="square" lIns="0" tIns="0" rIns="0" bIns="0" rtlCol="0" anchor="t"/>
          <a:lstStyle/>
          <a:p>
            <a:pPr indent="0" marL="0">
              <a:spcAft>
                <a:spcPts val="300"/>
              </a:spcAft>
              <a:buNone/>
            </a:pPr>
            <a:r>
              <a:rPr lang="en-US" sz="1100" b="1" i="1" dirty="0">
                <a:solidFill>
                  <a:srgbClr val="7F7F7F"/>
                </a:solidFill>
                <a:latin typeface="Arial Nova Light" pitchFamily="34" charset="0"/>
                <a:ea typeface="Arial Nova Light" pitchFamily="34" charset="-122"/>
                <a:cs typeface="Arial Nova Light" pitchFamily="34" charset="-120"/>
              </a:rPr>
              <a:t>Pista ML: </a:t>
            </a:r>
            <a:pPr indent="0" marL="0">
              <a:spcAft>
                <a:spcPts val="300"/>
              </a:spcAft>
              <a:buNone/>
            </a:pPr>
            <a:r>
              <a:rPr lang="en-US" sz="1100" i="1" dirty="0">
                <a:solidFill>
                  <a:srgbClr val="7F7F7F"/>
                </a:solidFill>
                <a:latin typeface="Arial Nova Light" pitchFamily="34" charset="0"/>
                <a:ea typeface="Arial Nova Light" pitchFamily="34" charset="-122"/>
                <a:cs typeface="Arial Nova Light" pitchFamily="34" charset="-120"/>
              </a:rPr>
              <a:t>Tipo de tarea, unidad de predicción, momento de la decisión y horizonte.</a:t>
            </a:r>
            <a:endParaRPr lang="en-US" sz="1100" dirty="0"/>
          </a:p>
          <a:p>
            <a:pPr indent="0" marL="0">
              <a:spcAft>
                <a:spcPts val="300"/>
              </a:spcAft>
              <a:buNone/>
            </a:pPr>
            <a:r>
              <a:rPr lang="en-US" sz="1100" b="1" i="1" dirty="0">
                <a:solidFill>
                  <a:srgbClr val="7F7F7F"/>
                </a:solidFill>
                <a:latin typeface="Arial Nova Light" pitchFamily="34" charset="0"/>
                <a:ea typeface="Arial Nova Light" pitchFamily="34" charset="-122"/>
                <a:cs typeface="Arial Nova Light" pitchFamily="34" charset="-120"/>
              </a:rPr>
              <a:t>Pista LLM o agente: </a:t>
            </a:r>
            <a:pPr indent="0" marL="0">
              <a:spcAft>
                <a:spcPts val="300"/>
              </a:spcAft>
              <a:buNone/>
            </a:pPr>
            <a:r>
              <a:rPr lang="en-US" sz="1100" i="1" dirty="0">
                <a:solidFill>
                  <a:srgbClr val="7F7F7F"/>
                </a:solidFill>
                <a:latin typeface="Arial Nova Light" pitchFamily="34" charset="0"/>
                <a:ea typeface="Arial Nova Light" pitchFamily="34" charset="-122"/>
                <a:cs typeface="Arial Nova Light" pitchFamily="34" charset="-120"/>
              </a:rPr>
              <a:t>¿Es en el fondo clasificación, extracción o generación? ¿Qué contexto está disponible al decidir?</a:t>
            </a:r>
            <a:endParaRPr lang="en-US" sz="1100" dirty="0"/>
          </a:p>
        </p:txBody>
      </p:sp>
      <p:sp>
        <p:nvSpPr>
          <p:cNvPr id="9" name="Text 6"/>
          <p:cNvSpPr/>
          <p:nvPr/>
        </p:nvSpPr>
        <p:spPr>
          <a:xfrm>
            <a:off x="850392" y="3685032"/>
            <a:ext cx="3125114" cy="2468880"/>
          </a:xfrm>
          <a:prstGeom prst="rect">
            <a:avLst/>
          </a:prstGeom>
          <a:noFill/>
          <a:ln/>
        </p:spPr>
        <p:txBody>
          <a:bodyPr wrap="square" lIns="0" tIns="0" rIns="0" bIns="0" rtlCol="0" anchor="t"/>
          <a:lstStyle/>
          <a:p>
            <a:pPr indent="0" marL="0">
              <a:buNone/>
            </a:pPr>
            <a:r>
              <a:rPr lang="en-US" sz="1300" dirty="0">
                <a:solidFill>
                  <a:srgbClr val="A6A6A6"/>
                </a:solidFill>
                <a:latin typeface="Arial Nova Light" pitchFamily="34" charset="0"/>
                <a:ea typeface="Arial Nova Light" pitchFamily="34" charset="-122"/>
                <a:cs typeface="Arial Nova Light" pitchFamily="34" charset="-120"/>
              </a:rPr>
              <a:t>[Respuesta del equipo]</a:t>
            </a:r>
            <a:endParaRPr lang="en-US" sz="1300" dirty="0"/>
          </a:p>
        </p:txBody>
      </p:sp>
      <p:sp>
        <p:nvSpPr>
          <p:cNvPr id="10" name="Shape 7"/>
          <p:cNvSpPr/>
          <p:nvPr/>
        </p:nvSpPr>
        <p:spPr>
          <a:xfrm>
            <a:off x="4368698" y="1920240"/>
            <a:ext cx="3454298" cy="4343400"/>
          </a:xfrm>
          <a:prstGeom prst="rect">
            <a:avLst/>
          </a:prstGeom>
          <a:solidFill>
            <a:srgbClr val="FFFFFF"/>
          </a:solidFill>
          <a:ln w="12700">
            <a:solidFill>
              <a:srgbClr val="BFBFBF"/>
            </a:solidFill>
            <a:prstDash val="solid"/>
          </a:ln>
        </p:spPr>
      </p:sp>
      <p:sp>
        <p:nvSpPr>
          <p:cNvPr id="11" name="Text 8"/>
          <p:cNvSpPr/>
          <p:nvPr/>
        </p:nvSpPr>
        <p:spPr>
          <a:xfrm>
            <a:off x="4533290" y="2029968"/>
            <a:ext cx="3125114" cy="329184"/>
          </a:xfrm>
          <a:prstGeom prst="rect">
            <a:avLst/>
          </a:prstGeom>
          <a:noFill/>
          <a:ln/>
        </p:spPr>
        <p:txBody>
          <a:bodyPr wrap="square" lIns="0" tIns="0" rIns="0" bIns="0" rtlCol="0" anchor="t"/>
          <a:lstStyle/>
          <a:p>
            <a:pPr indent="0" marL="0">
              <a:buNone/>
            </a:pPr>
            <a:r>
              <a:rPr lang="en-US" sz="1500" b="1" dirty="0">
                <a:solidFill>
                  <a:srgbClr val="4E4B4C"/>
                </a:solidFill>
                <a:latin typeface="Arial Nova" pitchFamily="34" charset="0"/>
                <a:ea typeface="Arial Nova" pitchFamily="34" charset="-122"/>
                <a:cs typeface="Arial Nova" pitchFamily="34" charset="-120"/>
              </a:rPr>
              <a:t>2 · Métrica ↔ KPI</a:t>
            </a:r>
            <a:endParaRPr lang="en-US" sz="1500" dirty="0"/>
          </a:p>
        </p:txBody>
      </p:sp>
      <p:sp>
        <p:nvSpPr>
          <p:cNvPr id="12" name="Text 9"/>
          <p:cNvSpPr/>
          <p:nvPr/>
        </p:nvSpPr>
        <p:spPr>
          <a:xfrm>
            <a:off x="4533290" y="2377440"/>
            <a:ext cx="3125114" cy="1234440"/>
          </a:xfrm>
          <a:prstGeom prst="rect">
            <a:avLst/>
          </a:prstGeom>
          <a:noFill/>
          <a:ln/>
        </p:spPr>
        <p:txBody>
          <a:bodyPr wrap="square" lIns="0" tIns="0" rIns="0" bIns="0" rtlCol="0" anchor="t"/>
          <a:lstStyle/>
          <a:p>
            <a:pPr indent="0" marL="0">
              <a:spcAft>
                <a:spcPts val="300"/>
              </a:spcAft>
              <a:buNone/>
            </a:pPr>
            <a:r>
              <a:rPr lang="en-US" sz="1100" b="1" i="1" dirty="0">
                <a:solidFill>
                  <a:srgbClr val="7F7F7F"/>
                </a:solidFill>
                <a:latin typeface="Arial Nova Light" pitchFamily="34" charset="0"/>
                <a:ea typeface="Arial Nova Light" pitchFamily="34" charset="-122"/>
                <a:cs typeface="Arial Nova Light" pitchFamily="34" charset="-120"/>
              </a:rPr>
              <a:t>Pista ML: </a:t>
            </a:r>
            <a:pPr indent="0" marL="0">
              <a:spcAft>
                <a:spcPts val="300"/>
              </a:spcAft>
              <a:buNone/>
            </a:pPr>
            <a:r>
              <a:rPr lang="en-US" sz="1100" i="1" dirty="0">
                <a:solidFill>
                  <a:srgbClr val="7F7F7F"/>
                </a:solidFill>
                <a:latin typeface="Arial Nova Light" pitchFamily="34" charset="0"/>
                <a:ea typeface="Arial Nova Light" pitchFamily="34" charset="-122"/>
                <a:cs typeface="Arial Nova Light" pitchFamily="34" charset="-120"/>
              </a:rPr>
              <a:t>Métrica técnica y umbral; cómo se traduce a la decisión, al KPI de impacto y a la métrica de contrapeso.</a:t>
            </a:r>
            <a:endParaRPr lang="en-US" sz="1100" dirty="0"/>
          </a:p>
          <a:p>
            <a:pPr indent="0" marL="0">
              <a:spcAft>
                <a:spcPts val="300"/>
              </a:spcAft>
              <a:buNone/>
            </a:pPr>
            <a:r>
              <a:rPr lang="en-US" sz="1100" b="1" i="1" dirty="0">
                <a:solidFill>
                  <a:srgbClr val="7F7F7F"/>
                </a:solidFill>
                <a:latin typeface="Arial Nova Light" pitchFamily="34" charset="0"/>
                <a:ea typeface="Arial Nova Light" pitchFamily="34" charset="-122"/>
                <a:cs typeface="Arial Nova Light" pitchFamily="34" charset="-120"/>
              </a:rPr>
              <a:t>Pista LLM o agente: </a:t>
            </a:r>
            <a:pPr indent="0" marL="0">
              <a:spcAft>
                <a:spcPts val="300"/>
              </a:spcAft>
              <a:buNone/>
            </a:pPr>
            <a:r>
              <a:rPr lang="en-US" sz="1100" i="1" dirty="0">
                <a:solidFill>
                  <a:srgbClr val="7F7F7F"/>
                </a:solidFill>
                <a:latin typeface="Arial Nova Light" pitchFamily="34" charset="0"/>
                <a:ea typeface="Arial Nova Light" pitchFamily="34" charset="-122"/>
                <a:cs typeface="Arial Nova Light" pitchFamily="34" charset="-120"/>
              </a:rPr>
              <a:t>Métrica compuesta: calidad (rúbrica humana con κ, o LLM juez validado), costo y latencia.</a:t>
            </a:r>
            <a:endParaRPr lang="en-US" sz="1100" dirty="0"/>
          </a:p>
        </p:txBody>
      </p:sp>
      <p:sp>
        <p:nvSpPr>
          <p:cNvPr id="13" name="Text 10"/>
          <p:cNvSpPr/>
          <p:nvPr/>
        </p:nvSpPr>
        <p:spPr>
          <a:xfrm>
            <a:off x="4533290" y="3685032"/>
            <a:ext cx="3125114" cy="2468880"/>
          </a:xfrm>
          <a:prstGeom prst="rect">
            <a:avLst/>
          </a:prstGeom>
          <a:noFill/>
          <a:ln/>
        </p:spPr>
        <p:txBody>
          <a:bodyPr wrap="square" lIns="0" tIns="0" rIns="0" bIns="0" rtlCol="0" anchor="t"/>
          <a:lstStyle/>
          <a:p>
            <a:pPr indent="0" marL="0">
              <a:buNone/>
            </a:pPr>
            <a:r>
              <a:rPr lang="en-US" sz="1300" dirty="0">
                <a:solidFill>
                  <a:srgbClr val="A6A6A6"/>
                </a:solidFill>
                <a:latin typeface="Arial Nova Light" pitchFamily="34" charset="0"/>
                <a:ea typeface="Arial Nova Light" pitchFamily="34" charset="-122"/>
                <a:cs typeface="Arial Nova Light" pitchFamily="34" charset="-120"/>
              </a:rPr>
              <a:t>[Respuesta del equipo]</a:t>
            </a:r>
            <a:endParaRPr lang="en-US" sz="1300" dirty="0"/>
          </a:p>
        </p:txBody>
      </p:sp>
      <p:sp>
        <p:nvSpPr>
          <p:cNvPr id="14" name="Shape 11"/>
          <p:cNvSpPr/>
          <p:nvPr/>
        </p:nvSpPr>
        <p:spPr>
          <a:xfrm>
            <a:off x="8051597" y="1920240"/>
            <a:ext cx="3454298" cy="4343400"/>
          </a:xfrm>
          <a:prstGeom prst="rect">
            <a:avLst/>
          </a:prstGeom>
          <a:solidFill>
            <a:srgbClr val="FFFFFF"/>
          </a:solidFill>
          <a:ln w="12700">
            <a:solidFill>
              <a:srgbClr val="BFBFBF"/>
            </a:solidFill>
            <a:prstDash val="solid"/>
          </a:ln>
        </p:spPr>
      </p:sp>
      <p:sp>
        <p:nvSpPr>
          <p:cNvPr id="15" name="Text 12"/>
          <p:cNvSpPr/>
          <p:nvPr/>
        </p:nvSpPr>
        <p:spPr>
          <a:xfrm>
            <a:off x="8216189" y="2029968"/>
            <a:ext cx="3125114" cy="329184"/>
          </a:xfrm>
          <a:prstGeom prst="rect">
            <a:avLst/>
          </a:prstGeom>
          <a:noFill/>
          <a:ln/>
        </p:spPr>
        <p:txBody>
          <a:bodyPr wrap="square" lIns="0" tIns="0" rIns="0" bIns="0" rtlCol="0" anchor="t"/>
          <a:lstStyle/>
          <a:p>
            <a:pPr indent="0" marL="0">
              <a:buNone/>
            </a:pPr>
            <a:r>
              <a:rPr lang="en-US" sz="1500" b="1" dirty="0">
                <a:solidFill>
                  <a:srgbClr val="4E4B4C"/>
                </a:solidFill>
                <a:latin typeface="Arial Nova" pitchFamily="34" charset="0"/>
                <a:ea typeface="Arial Nova" pitchFamily="34" charset="-122"/>
                <a:cs typeface="Arial Nova" pitchFamily="34" charset="-120"/>
              </a:rPr>
              <a:t>3 · Baselines</a:t>
            </a:r>
            <a:endParaRPr lang="en-US" sz="1500" dirty="0"/>
          </a:p>
        </p:txBody>
      </p:sp>
      <p:sp>
        <p:nvSpPr>
          <p:cNvPr id="16" name="Text 13"/>
          <p:cNvSpPr/>
          <p:nvPr/>
        </p:nvSpPr>
        <p:spPr>
          <a:xfrm>
            <a:off x="8216189" y="2377440"/>
            <a:ext cx="3125114" cy="1234440"/>
          </a:xfrm>
          <a:prstGeom prst="rect">
            <a:avLst/>
          </a:prstGeom>
          <a:noFill/>
          <a:ln/>
        </p:spPr>
        <p:txBody>
          <a:bodyPr wrap="square" lIns="0" tIns="0" rIns="0" bIns="0" rtlCol="0" anchor="t"/>
          <a:lstStyle/>
          <a:p>
            <a:pPr indent="0" marL="0">
              <a:spcAft>
                <a:spcPts val="300"/>
              </a:spcAft>
              <a:buNone/>
            </a:pPr>
            <a:r>
              <a:rPr lang="en-US" sz="1100" b="1" i="1" dirty="0">
                <a:solidFill>
                  <a:srgbClr val="7F7F7F"/>
                </a:solidFill>
                <a:latin typeface="Arial Nova Light" pitchFamily="34" charset="0"/>
                <a:ea typeface="Arial Nova Light" pitchFamily="34" charset="-122"/>
                <a:cs typeface="Arial Nova Light" pitchFamily="34" charset="-120"/>
              </a:rPr>
              <a:t>Pista ML: </a:t>
            </a:r>
            <a:pPr indent="0" marL="0">
              <a:spcAft>
                <a:spcPts val="300"/>
              </a:spcAft>
              <a:buNone/>
            </a:pPr>
            <a:r>
              <a:rPr lang="en-US" sz="1100" i="1" dirty="0">
                <a:solidFill>
                  <a:srgbClr val="7F7F7F"/>
                </a:solidFill>
                <a:latin typeface="Arial Nova Light" pitchFamily="34" charset="0"/>
                <a:ea typeface="Arial Nova Light" pitchFamily="34" charset="-122"/>
                <a:cs typeface="Arial Nova Light" pitchFamily="34" charset="-120"/>
              </a:rPr>
              <a:t>No hacer nada, lo que se hace hoy (mapa de alternativas, A2) y un modelo simple.</a:t>
            </a:r>
            <a:endParaRPr lang="en-US" sz="1100" dirty="0"/>
          </a:p>
          <a:p>
            <a:pPr indent="0" marL="0">
              <a:spcAft>
                <a:spcPts val="300"/>
              </a:spcAft>
              <a:buNone/>
            </a:pPr>
            <a:r>
              <a:rPr lang="en-US" sz="1100" b="1" i="1" dirty="0">
                <a:solidFill>
                  <a:srgbClr val="7F7F7F"/>
                </a:solidFill>
                <a:latin typeface="Arial Nova Light" pitchFamily="34" charset="0"/>
                <a:ea typeface="Arial Nova Light" pitchFamily="34" charset="-122"/>
                <a:cs typeface="Arial Nova Light" pitchFamily="34" charset="-120"/>
              </a:rPr>
              <a:t>Pista LLM o agente: </a:t>
            </a:r>
            <a:pPr indent="0" marL="0">
              <a:spcAft>
                <a:spcPts val="300"/>
              </a:spcAft>
              <a:buNone/>
            </a:pPr>
            <a:r>
              <a:rPr lang="en-US" sz="1100" i="1" dirty="0">
                <a:solidFill>
                  <a:srgbClr val="7F7F7F"/>
                </a:solidFill>
                <a:latin typeface="Arial Nova Light" pitchFamily="34" charset="0"/>
                <a:ea typeface="Arial Nova Light" pitchFamily="34" charset="-122"/>
                <a:cs typeface="Arial Nova Light" pitchFamily="34" charset="-120"/>
              </a:rPr>
              <a:t>El LLM sin ajustes; si es agente, un solo LLM sin agente.</a:t>
            </a:r>
            <a:endParaRPr lang="en-US" sz="1100" dirty="0"/>
          </a:p>
        </p:txBody>
      </p:sp>
      <p:sp>
        <p:nvSpPr>
          <p:cNvPr id="17" name="Text 14"/>
          <p:cNvSpPr/>
          <p:nvPr/>
        </p:nvSpPr>
        <p:spPr>
          <a:xfrm>
            <a:off x="8216189" y="3685032"/>
            <a:ext cx="3125114" cy="2468880"/>
          </a:xfrm>
          <a:prstGeom prst="rect">
            <a:avLst/>
          </a:prstGeom>
          <a:noFill/>
          <a:ln/>
        </p:spPr>
        <p:txBody>
          <a:bodyPr wrap="square" lIns="0" tIns="0" rIns="0" bIns="0" rtlCol="0" anchor="t"/>
          <a:lstStyle/>
          <a:p>
            <a:pPr indent="0" marL="0">
              <a:buNone/>
            </a:pPr>
            <a:r>
              <a:rPr lang="en-US" sz="1300" dirty="0">
                <a:solidFill>
                  <a:srgbClr val="A6A6A6"/>
                </a:solidFill>
                <a:latin typeface="Arial Nova Light" pitchFamily="34" charset="0"/>
                <a:ea typeface="Arial Nova Light" pitchFamily="34" charset="-122"/>
                <a:cs typeface="Arial Nova Light" pitchFamily="34" charset="-120"/>
              </a:rPr>
              <a:t>[Respuesta del equipo]</a:t>
            </a:r>
            <a:endParaRPr lang="en-US" sz="1300" dirty="0"/>
          </a:p>
        </p:txBody>
      </p:sp>
      <p:sp>
        <p:nvSpPr>
          <p:cNvPr id="18" name="Text 15"/>
          <p:cNvSpPr/>
          <p:nvPr/>
        </p:nvSpPr>
        <p:spPr>
          <a:xfrm>
            <a:off x="8762695" y="6400800"/>
            <a:ext cx="2743200" cy="274320"/>
          </a:xfrm>
          <a:prstGeom prst="rect">
            <a:avLst/>
          </a:prstGeom>
          <a:noFill/>
          <a:ln/>
        </p:spPr>
        <p:txBody>
          <a:bodyPr wrap="square" lIns="0" tIns="0" rIns="0" bIns="0" rtlCol="0" anchor="ctr"/>
          <a:lstStyle/>
          <a:p>
            <a:pPr algn="r" indent="0" marL="0">
              <a:buNone/>
            </a:pPr>
            <a:r>
              <a:rPr lang="en-US" sz="1000" dirty="0">
                <a:solidFill>
                  <a:srgbClr val="666666"/>
                </a:solidFill>
                <a:latin typeface="Arial Nova Light" pitchFamily="34" charset="0"/>
                <a:ea typeface="Arial Nova Light" pitchFamily="34" charset="-122"/>
                <a:cs typeface="Arial Nova Light" pitchFamily="34" charset="-120"/>
              </a:rPr>
              <a:t>E5 · Equipo N.º ____</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4E4E4"/>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48640" y="384048"/>
            <a:ext cx="2194560" cy="429768"/>
          </a:xfrm>
          <a:prstGeom prst="rect">
            <a:avLst/>
          </a:prstGeom>
        </p:spPr>
      </p:pic>
      <p:sp>
        <p:nvSpPr>
          <p:cNvPr id="3" name="Text 0"/>
          <p:cNvSpPr/>
          <p:nvPr/>
        </p:nvSpPr>
        <p:spPr>
          <a:xfrm>
            <a:off x="685800" y="1097280"/>
            <a:ext cx="10820095" cy="685800"/>
          </a:xfrm>
          <a:prstGeom prst="rect">
            <a:avLst/>
          </a:prstGeom>
          <a:noFill/>
          <a:ln/>
        </p:spPr>
        <p:txBody>
          <a:bodyPr wrap="square" lIns="0" tIns="0" rIns="0" bIns="0" rtlCol="0" anchor="t"/>
          <a:lstStyle/>
          <a:p>
            <a:pPr indent="0" marL="0">
              <a:buNone/>
            </a:pPr>
            <a:r>
              <a:rPr lang="en-US" sz="3000" b="1" dirty="0">
                <a:solidFill>
                  <a:srgbClr val="4E4B4C"/>
                </a:solidFill>
                <a:latin typeface="Arial Nova" pitchFamily="34" charset="0"/>
                <a:ea typeface="Arial Nova" pitchFamily="34" charset="-122"/>
                <a:cs typeface="Arial Nova" pitchFamily="34" charset="-120"/>
              </a:rPr>
              <a:t>Plan de evaluación (2/2)</a:t>
            </a:r>
            <a:endParaRPr lang="en-US" sz="3000" dirty="0"/>
          </a:p>
        </p:txBody>
      </p:sp>
      <p:sp>
        <p:nvSpPr>
          <p:cNvPr id="4" name="Shape 1"/>
          <p:cNvSpPr/>
          <p:nvPr/>
        </p:nvSpPr>
        <p:spPr>
          <a:xfrm>
            <a:off x="7391095" y="457200"/>
            <a:ext cx="4114800" cy="347472"/>
          </a:xfrm>
          <a:prstGeom prst="rect">
            <a:avLst/>
          </a:prstGeom>
          <a:solidFill>
            <a:srgbClr val="00E1FF"/>
          </a:solidFill>
          <a:ln w="12700">
            <a:solidFill>
              <a:srgbClr val="333333"/>
            </a:solidFill>
            <a:prstDash val="solid"/>
          </a:ln>
        </p:spPr>
      </p:sp>
      <p:sp>
        <p:nvSpPr>
          <p:cNvPr id="5" name="Text 2"/>
          <p:cNvSpPr/>
          <p:nvPr/>
        </p:nvSpPr>
        <p:spPr>
          <a:xfrm>
            <a:off x="7391095" y="457200"/>
            <a:ext cx="4114800" cy="347472"/>
          </a:xfrm>
          <a:prstGeom prst="rect">
            <a:avLst/>
          </a:prstGeom>
          <a:noFill/>
          <a:ln/>
        </p:spPr>
        <p:txBody>
          <a:bodyPr wrap="none" lIns="0" tIns="0" rIns="0" bIns="0" rtlCol="0" anchor="ctr"/>
          <a:lstStyle/>
          <a:p>
            <a:pPr algn="ctr" indent="0" marL="0">
              <a:buNone/>
            </a:pPr>
            <a:r>
              <a:rPr lang="en-US" sz="1100" b="1" dirty="0">
                <a:solidFill>
                  <a:srgbClr val="000000"/>
                </a:solidFill>
                <a:latin typeface="Arial Nova" pitchFamily="34" charset="0"/>
                <a:ea typeface="Arial Nova" pitchFamily="34" charset="-122"/>
                <a:cs typeface="Arial Nova" pitchFamily="34" charset="-120"/>
              </a:rPr>
              <a:t>SECCIÓN 1 · PLAN DE EVALUACIÓN</a:t>
            </a:r>
            <a:endParaRPr lang="en-US" sz="1100" dirty="0"/>
          </a:p>
        </p:txBody>
      </p:sp>
      <p:sp>
        <p:nvSpPr>
          <p:cNvPr id="6" name="Shape 3"/>
          <p:cNvSpPr/>
          <p:nvPr/>
        </p:nvSpPr>
        <p:spPr>
          <a:xfrm>
            <a:off x="685800" y="1920240"/>
            <a:ext cx="3454298" cy="4343400"/>
          </a:xfrm>
          <a:prstGeom prst="rect">
            <a:avLst/>
          </a:prstGeom>
          <a:solidFill>
            <a:srgbClr val="FFFFFF"/>
          </a:solidFill>
          <a:ln w="12700">
            <a:solidFill>
              <a:srgbClr val="BFBFBF"/>
            </a:solidFill>
            <a:prstDash val="solid"/>
          </a:ln>
        </p:spPr>
      </p:sp>
      <p:sp>
        <p:nvSpPr>
          <p:cNvPr id="7" name="Text 4"/>
          <p:cNvSpPr/>
          <p:nvPr/>
        </p:nvSpPr>
        <p:spPr>
          <a:xfrm>
            <a:off x="850392" y="2029968"/>
            <a:ext cx="3125114" cy="329184"/>
          </a:xfrm>
          <a:prstGeom prst="rect">
            <a:avLst/>
          </a:prstGeom>
          <a:noFill/>
          <a:ln/>
        </p:spPr>
        <p:txBody>
          <a:bodyPr wrap="square" lIns="0" tIns="0" rIns="0" bIns="0" rtlCol="0" anchor="t"/>
          <a:lstStyle/>
          <a:p>
            <a:pPr indent="0" marL="0">
              <a:buNone/>
            </a:pPr>
            <a:r>
              <a:rPr lang="en-US" sz="1500" b="1" dirty="0">
                <a:solidFill>
                  <a:srgbClr val="4E4B4C"/>
                </a:solidFill>
                <a:latin typeface="Arial Nova" pitchFamily="34" charset="0"/>
                <a:ea typeface="Arial Nova" pitchFamily="34" charset="-122"/>
                <a:cs typeface="Arial Nova" pitchFamily="34" charset="-120"/>
              </a:rPr>
              <a:t>4 · Con qué datos se prueba</a:t>
            </a:r>
            <a:endParaRPr lang="en-US" sz="1500" dirty="0"/>
          </a:p>
        </p:txBody>
      </p:sp>
      <p:sp>
        <p:nvSpPr>
          <p:cNvPr id="8" name="Text 5"/>
          <p:cNvSpPr/>
          <p:nvPr/>
        </p:nvSpPr>
        <p:spPr>
          <a:xfrm>
            <a:off x="850392" y="2377440"/>
            <a:ext cx="3125114" cy="1234440"/>
          </a:xfrm>
          <a:prstGeom prst="rect">
            <a:avLst/>
          </a:prstGeom>
          <a:noFill/>
          <a:ln/>
        </p:spPr>
        <p:txBody>
          <a:bodyPr wrap="square" lIns="0" tIns="0" rIns="0" bIns="0" rtlCol="0" anchor="t"/>
          <a:lstStyle/>
          <a:p>
            <a:pPr indent="0" marL="0">
              <a:spcAft>
                <a:spcPts val="300"/>
              </a:spcAft>
              <a:buNone/>
            </a:pPr>
            <a:r>
              <a:rPr lang="en-US" sz="1100" b="1" i="1" dirty="0">
                <a:solidFill>
                  <a:srgbClr val="7F7F7F"/>
                </a:solidFill>
                <a:latin typeface="Arial Nova Light" pitchFamily="34" charset="0"/>
                <a:ea typeface="Arial Nova Light" pitchFamily="34" charset="-122"/>
                <a:cs typeface="Arial Nova Light" pitchFamily="34" charset="-120"/>
              </a:rPr>
              <a:t>Pista ML: </a:t>
            </a:r>
            <a:pPr indent="0" marL="0">
              <a:spcAft>
                <a:spcPts val="300"/>
              </a:spcAft>
              <a:buNone/>
            </a:pPr>
            <a:r>
              <a:rPr lang="en-US" sz="1100" i="1" dirty="0">
                <a:solidFill>
                  <a:srgbClr val="7F7F7F"/>
                </a:solidFill>
                <a:latin typeface="Arial Nova Light" pitchFamily="34" charset="0"/>
                <a:ea typeface="Arial Nova Light" pitchFamily="34" charset="-122"/>
                <a:cs typeface="Arial Nova Light" pitchFamily="34" charset="-120"/>
              </a:rPr>
              <a:t>Datos que el modelo nunca vio: corte temporal o por grupo. Indiquen fechas y tamaños.</a:t>
            </a:r>
            <a:endParaRPr lang="en-US" sz="1100" dirty="0"/>
          </a:p>
          <a:p>
            <a:pPr indent="0" marL="0">
              <a:spcAft>
                <a:spcPts val="300"/>
              </a:spcAft>
              <a:buNone/>
            </a:pPr>
            <a:r>
              <a:rPr lang="en-US" sz="1100" b="1" i="1" dirty="0">
                <a:solidFill>
                  <a:srgbClr val="7F7F7F"/>
                </a:solidFill>
                <a:latin typeface="Arial Nova Light" pitchFamily="34" charset="0"/>
                <a:ea typeface="Arial Nova Light" pitchFamily="34" charset="-122"/>
                <a:cs typeface="Arial Nova Light" pitchFamily="34" charset="-120"/>
              </a:rPr>
              <a:t>Pista LLM o agente: </a:t>
            </a:r>
            <a:pPr indent="0" marL="0">
              <a:spcAft>
                <a:spcPts val="300"/>
              </a:spcAft>
              <a:buNone/>
            </a:pPr>
            <a:r>
              <a:rPr lang="en-US" sz="1100" i="1" dirty="0">
                <a:solidFill>
                  <a:srgbClr val="7F7F7F"/>
                </a:solidFill>
                <a:latin typeface="Arial Nova Light" pitchFamily="34" charset="0"/>
                <a:ea typeface="Arial Nova Light" pitchFamily="34" charset="-122"/>
                <a:cs typeface="Arial Nova Light" pitchFamily="34" charset="-120"/>
              </a:rPr>
              <a:t>Conjunto de prueba separado antes de iterar el prompt; revisar contaminación.</a:t>
            </a:r>
            <a:endParaRPr lang="en-US" sz="1100" dirty="0"/>
          </a:p>
        </p:txBody>
      </p:sp>
      <p:sp>
        <p:nvSpPr>
          <p:cNvPr id="9" name="Text 6"/>
          <p:cNvSpPr/>
          <p:nvPr/>
        </p:nvSpPr>
        <p:spPr>
          <a:xfrm>
            <a:off x="850392" y="3685032"/>
            <a:ext cx="3125114" cy="2468880"/>
          </a:xfrm>
          <a:prstGeom prst="rect">
            <a:avLst/>
          </a:prstGeom>
          <a:noFill/>
          <a:ln/>
        </p:spPr>
        <p:txBody>
          <a:bodyPr wrap="square" lIns="0" tIns="0" rIns="0" bIns="0" rtlCol="0" anchor="t"/>
          <a:lstStyle/>
          <a:p>
            <a:pPr indent="0" marL="0">
              <a:buNone/>
            </a:pPr>
            <a:r>
              <a:rPr lang="en-US" sz="1300" dirty="0">
                <a:solidFill>
                  <a:srgbClr val="A6A6A6"/>
                </a:solidFill>
                <a:latin typeface="Arial Nova Light" pitchFamily="34" charset="0"/>
                <a:ea typeface="Arial Nova Light" pitchFamily="34" charset="-122"/>
                <a:cs typeface="Arial Nova Light" pitchFamily="34" charset="-120"/>
              </a:rPr>
              <a:t>[Respuesta del equipo]</a:t>
            </a:r>
            <a:endParaRPr lang="en-US" sz="1300" dirty="0"/>
          </a:p>
        </p:txBody>
      </p:sp>
      <p:sp>
        <p:nvSpPr>
          <p:cNvPr id="10" name="Shape 7"/>
          <p:cNvSpPr/>
          <p:nvPr/>
        </p:nvSpPr>
        <p:spPr>
          <a:xfrm>
            <a:off x="4368698" y="1920240"/>
            <a:ext cx="3454298" cy="4343400"/>
          </a:xfrm>
          <a:prstGeom prst="rect">
            <a:avLst/>
          </a:prstGeom>
          <a:solidFill>
            <a:srgbClr val="FFFFFF"/>
          </a:solidFill>
          <a:ln w="12700">
            <a:solidFill>
              <a:srgbClr val="BFBFBF"/>
            </a:solidFill>
            <a:prstDash val="solid"/>
          </a:ln>
        </p:spPr>
      </p:sp>
      <p:sp>
        <p:nvSpPr>
          <p:cNvPr id="11" name="Text 8"/>
          <p:cNvSpPr/>
          <p:nvPr/>
        </p:nvSpPr>
        <p:spPr>
          <a:xfrm>
            <a:off x="4533290" y="2029968"/>
            <a:ext cx="3125114" cy="329184"/>
          </a:xfrm>
          <a:prstGeom prst="rect">
            <a:avLst/>
          </a:prstGeom>
          <a:noFill/>
          <a:ln/>
        </p:spPr>
        <p:txBody>
          <a:bodyPr wrap="square" lIns="0" tIns="0" rIns="0" bIns="0" rtlCol="0" anchor="t"/>
          <a:lstStyle/>
          <a:p>
            <a:pPr indent="0" marL="0">
              <a:buNone/>
            </a:pPr>
            <a:r>
              <a:rPr lang="en-US" sz="1500" b="1" dirty="0">
                <a:solidFill>
                  <a:srgbClr val="4E4B4C"/>
                </a:solidFill>
                <a:latin typeface="Arial Nova" pitchFamily="34" charset="0"/>
                <a:ea typeface="Arial Nova" pitchFamily="34" charset="-122"/>
                <a:cs typeface="Arial Nova" pitchFamily="34" charset="-120"/>
              </a:rPr>
              <a:t>5 · Un rango y dónde falla</a:t>
            </a:r>
            <a:endParaRPr lang="en-US" sz="1500" dirty="0"/>
          </a:p>
        </p:txBody>
      </p:sp>
      <p:sp>
        <p:nvSpPr>
          <p:cNvPr id="12" name="Text 9"/>
          <p:cNvSpPr/>
          <p:nvPr/>
        </p:nvSpPr>
        <p:spPr>
          <a:xfrm>
            <a:off x="4533290" y="2377440"/>
            <a:ext cx="3125114" cy="1234440"/>
          </a:xfrm>
          <a:prstGeom prst="rect">
            <a:avLst/>
          </a:prstGeom>
          <a:noFill/>
          <a:ln/>
        </p:spPr>
        <p:txBody>
          <a:bodyPr wrap="square" lIns="0" tIns="0" rIns="0" bIns="0" rtlCol="0" anchor="t"/>
          <a:lstStyle/>
          <a:p>
            <a:pPr indent="0" marL="0">
              <a:spcAft>
                <a:spcPts val="300"/>
              </a:spcAft>
              <a:buNone/>
            </a:pPr>
            <a:r>
              <a:rPr lang="en-US" sz="1100" b="1" i="1" dirty="0">
                <a:solidFill>
                  <a:srgbClr val="7F7F7F"/>
                </a:solidFill>
                <a:latin typeface="Arial Nova Light" pitchFamily="34" charset="0"/>
                <a:ea typeface="Arial Nova Light" pitchFamily="34" charset="-122"/>
                <a:cs typeface="Arial Nova Light" pitchFamily="34" charset="-120"/>
              </a:rPr>
              <a:t>Pista ML: </a:t>
            </a:r>
            <a:pPr indent="0" marL="0">
              <a:spcAft>
                <a:spcPts val="300"/>
              </a:spcAft>
              <a:buNone/>
            </a:pPr>
            <a:r>
              <a:rPr lang="en-US" sz="1100" i="1" dirty="0">
                <a:solidFill>
                  <a:srgbClr val="7F7F7F"/>
                </a:solidFill>
                <a:latin typeface="Arial Nova Light" pitchFamily="34" charset="0"/>
                <a:ea typeface="Arial Nova Light" pitchFamily="34" charset="-122"/>
                <a:cs typeface="Arial Nova Light" pitchFamily="34" charset="-120"/>
              </a:rPr>
              <a:t>Cómo calcularán el rango (p. ej., bootstrap) y 2 o 3 segmentos para el análisis de error.</a:t>
            </a:r>
            <a:endParaRPr lang="en-US" sz="1100" dirty="0"/>
          </a:p>
          <a:p>
            <a:pPr indent="0" marL="0">
              <a:spcAft>
                <a:spcPts val="300"/>
              </a:spcAft>
              <a:buNone/>
            </a:pPr>
            <a:r>
              <a:rPr lang="en-US" sz="1100" b="1" i="1" dirty="0">
                <a:solidFill>
                  <a:srgbClr val="7F7F7F"/>
                </a:solidFill>
                <a:latin typeface="Arial Nova Light" pitchFamily="34" charset="0"/>
                <a:ea typeface="Arial Nova Light" pitchFamily="34" charset="-122"/>
                <a:cs typeface="Arial Nova Light" pitchFamily="34" charset="-120"/>
              </a:rPr>
              <a:t>Pista LLM o agente: </a:t>
            </a:r>
            <a:pPr indent="0" marL="0">
              <a:spcAft>
                <a:spcPts val="300"/>
              </a:spcAft>
              <a:buNone/>
            </a:pPr>
            <a:r>
              <a:rPr lang="en-US" sz="1100" i="1" dirty="0">
                <a:solidFill>
                  <a:srgbClr val="7F7F7F"/>
                </a:solidFill>
                <a:latin typeface="Arial Nova Light" pitchFamily="34" charset="0"/>
                <a:ea typeface="Arial Nova Light" pitchFamily="34" charset="-122"/>
                <a:cs typeface="Arial Nova Light" pitchFamily="34" charset="-120"/>
              </a:rPr>
              <a:t>Varias corridas por caso; error por tipo de caso; en agentes, revisar los pasos.</a:t>
            </a:r>
            <a:endParaRPr lang="en-US" sz="1100" dirty="0"/>
          </a:p>
        </p:txBody>
      </p:sp>
      <p:sp>
        <p:nvSpPr>
          <p:cNvPr id="13" name="Text 10"/>
          <p:cNvSpPr/>
          <p:nvPr/>
        </p:nvSpPr>
        <p:spPr>
          <a:xfrm>
            <a:off x="4533290" y="3685032"/>
            <a:ext cx="3125114" cy="2468880"/>
          </a:xfrm>
          <a:prstGeom prst="rect">
            <a:avLst/>
          </a:prstGeom>
          <a:noFill/>
          <a:ln/>
        </p:spPr>
        <p:txBody>
          <a:bodyPr wrap="square" lIns="0" tIns="0" rIns="0" bIns="0" rtlCol="0" anchor="t"/>
          <a:lstStyle/>
          <a:p>
            <a:pPr indent="0" marL="0">
              <a:buNone/>
            </a:pPr>
            <a:r>
              <a:rPr lang="en-US" sz="1300" dirty="0">
                <a:solidFill>
                  <a:srgbClr val="A6A6A6"/>
                </a:solidFill>
                <a:latin typeface="Arial Nova Light" pitchFamily="34" charset="0"/>
                <a:ea typeface="Arial Nova Light" pitchFamily="34" charset="-122"/>
                <a:cs typeface="Arial Nova Light" pitchFamily="34" charset="-120"/>
              </a:rPr>
              <a:t>[Respuesta del equipo]</a:t>
            </a:r>
            <a:endParaRPr lang="en-US" sz="1300" dirty="0"/>
          </a:p>
        </p:txBody>
      </p:sp>
      <p:sp>
        <p:nvSpPr>
          <p:cNvPr id="14" name="Shape 11"/>
          <p:cNvSpPr/>
          <p:nvPr/>
        </p:nvSpPr>
        <p:spPr>
          <a:xfrm>
            <a:off x="8051597" y="1920240"/>
            <a:ext cx="3454298" cy="4343400"/>
          </a:xfrm>
          <a:prstGeom prst="rect">
            <a:avLst/>
          </a:prstGeom>
          <a:solidFill>
            <a:srgbClr val="FFFFFF"/>
          </a:solidFill>
          <a:ln w="12700">
            <a:solidFill>
              <a:srgbClr val="BFBFBF"/>
            </a:solidFill>
            <a:prstDash val="solid"/>
          </a:ln>
        </p:spPr>
      </p:sp>
      <p:sp>
        <p:nvSpPr>
          <p:cNvPr id="15" name="Text 12"/>
          <p:cNvSpPr/>
          <p:nvPr/>
        </p:nvSpPr>
        <p:spPr>
          <a:xfrm>
            <a:off x="8216189" y="2029968"/>
            <a:ext cx="3125114" cy="329184"/>
          </a:xfrm>
          <a:prstGeom prst="rect">
            <a:avLst/>
          </a:prstGeom>
          <a:noFill/>
          <a:ln/>
        </p:spPr>
        <p:txBody>
          <a:bodyPr wrap="square" lIns="0" tIns="0" rIns="0" bIns="0" rtlCol="0" anchor="t"/>
          <a:lstStyle/>
          <a:p>
            <a:pPr indent="0" marL="0">
              <a:buNone/>
            </a:pPr>
            <a:r>
              <a:rPr lang="en-US" sz="1500" b="1" dirty="0">
                <a:solidFill>
                  <a:srgbClr val="4E4B4C"/>
                </a:solidFill>
                <a:latin typeface="Arial Nova" pitchFamily="34" charset="0"/>
                <a:ea typeface="Arial Nova" pitchFamily="34" charset="-122"/>
                <a:cs typeface="Arial Nova" pitchFamily="34" charset="-120"/>
              </a:rPr>
              <a:t>6 · Criterio de decisión</a:t>
            </a:r>
            <a:endParaRPr lang="en-US" sz="1500" dirty="0"/>
          </a:p>
        </p:txBody>
      </p:sp>
      <p:sp>
        <p:nvSpPr>
          <p:cNvPr id="16" name="Text 13"/>
          <p:cNvSpPr/>
          <p:nvPr/>
        </p:nvSpPr>
        <p:spPr>
          <a:xfrm>
            <a:off x="8216189" y="2377440"/>
            <a:ext cx="3125114" cy="1234440"/>
          </a:xfrm>
          <a:prstGeom prst="rect">
            <a:avLst/>
          </a:prstGeom>
          <a:noFill/>
          <a:ln/>
        </p:spPr>
        <p:txBody>
          <a:bodyPr wrap="square" lIns="0" tIns="0" rIns="0" bIns="0" rtlCol="0" anchor="t"/>
          <a:lstStyle/>
          <a:p>
            <a:pPr indent="0" marL="0">
              <a:spcAft>
                <a:spcPts val="300"/>
              </a:spcAft>
              <a:buNone/>
            </a:pPr>
            <a:r>
              <a:rPr lang="en-US" sz="1100" b="1" i="1" dirty="0">
                <a:solidFill>
                  <a:srgbClr val="7F7F7F"/>
                </a:solidFill>
                <a:latin typeface="Arial Nova Light" pitchFamily="34" charset="0"/>
                <a:ea typeface="Arial Nova Light" pitchFamily="34" charset="-122"/>
                <a:cs typeface="Arial Nova Light" pitchFamily="34" charset="-120"/>
              </a:rPr>
              <a:t>Pista ML: </a:t>
            </a:r>
            <a:pPr indent="0" marL="0">
              <a:spcAft>
                <a:spcPts val="300"/>
              </a:spcAft>
              <a:buNone/>
            </a:pPr>
            <a:r>
              <a:rPr lang="en-US" sz="1100" i="1" dirty="0">
                <a:solidFill>
                  <a:srgbClr val="7F7F7F"/>
                </a:solidFill>
                <a:latin typeface="Arial Nova Light" pitchFamily="34" charset="0"/>
                <a:ea typeface="Arial Nova Light" pitchFamily="34" charset="-122"/>
                <a:cs typeface="Arial Nova Light" pitchFamily="34" charset="-120"/>
              </a:rPr>
              <a:t>Qué resultado los haría cambiar el plan antes del 21 de noviembre.</a:t>
            </a:r>
            <a:endParaRPr lang="en-US" sz="1100" dirty="0"/>
          </a:p>
          <a:p>
            <a:pPr indent="0" marL="0">
              <a:spcAft>
                <a:spcPts val="300"/>
              </a:spcAft>
              <a:buNone/>
            </a:pPr>
            <a:r>
              <a:rPr lang="en-US" sz="1100" b="1" i="1" dirty="0">
                <a:solidFill>
                  <a:srgbClr val="7F7F7F"/>
                </a:solidFill>
                <a:latin typeface="Arial Nova Light" pitchFamily="34" charset="0"/>
                <a:ea typeface="Arial Nova Light" pitchFamily="34" charset="-122"/>
                <a:cs typeface="Arial Nova Light" pitchFamily="34" charset="-120"/>
              </a:rPr>
              <a:t>Pista LLM o agente: </a:t>
            </a:r>
            <a:pPr indent="0" marL="0">
              <a:spcAft>
                <a:spcPts val="300"/>
              </a:spcAft>
              <a:buNone/>
            </a:pPr>
            <a:r>
              <a:rPr lang="en-US" sz="1100" i="1" dirty="0">
                <a:solidFill>
                  <a:srgbClr val="7F7F7F"/>
                </a:solidFill>
                <a:latin typeface="Arial Nova Light" pitchFamily="34" charset="0"/>
                <a:ea typeface="Arial Nova Light" pitchFamily="34" charset="-122"/>
                <a:cs typeface="Arial Nova Light" pitchFamily="34" charset="-120"/>
              </a:rPr>
              <a:t>Qué costo o latencia por caso haría inviable la solución.</a:t>
            </a:r>
            <a:endParaRPr lang="en-US" sz="1100" dirty="0"/>
          </a:p>
        </p:txBody>
      </p:sp>
      <p:sp>
        <p:nvSpPr>
          <p:cNvPr id="17" name="Text 14"/>
          <p:cNvSpPr/>
          <p:nvPr/>
        </p:nvSpPr>
        <p:spPr>
          <a:xfrm>
            <a:off x="8216189" y="3685032"/>
            <a:ext cx="3125114" cy="2468880"/>
          </a:xfrm>
          <a:prstGeom prst="rect">
            <a:avLst/>
          </a:prstGeom>
          <a:noFill/>
          <a:ln/>
        </p:spPr>
        <p:txBody>
          <a:bodyPr wrap="square" lIns="0" tIns="0" rIns="0" bIns="0" rtlCol="0" anchor="t"/>
          <a:lstStyle/>
          <a:p>
            <a:pPr indent="0" marL="0">
              <a:buNone/>
            </a:pPr>
            <a:r>
              <a:rPr lang="en-US" sz="1300" dirty="0">
                <a:solidFill>
                  <a:srgbClr val="A6A6A6"/>
                </a:solidFill>
                <a:latin typeface="Arial Nova Light" pitchFamily="34" charset="0"/>
                <a:ea typeface="Arial Nova Light" pitchFamily="34" charset="-122"/>
                <a:cs typeface="Arial Nova Light" pitchFamily="34" charset="-120"/>
              </a:rPr>
              <a:t>[Respuesta del equipo]</a:t>
            </a:r>
            <a:endParaRPr lang="en-US" sz="1300" dirty="0"/>
          </a:p>
        </p:txBody>
      </p:sp>
      <p:sp>
        <p:nvSpPr>
          <p:cNvPr id="18" name="Text 15"/>
          <p:cNvSpPr/>
          <p:nvPr/>
        </p:nvSpPr>
        <p:spPr>
          <a:xfrm>
            <a:off x="8762695" y="6400800"/>
            <a:ext cx="2743200" cy="274320"/>
          </a:xfrm>
          <a:prstGeom prst="rect">
            <a:avLst/>
          </a:prstGeom>
          <a:noFill/>
          <a:ln/>
        </p:spPr>
        <p:txBody>
          <a:bodyPr wrap="square" lIns="0" tIns="0" rIns="0" bIns="0" rtlCol="0" anchor="ctr"/>
          <a:lstStyle/>
          <a:p>
            <a:pPr algn="r" indent="0" marL="0">
              <a:buNone/>
            </a:pPr>
            <a:r>
              <a:rPr lang="en-US" sz="1000" dirty="0">
                <a:solidFill>
                  <a:srgbClr val="666666"/>
                </a:solidFill>
                <a:latin typeface="Arial Nova Light" pitchFamily="34" charset="0"/>
                <a:ea typeface="Arial Nova Light" pitchFamily="34" charset="-122"/>
                <a:cs typeface="Arial Nova Light" pitchFamily="34" charset="-120"/>
              </a:rPr>
              <a:t>E5 · Equipo N.º ____</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4E4E4"/>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48640" y="384048"/>
            <a:ext cx="2194560" cy="429768"/>
          </a:xfrm>
          <a:prstGeom prst="rect">
            <a:avLst/>
          </a:prstGeom>
        </p:spPr>
      </p:pic>
      <p:sp>
        <p:nvSpPr>
          <p:cNvPr id="3" name="Text 0"/>
          <p:cNvSpPr/>
          <p:nvPr/>
        </p:nvSpPr>
        <p:spPr>
          <a:xfrm>
            <a:off x="685800" y="1097280"/>
            <a:ext cx="10820095" cy="685800"/>
          </a:xfrm>
          <a:prstGeom prst="rect">
            <a:avLst/>
          </a:prstGeom>
          <a:noFill/>
          <a:ln/>
        </p:spPr>
        <p:txBody>
          <a:bodyPr wrap="square" lIns="0" tIns="0" rIns="0" bIns="0" rtlCol="0" anchor="t"/>
          <a:lstStyle/>
          <a:p>
            <a:pPr indent="0" marL="0">
              <a:buNone/>
            </a:pPr>
            <a:r>
              <a:rPr lang="en-US" sz="3000" b="1" dirty="0">
                <a:solidFill>
                  <a:srgbClr val="4E4B4C"/>
                </a:solidFill>
                <a:latin typeface="Arial Nova" pitchFamily="34" charset="0"/>
                <a:ea typeface="Arial Nova" pitchFamily="34" charset="-122"/>
                <a:cs typeface="Arial Nova" pitchFamily="34" charset="-120"/>
              </a:rPr>
              <a:t>Baseline contra modelo v0</a:t>
            </a:r>
            <a:endParaRPr lang="en-US" sz="3000" dirty="0"/>
          </a:p>
        </p:txBody>
      </p:sp>
      <p:sp>
        <p:nvSpPr>
          <p:cNvPr id="4" name="Text 1"/>
          <p:cNvSpPr/>
          <p:nvPr/>
        </p:nvSpPr>
        <p:spPr>
          <a:xfrm>
            <a:off x="685800" y="1783080"/>
            <a:ext cx="10820095" cy="457200"/>
          </a:xfrm>
          <a:prstGeom prst="rect">
            <a:avLst/>
          </a:prstGeom>
          <a:noFill/>
          <a:ln/>
        </p:spPr>
        <p:txBody>
          <a:bodyPr wrap="square" lIns="0" tIns="0" rIns="0" bIns="0" rtlCol="0" anchor="t"/>
          <a:lstStyle/>
          <a:p>
            <a:pPr indent="0" marL="0">
              <a:buNone/>
            </a:pPr>
            <a:r>
              <a:rPr lang="en-US" sz="1600" dirty="0">
                <a:solidFill>
                  <a:srgbClr val="666666"/>
                </a:solidFill>
                <a:latin typeface="Arial Nova Light" pitchFamily="34" charset="0"/>
                <a:ea typeface="Arial Nova Light" pitchFamily="34" charset="-122"/>
                <a:cs typeface="Arial Nova Light" pitchFamily="34" charset="-120"/>
              </a:rPr>
              <a:t>Una fila por opción. La métrica principal es la misma del plan, medida en el conjunto de prueba</a:t>
            </a:r>
            <a:endParaRPr lang="en-US" sz="1600" dirty="0"/>
          </a:p>
        </p:txBody>
      </p:sp>
      <p:sp>
        <p:nvSpPr>
          <p:cNvPr id="5" name="Shape 2"/>
          <p:cNvSpPr/>
          <p:nvPr/>
        </p:nvSpPr>
        <p:spPr>
          <a:xfrm>
            <a:off x="6751015" y="457200"/>
            <a:ext cx="4754880" cy="347472"/>
          </a:xfrm>
          <a:prstGeom prst="rect">
            <a:avLst/>
          </a:prstGeom>
          <a:solidFill>
            <a:srgbClr val="00E1FF"/>
          </a:solidFill>
          <a:ln w="12700">
            <a:solidFill>
              <a:srgbClr val="333333"/>
            </a:solidFill>
            <a:prstDash val="solid"/>
          </a:ln>
        </p:spPr>
      </p:sp>
      <p:sp>
        <p:nvSpPr>
          <p:cNvPr id="6" name="Text 3"/>
          <p:cNvSpPr/>
          <p:nvPr/>
        </p:nvSpPr>
        <p:spPr>
          <a:xfrm>
            <a:off x="6751015" y="457200"/>
            <a:ext cx="4754880" cy="347472"/>
          </a:xfrm>
          <a:prstGeom prst="rect">
            <a:avLst/>
          </a:prstGeom>
          <a:noFill/>
          <a:ln/>
        </p:spPr>
        <p:txBody>
          <a:bodyPr wrap="none" lIns="0" tIns="0" rIns="0" bIns="0" rtlCol="0" anchor="ctr"/>
          <a:lstStyle/>
          <a:p>
            <a:pPr algn="ctr" indent="0" marL="0">
              <a:buNone/>
            </a:pPr>
            <a:r>
              <a:rPr lang="en-US" sz="1100" b="1" dirty="0">
                <a:solidFill>
                  <a:srgbClr val="000000"/>
                </a:solidFill>
                <a:latin typeface="Arial Nova" pitchFamily="34" charset="0"/>
                <a:ea typeface="Arial Nova" pitchFamily="34" charset="-122"/>
                <a:cs typeface="Arial Nova" pitchFamily="34" charset="-120"/>
              </a:rPr>
              <a:t>SECCIÓN 2 · BASELINE CONTRA MODELO V0</a:t>
            </a:r>
            <a:endParaRPr lang="en-US" sz="11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85800" y="2377440"/>
          <a:ext cx="10820095" cy="914400"/>
        </p:xfrm>
        <a:graphic>
          <a:graphicData uri="http://schemas.openxmlformats.org/drawingml/2006/table">
            <a:tbl>
              <a:tblPr/>
              <a:tblGrid>
                <a:gridCol w="2743200"/>
                <a:gridCol w="2331720"/>
                <a:gridCol w="2148840"/>
                <a:gridCol w="2011680"/>
                <a:gridCol w="1584655"/>
              </a:tblGrid>
              <a:tr h="548640">
                <a:tc>
                  <a:txBody>
                    <a:bodyPr/>
                    <a:lstStyle/>
                    <a:p>
                      <a:pPr algn="ctr" indent="0" marL="0">
                        <a:buNone/>
                      </a:pPr>
                      <a:r>
                        <a:rPr lang="en-US" sz="1200" b="1" dirty="0">
                          <a:solidFill>
                            <a:srgbClr val="000000"/>
                          </a:solidFill>
                          <a:latin typeface="Arial Nova" pitchFamily="34" charset="0"/>
                          <a:ea typeface="Arial Nova" pitchFamily="34" charset="-122"/>
                          <a:cs typeface="Arial Nova" pitchFamily="34" charset="-120"/>
                        </a:rPr>
                        <a:t>Opción</a:t>
                      </a:r>
                      <a:endParaRPr lang="en-US" sz="1200" dirty="0">
                        <a:latin typeface="Arial Nova" charset="0"/>
                        <a:ea typeface="Arial Nova" charset="0"/>
                        <a:cs typeface="Arial Nova" charset="0"/>
                      </a:endParaRPr>
                    </a:p>
                  </a:txBody>
                  <a:tcPr marL="64008" marR="64008" marT="64008" marB="64008"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00E1FF"/>
                    </a:solidFill>
                  </a:tcPr>
                </a:tc>
                <a:tc>
                  <a:txBody>
                    <a:bodyPr/>
                    <a:lstStyle/>
                    <a:p>
                      <a:pPr algn="ctr" indent="0" marL="0">
                        <a:buNone/>
                      </a:pPr>
                      <a:r>
                        <a:rPr lang="en-US" sz="1200" b="1" dirty="0">
                          <a:solidFill>
                            <a:srgbClr val="000000"/>
                          </a:solidFill>
                          <a:latin typeface="Arial Nova" pitchFamily="34" charset="0"/>
                          <a:ea typeface="Arial Nova" pitchFamily="34" charset="-122"/>
                          <a:cs typeface="Arial Nova" pitchFamily="34" charset="-120"/>
                        </a:rPr>
                        <a:t>Métrica principal: ______ (con rango)</a:t>
                      </a:r>
                      <a:endParaRPr lang="en-US" sz="1200" dirty="0">
                        <a:latin typeface="Arial Nova" charset="0"/>
                        <a:ea typeface="Arial Nova" charset="0"/>
                        <a:cs typeface="Arial Nova" charset="0"/>
                      </a:endParaRPr>
                    </a:p>
                  </a:txBody>
                  <a:tcPr marL="64008" marR="64008" marT="64008" marB="64008"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00E1FF"/>
                    </a:solidFill>
                  </a:tcPr>
                </a:tc>
                <a:tc>
                  <a:txBody>
                    <a:bodyPr/>
                    <a:lstStyle/>
                    <a:p>
                      <a:pPr algn="ctr" indent="0" marL="0">
                        <a:buNone/>
                      </a:pPr>
                      <a:r>
                        <a:rPr lang="en-US" sz="1200" b="1" dirty="0">
                          <a:solidFill>
                            <a:srgbClr val="000000"/>
                          </a:solidFill>
                          <a:latin typeface="Arial Nova" pitchFamily="34" charset="0"/>
                          <a:ea typeface="Arial Nova" pitchFamily="34" charset="-122"/>
                          <a:cs typeface="Arial Nova" pitchFamily="34" charset="-120"/>
                        </a:rPr>
                        <a:t>Métrica de contrapeso: ______</a:t>
                      </a:r>
                      <a:endParaRPr lang="en-US" sz="1200" dirty="0">
                        <a:latin typeface="Arial Nova" charset="0"/>
                        <a:ea typeface="Arial Nova" charset="0"/>
                        <a:cs typeface="Arial Nova" charset="0"/>
                      </a:endParaRPr>
                    </a:p>
                  </a:txBody>
                  <a:tcPr marL="64008" marR="64008" marT="64008" marB="64008"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00E1FF"/>
                    </a:solidFill>
                  </a:tcPr>
                </a:tc>
                <a:tc>
                  <a:txBody>
                    <a:bodyPr/>
                    <a:lstStyle/>
                    <a:p>
                      <a:pPr algn="ctr" indent="0" marL="0">
                        <a:buNone/>
                      </a:pPr>
                      <a:r>
                        <a:rPr lang="en-US" sz="1200" b="1" dirty="0">
                          <a:solidFill>
                            <a:srgbClr val="000000"/>
                          </a:solidFill>
                          <a:latin typeface="Arial Nova" pitchFamily="34" charset="0"/>
                          <a:ea typeface="Arial Nova" pitchFamily="34" charset="-122"/>
                          <a:cs typeface="Arial Nova" pitchFamily="34" charset="-120"/>
                        </a:rPr>
                        <a:t>Costo y latencia por caso*</a:t>
                      </a:r>
                      <a:endParaRPr lang="en-US" sz="1200" dirty="0">
                        <a:latin typeface="Arial Nova" charset="0"/>
                        <a:ea typeface="Arial Nova" charset="0"/>
                        <a:cs typeface="Arial Nova" charset="0"/>
                      </a:endParaRPr>
                    </a:p>
                  </a:txBody>
                  <a:tcPr marL="64008" marR="64008" marT="64008" marB="64008"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00E1FF"/>
                    </a:solidFill>
                  </a:tcPr>
                </a:tc>
                <a:tc>
                  <a:txBody>
                    <a:bodyPr/>
                    <a:lstStyle/>
                    <a:p>
                      <a:pPr algn="ctr" indent="0" marL="0">
                        <a:buNone/>
                      </a:pPr>
                      <a:r>
                        <a:rPr lang="en-US" sz="1200" b="1" dirty="0">
                          <a:solidFill>
                            <a:srgbClr val="000000"/>
                          </a:solidFill>
                          <a:latin typeface="Arial Nova" pitchFamily="34" charset="0"/>
                          <a:ea typeface="Arial Nova" pitchFamily="34" charset="-122"/>
                          <a:cs typeface="Arial Nova" pitchFamily="34" charset="-120"/>
                        </a:rPr>
                        <a:t>N.º de casos de prueba</a:t>
                      </a:r>
                      <a:endParaRPr lang="en-US" sz="1200" dirty="0">
                        <a:latin typeface="Arial Nova" charset="0"/>
                        <a:ea typeface="Arial Nova" charset="0"/>
                        <a:cs typeface="Arial Nova" charset="0"/>
                      </a:endParaRPr>
                    </a:p>
                  </a:txBody>
                  <a:tcPr marL="64008" marR="64008" marT="64008" marB="64008"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00E1FF"/>
                    </a:solidFill>
                  </a:tcPr>
                </a:tc>
              </a:tr>
              <a:tr h="457200">
                <a:tc>
                  <a:txBody>
                    <a:bodyPr/>
                    <a:lstStyle/>
                    <a:p>
                      <a:pPr indent="0" marL="0">
                        <a:buNone/>
                      </a:pPr>
                      <a:r>
                        <a:rPr lang="en-US" sz="1200" b="1" dirty="0">
                          <a:solidFill>
                            <a:srgbClr val="4E4B4C"/>
                          </a:solidFill>
                          <a:latin typeface="Arial Nova" pitchFamily="34" charset="0"/>
                          <a:ea typeface="Arial Nova" pitchFamily="34" charset="-122"/>
                          <a:cs typeface="Arial Nova" pitchFamily="34" charset="-120"/>
                        </a:rPr>
                        <a:t>No hacer nada</a:t>
                      </a:r>
                      <a:endParaRPr lang="en-US" sz="1200" dirty="0">
                        <a:latin typeface="Arial Nova" charset="0"/>
                        <a:ea typeface="Arial Nova" charset="0"/>
                        <a:cs typeface="Arial Nova" charset="0"/>
                      </a:endParaRPr>
                    </a:p>
                  </a:txBody>
                  <a:tcPr marL="64008" marR="64008" marT="64008" marB="64008"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indent="0" marL="0">
                        <a:buNone/>
                      </a:pPr>
                      <a:endParaRPr lang="en-US" sz="1200" dirty="0">
                        <a:latin typeface="Arial Nova Light" charset="0"/>
                        <a:ea typeface="Arial Nova Light" charset="0"/>
                        <a:cs typeface="Arial Nova Light" charset="0"/>
                      </a:endParaRPr>
                    </a:p>
                  </a:txBody>
                  <a:tcPr marL="64008" marR="64008" marT="64008" marB="64008"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indent="0" marL="0">
                        <a:buNone/>
                      </a:pPr>
                      <a:endParaRPr lang="en-US" sz="1200" dirty="0">
                        <a:latin typeface="Arial Nova Light" charset="0"/>
                        <a:ea typeface="Arial Nova Light" charset="0"/>
                        <a:cs typeface="Arial Nova Light" charset="0"/>
                      </a:endParaRPr>
                    </a:p>
                  </a:txBody>
                  <a:tcPr marL="64008" marR="64008" marT="64008" marB="64008"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indent="0" marL="0">
                        <a:buNone/>
                      </a:pPr>
                      <a:endParaRPr lang="en-US" sz="1200" dirty="0">
                        <a:latin typeface="Arial Nova Light" charset="0"/>
                        <a:ea typeface="Arial Nova Light" charset="0"/>
                        <a:cs typeface="Arial Nova Light" charset="0"/>
                      </a:endParaRPr>
                    </a:p>
                  </a:txBody>
                  <a:tcPr marL="64008" marR="64008" marT="64008" marB="64008"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indent="0" marL="0">
                        <a:buNone/>
                      </a:pPr>
                      <a:endParaRPr lang="en-US" sz="1200" dirty="0">
                        <a:latin typeface="Arial Nova Light" charset="0"/>
                        <a:ea typeface="Arial Nova Light" charset="0"/>
                        <a:cs typeface="Arial Nova Light" charset="0"/>
                      </a:endParaRPr>
                    </a:p>
                  </a:txBody>
                  <a:tcPr marL="64008" marR="64008" marT="64008" marB="64008"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rgbClr val="4E4B4C"/>
                          </a:solidFill>
                          <a:latin typeface="Arial Nova" pitchFamily="34" charset="0"/>
                          <a:ea typeface="Arial Nova" pitchFamily="34" charset="-122"/>
                          <a:cs typeface="Arial Nova" pitchFamily="34" charset="-120"/>
                        </a:rPr>
                        <a:t>Lo que se hace hoy</a:t>
                      </a:r>
                      <a:endParaRPr lang="en-US" sz="1200" dirty="0">
                        <a:latin typeface="Arial Nova" charset="0"/>
                        <a:ea typeface="Arial Nova" charset="0"/>
                        <a:cs typeface="Arial Nova" charset="0"/>
                      </a:endParaRPr>
                    </a:p>
                  </a:txBody>
                  <a:tcPr marL="64008" marR="64008" marT="64008" marB="64008"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indent="0" marL="0">
                        <a:buNone/>
                      </a:pPr>
                      <a:endParaRPr lang="en-US" sz="1200" dirty="0">
                        <a:latin typeface="Arial Nova Light" charset="0"/>
                        <a:ea typeface="Arial Nova Light" charset="0"/>
                        <a:cs typeface="Arial Nova Light" charset="0"/>
                      </a:endParaRPr>
                    </a:p>
                  </a:txBody>
                  <a:tcPr marL="64008" marR="64008" marT="64008" marB="64008"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indent="0" marL="0">
                        <a:buNone/>
                      </a:pPr>
                      <a:endParaRPr lang="en-US" sz="1200" dirty="0">
                        <a:latin typeface="Arial Nova Light" charset="0"/>
                        <a:ea typeface="Arial Nova Light" charset="0"/>
                        <a:cs typeface="Arial Nova Light" charset="0"/>
                      </a:endParaRPr>
                    </a:p>
                  </a:txBody>
                  <a:tcPr marL="64008" marR="64008" marT="64008" marB="64008"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indent="0" marL="0">
                        <a:buNone/>
                      </a:pPr>
                      <a:endParaRPr lang="en-US" sz="1200" dirty="0">
                        <a:latin typeface="Arial Nova Light" charset="0"/>
                        <a:ea typeface="Arial Nova Light" charset="0"/>
                        <a:cs typeface="Arial Nova Light" charset="0"/>
                      </a:endParaRPr>
                    </a:p>
                  </a:txBody>
                  <a:tcPr marL="64008" marR="64008" marT="64008" marB="64008"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indent="0" marL="0">
                        <a:buNone/>
                      </a:pPr>
                      <a:endParaRPr lang="en-US" sz="1200" dirty="0">
                        <a:latin typeface="Arial Nova Light" charset="0"/>
                        <a:ea typeface="Arial Nova Light" charset="0"/>
                        <a:cs typeface="Arial Nova Light" charset="0"/>
                      </a:endParaRPr>
                    </a:p>
                  </a:txBody>
                  <a:tcPr marL="64008" marR="64008" marT="64008" marB="64008"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rgbClr val="4E4B4C"/>
                          </a:solidFill>
                          <a:latin typeface="Arial Nova" pitchFamily="34" charset="0"/>
                          <a:ea typeface="Arial Nova" pitchFamily="34" charset="-122"/>
                          <a:cs typeface="Arial Nova" pitchFamily="34" charset="-120"/>
                        </a:rPr>
                        <a:t>Modelo simple</a:t>
                      </a:r>
                      <a:endParaRPr lang="en-US" sz="1200" dirty="0">
                        <a:latin typeface="Arial Nova" charset="0"/>
                        <a:ea typeface="Arial Nova" charset="0"/>
                        <a:cs typeface="Arial Nova" charset="0"/>
                      </a:endParaRPr>
                    </a:p>
                  </a:txBody>
                  <a:tcPr marL="64008" marR="64008" marT="64008" marB="64008"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indent="0" marL="0">
                        <a:buNone/>
                      </a:pPr>
                      <a:endParaRPr lang="en-US" sz="1200" dirty="0">
                        <a:latin typeface="Arial Nova Light" charset="0"/>
                        <a:ea typeface="Arial Nova Light" charset="0"/>
                        <a:cs typeface="Arial Nova Light" charset="0"/>
                      </a:endParaRPr>
                    </a:p>
                  </a:txBody>
                  <a:tcPr marL="64008" marR="64008" marT="64008" marB="64008"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indent="0" marL="0">
                        <a:buNone/>
                      </a:pPr>
                      <a:endParaRPr lang="en-US" sz="1200" dirty="0">
                        <a:latin typeface="Arial Nova Light" charset="0"/>
                        <a:ea typeface="Arial Nova Light" charset="0"/>
                        <a:cs typeface="Arial Nova Light" charset="0"/>
                      </a:endParaRPr>
                    </a:p>
                  </a:txBody>
                  <a:tcPr marL="64008" marR="64008" marT="64008" marB="64008"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indent="0" marL="0">
                        <a:buNone/>
                      </a:pPr>
                      <a:endParaRPr lang="en-US" sz="1200" dirty="0">
                        <a:latin typeface="Arial Nova Light" charset="0"/>
                        <a:ea typeface="Arial Nova Light" charset="0"/>
                        <a:cs typeface="Arial Nova Light" charset="0"/>
                      </a:endParaRPr>
                    </a:p>
                  </a:txBody>
                  <a:tcPr marL="64008" marR="64008" marT="64008" marB="64008"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indent="0" marL="0">
                        <a:buNone/>
                      </a:pPr>
                      <a:endParaRPr lang="en-US" sz="1200" dirty="0">
                        <a:latin typeface="Arial Nova Light" charset="0"/>
                        <a:ea typeface="Arial Nova Light" charset="0"/>
                        <a:cs typeface="Arial Nova Light" charset="0"/>
                      </a:endParaRPr>
                    </a:p>
                  </a:txBody>
                  <a:tcPr marL="64008" marR="64008" marT="64008" marB="64008"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rgbClr val="4E4B4C"/>
                          </a:solidFill>
                          <a:latin typeface="Arial Nova" pitchFamily="34" charset="0"/>
                          <a:ea typeface="Arial Nova" pitchFamily="34" charset="-122"/>
                          <a:cs typeface="Arial Nova" pitchFamily="34" charset="-120"/>
                        </a:rPr>
                        <a:t>Modelo v0</a:t>
                      </a:r>
                      <a:endParaRPr lang="en-US" sz="1200" dirty="0">
                        <a:latin typeface="Arial Nova" charset="0"/>
                        <a:ea typeface="Arial Nova" charset="0"/>
                        <a:cs typeface="Arial Nova" charset="0"/>
                      </a:endParaRPr>
                    </a:p>
                  </a:txBody>
                  <a:tcPr marL="64008" marR="64008" marT="64008" marB="64008"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indent="0" marL="0">
                        <a:buNone/>
                      </a:pPr>
                      <a:endParaRPr lang="en-US" sz="1200" dirty="0">
                        <a:latin typeface="Arial Nova Light" charset="0"/>
                        <a:ea typeface="Arial Nova Light" charset="0"/>
                        <a:cs typeface="Arial Nova Light" charset="0"/>
                      </a:endParaRPr>
                    </a:p>
                  </a:txBody>
                  <a:tcPr marL="64008" marR="64008" marT="64008" marB="64008"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indent="0" marL="0">
                        <a:buNone/>
                      </a:pPr>
                      <a:endParaRPr lang="en-US" sz="1200" dirty="0">
                        <a:latin typeface="Arial Nova Light" charset="0"/>
                        <a:ea typeface="Arial Nova Light" charset="0"/>
                        <a:cs typeface="Arial Nova Light" charset="0"/>
                      </a:endParaRPr>
                    </a:p>
                  </a:txBody>
                  <a:tcPr marL="64008" marR="64008" marT="64008" marB="64008"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indent="0" marL="0">
                        <a:buNone/>
                      </a:pPr>
                      <a:endParaRPr lang="en-US" sz="1200" dirty="0">
                        <a:latin typeface="Arial Nova Light" charset="0"/>
                        <a:ea typeface="Arial Nova Light" charset="0"/>
                        <a:cs typeface="Arial Nova Light" charset="0"/>
                      </a:endParaRPr>
                    </a:p>
                  </a:txBody>
                  <a:tcPr marL="64008" marR="64008" marT="64008" marB="64008"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indent="0" marL="0">
                        <a:buNone/>
                      </a:pPr>
                      <a:endParaRPr lang="en-US" sz="1200" dirty="0">
                        <a:latin typeface="Arial Nova Light" charset="0"/>
                        <a:ea typeface="Arial Nova Light" charset="0"/>
                        <a:cs typeface="Arial Nova Light" charset="0"/>
                      </a:endParaRPr>
                    </a:p>
                  </a:txBody>
                  <a:tcPr marL="64008" marR="64008" marT="64008" marB="64008"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8" name="Shape 4"/>
          <p:cNvSpPr/>
          <p:nvPr/>
        </p:nvSpPr>
        <p:spPr>
          <a:xfrm>
            <a:off x="685800" y="4892040"/>
            <a:ext cx="10820095" cy="1417320"/>
          </a:xfrm>
          <a:prstGeom prst="rect">
            <a:avLst/>
          </a:prstGeom>
          <a:solidFill>
            <a:srgbClr val="FFFFFF"/>
          </a:solidFill>
          <a:ln w="12700">
            <a:solidFill>
              <a:srgbClr val="BFBFBF"/>
            </a:solidFill>
            <a:prstDash val="solid"/>
          </a:ln>
        </p:spPr>
      </p:sp>
      <p:sp>
        <p:nvSpPr>
          <p:cNvPr id="9" name="Text 5"/>
          <p:cNvSpPr/>
          <p:nvPr/>
        </p:nvSpPr>
        <p:spPr>
          <a:xfrm>
            <a:off x="850392" y="5001768"/>
            <a:ext cx="10490911" cy="329184"/>
          </a:xfrm>
          <a:prstGeom prst="rect">
            <a:avLst/>
          </a:prstGeom>
          <a:noFill/>
          <a:ln/>
        </p:spPr>
        <p:txBody>
          <a:bodyPr wrap="square" lIns="0" tIns="0" rIns="0" bIns="0" rtlCol="0" anchor="t"/>
          <a:lstStyle/>
          <a:p>
            <a:pPr indent="0" marL="0">
              <a:buNone/>
            </a:pPr>
            <a:r>
              <a:rPr lang="en-US" sz="1500" b="1" dirty="0">
                <a:solidFill>
                  <a:srgbClr val="4E4B4C"/>
                </a:solidFill>
                <a:latin typeface="Arial Nova" pitchFamily="34" charset="0"/>
                <a:ea typeface="Arial Nova" pitchFamily="34" charset="-122"/>
                <a:cs typeface="Arial Nova" pitchFamily="34" charset="-120"/>
              </a:rPr>
              <a:t>Lectura en tres líneas</a:t>
            </a:r>
            <a:endParaRPr lang="en-US" sz="1500" dirty="0"/>
          </a:p>
        </p:txBody>
      </p:sp>
      <p:sp>
        <p:nvSpPr>
          <p:cNvPr id="10" name="Text 6"/>
          <p:cNvSpPr/>
          <p:nvPr/>
        </p:nvSpPr>
        <p:spPr>
          <a:xfrm>
            <a:off x="850392" y="5349240"/>
            <a:ext cx="10490911" cy="384048"/>
          </a:xfrm>
          <a:prstGeom prst="rect">
            <a:avLst/>
          </a:prstGeom>
          <a:noFill/>
          <a:ln/>
        </p:spPr>
        <p:txBody>
          <a:bodyPr wrap="square" lIns="0" tIns="0" rIns="0" bIns="0" rtlCol="0" anchor="t"/>
          <a:lstStyle/>
          <a:p>
            <a:pPr indent="0" marL="0">
              <a:spcAft>
                <a:spcPts val="300"/>
              </a:spcAft>
              <a:buNone/>
            </a:pPr>
            <a:r>
              <a:rPr lang="en-US" sz="1100" b="1" i="1" dirty="0">
                <a:solidFill>
                  <a:srgbClr val="7F7F7F"/>
                </a:solidFill>
                <a:latin typeface="Arial Nova Light" pitchFamily="34" charset="0"/>
                <a:ea typeface="Arial Nova Light" pitchFamily="34" charset="-122"/>
                <a:cs typeface="Arial Nova Light" pitchFamily="34" charset="-120"/>
              </a:rPr>
              <a:t>Pista: </a:t>
            </a:r>
            <a:pPr indent="0" marL="0">
              <a:spcAft>
                <a:spcPts val="300"/>
              </a:spcAft>
              <a:buNone/>
            </a:pPr>
            <a:r>
              <a:rPr lang="en-US" sz="1100" i="1" dirty="0">
                <a:solidFill>
                  <a:srgbClr val="7F7F7F"/>
                </a:solidFill>
                <a:latin typeface="Arial Nova Light" pitchFamily="34" charset="0"/>
                <a:ea typeface="Arial Nova Light" pitchFamily="34" charset="-122"/>
                <a:cs typeface="Arial Nova Light" pitchFamily="34" charset="-120"/>
              </a:rPr>
              <a:t>1) De ___ con lo que se hace hoy a ___ con el modelo v0. 2) ¿La diferencia es mayor que el rango? 3) Qué significa para la decisión. Si el modelo v0 no supera lo que se hace hoy, explíquenlo con evidencia.</a:t>
            </a:r>
            <a:endParaRPr lang="en-US" sz="1100" dirty="0"/>
          </a:p>
        </p:txBody>
      </p:sp>
      <p:sp>
        <p:nvSpPr>
          <p:cNvPr id="11" name="Text 7"/>
          <p:cNvSpPr/>
          <p:nvPr/>
        </p:nvSpPr>
        <p:spPr>
          <a:xfrm>
            <a:off x="850392" y="5806440"/>
            <a:ext cx="10490911" cy="393192"/>
          </a:xfrm>
          <a:prstGeom prst="rect">
            <a:avLst/>
          </a:prstGeom>
          <a:noFill/>
          <a:ln/>
        </p:spPr>
        <p:txBody>
          <a:bodyPr wrap="square" lIns="0" tIns="0" rIns="0" bIns="0" rtlCol="0" anchor="t"/>
          <a:lstStyle/>
          <a:p>
            <a:pPr indent="0" marL="0">
              <a:buNone/>
            </a:pPr>
            <a:r>
              <a:rPr lang="en-US" sz="1300" dirty="0">
                <a:solidFill>
                  <a:srgbClr val="A6A6A6"/>
                </a:solidFill>
                <a:latin typeface="Arial Nova Light" pitchFamily="34" charset="0"/>
                <a:ea typeface="Arial Nova Light" pitchFamily="34" charset="-122"/>
                <a:cs typeface="Arial Nova Light" pitchFamily="34" charset="-120"/>
              </a:rPr>
              <a:t>[Respuesta del equipo]</a:t>
            </a:r>
            <a:endParaRPr lang="en-US" sz="1300" dirty="0"/>
          </a:p>
        </p:txBody>
      </p:sp>
      <p:sp>
        <p:nvSpPr>
          <p:cNvPr id="12" name="Text 8"/>
          <p:cNvSpPr/>
          <p:nvPr/>
        </p:nvSpPr>
        <p:spPr>
          <a:xfrm>
            <a:off x="685800" y="6400800"/>
            <a:ext cx="5486400" cy="274320"/>
          </a:xfrm>
          <a:prstGeom prst="rect">
            <a:avLst/>
          </a:prstGeom>
          <a:noFill/>
          <a:ln/>
        </p:spPr>
        <p:txBody>
          <a:bodyPr wrap="square" lIns="0" tIns="0" rIns="0" bIns="0" rtlCol="0" anchor="ctr"/>
          <a:lstStyle/>
          <a:p>
            <a:pPr indent="0" marL="0">
              <a:buNone/>
            </a:pPr>
            <a:r>
              <a:rPr lang="en-US" sz="1000" i="1" dirty="0">
                <a:solidFill>
                  <a:srgbClr val="666666"/>
                </a:solidFill>
                <a:latin typeface="Arial Nova Light" pitchFamily="34" charset="0"/>
                <a:ea typeface="Arial Nova Light" pitchFamily="34" charset="-122"/>
                <a:cs typeface="Arial Nova Light" pitchFamily="34" charset="-120"/>
              </a:rPr>
              <a:t>* Obligatorio para LLM o agente; opcional para ML clásico.</a:t>
            </a:r>
            <a:endParaRPr lang="en-US" sz="1000" dirty="0"/>
          </a:p>
        </p:txBody>
      </p:sp>
      <p:sp>
        <p:nvSpPr>
          <p:cNvPr id="13" name="Text 9"/>
          <p:cNvSpPr/>
          <p:nvPr/>
        </p:nvSpPr>
        <p:spPr>
          <a:xfrm>
            <a:off x="8762695" y="6400800"/>
            <a:ext cx="2743200" cy="274320"/>
          </a:xfrm>
          <a:prstGeom prst="rect">
            <a:avLst/>
          </a:prstGeom>
          <a:noFill/>
          <a:ln/>
        </p:spPr>
        <p:txBody>
          <a:bodyPr wrap="square" lIns="0" tIns="0" rIns="0" bIns="0" rtlCol="0" anchor="ctr"/>
          <a:lstStyle/>
          <a:p>
            <a:pPr algn="r" indent="0" marL="0">
              <a:buNone/>
            </a:pPr>
            <a:r>
              <a:rPr lang="en-US" sz="1000" dirty="0">
                <a:solidFill>
                  <a:srgbClr val="666666"/>
                </a:solidFill>
                <a:latin typeface="Arial Nova Light" pitchFamily="34" charset="0"/>
                <a:ea typeface="Arial Nova Light" pitchFamily="34" charset="-122"/>
                <a:cs typeface="Arial Nova Light" pitchFamily="34" charset="-120"/>
              </a:rPr>
              <a:t>E5 · Equipo N.º ____</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4E4E4"/>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48640" y="384048"/>
            <a:ext cx="2194560" cy="429768"/>
          </a:xfrm>
          <a:prstGeom prst="rect">
            <a:avLst/>
          </a:prstGeom>
        </p:spPr>
      </p:pic>
      <p:sp>
        <p:nvSpPr>
          <p:cNvPr id="3" name="Text 0"/>
          <p:cNvSpPr/>
          <p:nvPr/>
        </p:nvSpPr>
        <p:spPr>
          <a:xfrm>
            <a:off x="685800" y="1097280"/>
            <a:ext cx="10820095" cy="685800"/>
          </a:xfrm>
          <a:prstGeom prst="rect">
            <a:avLst/>
          </a:prstGeom>
          <a:noFill/>
          <a:ln/>
        </p:spPr>
        <p:txBody>
          <a:bodyPr wrap="square" lIns="0" tIns="0" rIns="0" bIns="0" rtlCol="0" anchor="t"/>
          <a:lstStyle/>
          <a:p>
            <a:pPr indent="0" marL="0">
              <a:buNone/>
            </a:pPr>
            <a:r>
              <a:rPr lang="en-US" sz="3000" b="1" dirty="0">
                <a:solidFill>
                  <a:srgbClr val="4E4B4C"/>
                </a:solidFill>
                <a:latin typeface="Arial Nova" pitchFamily="34" charset="0"/>
                <a:ea typeface="Arial Nova" pitchFamily="34" charset="-122"/>
                <a:cs typeface="Arial Nova" pitchFamily="34" charset="-120"/>
              </a:rPr>
              <a:t>Dónde falla el modelo v0</a:t>
            </a:r>
            <a:endParaRPr lang="en-US" sz="3000" dirty="0"/>
          </a:p>
        </p:txBody>
      </p:sp>
      <p:sp>
        <p:nvSpPr>
          <p:cNvPr id="4" name="Text 1"/>
          <p:cNvSpPr/>
          <p:nvPr/>
        </p:nvSpPr>
        <p:spPr>
          <a:xfrm>
            <a:off x="685800" y="1783080"/>
            <a:ext cx="10820095" cy="457200"/>
          </a:xfrm>
          <a:prstGeom prst="rect">
            <a:avLst/>
          </a:prstGeom>
          <a:noFill/>
          <a:ln/>
        </p:spPr>
        <p:txBody>
          <a:bodyPr wrap="square" lIns="0" tIns="0" rIns="0" bIns="0" rtlCol="0" anchor="t"/>
          <a:lstStyle/>
          <a:p>
            <a:pPr indent="0" marL="0">
              <a:buNone/>
            </a:pPr>
            <a:r>
              <a:rPr lang="en-US" sz="1600" dirty="0">
                <a:solidFill>
                  <a:srgbClr val="666666"/>
                </a:solidFill>
                <a:latin typeface="Arial Nova Light" pitchFamily="34" charset="0"/>
                <a:ea typeface="Arial Nova Light" pitchFamily="34" charset="-122"/>
                <a:cs typeface="Arial Nova Light" pitchFamily="34" charset="-120"/>
              </a:rPr>
              <a:t>Error por segmento: dónde funciona peor y por qué creen que pasa</a:t>
            </a:r>
            <a:endParaRPr lang="en-US" sz="1600" dirty="0"/>
          </a:p>
        </p:txBody>
      </p:sp>
      <p:sp>
        <p:nvSpPr>
          <p:cNvPr id="5" name="Shape 2"/>
          <p:cNvSpPr/>
          <p:nvPr/>
        </p:nvSpPr>
        <p:spPr>
          <a:xfrm>
            <a:off x="6751015" y="457200"/>
            <a:ext cx="4754880" cy="347472"/>
          </a:xfrm>
          <a:prstGeom prst="rect">
            <a:avLst/>
          </a:prstGeom>
          <a:solidFill>
            <a:srgbClr val="00E1FF"/>
          </a:solidFill>
          <a:ln w="12700">
            <a:solidFill>
              <a:srgbClr val="333333"/>
            </a:solidFill>
            <a:prstDash val="solid"/>
          </a:ln>
        </p:spPr>
      </p:sp>
      <p:sp>
        <p:nvSpPr>
          <p:cNvPr id="6" name="Text 3"/>
          <p:cNvSpPr/>
          <p:nvPr/>
        </p:nvSpPr>
        <p:spPr>
          <a:xfrm>
            <a:off x="6751015" y="457200"/>
            <a:ext cx="4754880" cy="347472"/>
          </a:xfrm>
          <a:prstGeom prst="rect">
            <a:avLst/>
          </a:prstGeom>
          <a:noFill/>
          <a:ln/>
        </p:spPr>
        <p:txBody>
          <a:bodyPr wrap="none" lIns="0" tIns="0" rIns="0" bIns="0" rtlCol="0" anchor="ctr"/>
          <a:lstStyle/>
          <a:p>
            <a:pPr algn="ctr" indent="0" marL="0">
              <a:buNone/>
            </a:pPr>
            <a:r>
              <a:rPr lang="en-US" sz="1100" b="1" dirty="0">
                <a:solidFill>
                  <a:srgbClr val="000000"/>
                </a:solidFill>
                <a:latin typeface="Arial Nova" pitchFamily="34" charset="0"/>
                <a:ea typeface="Arial Nova" pitchFamily="34" charset="-122"/>
                <a:cs typeface="Arial Nova" pitchFamily="34" charset="-120"/>
              </a:rPr>
              <a:t>SECCIÓN 2 · BASELINE CONTRA MODELO V0</a:t>
            </a:r>
            <a:endParaRPr lang="en-US" sz="11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85800" y="2377440"/>
          <a:ext cx="10820095" cy="914400"/>
        </p:xfrm>
        <a:graphic>
          <a:graphicData uri="http://schemas.openxmlformats.org/drawingml/2006/table">
            <a:tbl>
              <a:tblPr/>
              <a:tblGrid>
                <a:gridCol w="2377440"/>
                <a:gridCol w="1371600"/>
                <a:gridCol w="2011680"/>
                <a:gridCol w="1828800"/>
                <a:gridCol w="3230575"/>
              </a:tblGrid>
              <a:tr h="457200">
                <a:tc>
                  <a:txBody>
                    <a:bodyPr/>
                    <a:lstStyle/>
                    <a:p>
                      <a:pPr algn="ctr" indent="0" marL="0">
                        <a:buNone/>
                      </a:pPr>
                      <a:r>
                        <a:rPr lang="en-US" sz="1200" b="1" dirty="0">
                          <a:solidFill>
                            <a:srgbClr val="000000"/>
                          </a:solidFill>
                          <a:latin typeface="Arial Nova" pitchFamily="34" charset="0"/>
                          <a:ea typeface="Arial Nova" pitchFamily="34" charset="-122"/>
                          <a:cs typeface="Arial Nova" pitchFamily="34" charset="-120"/>
                        </a:rPr>
                        <a:t>Segmento</a:t>
                      </a:r>
                      <a:endParaRPr lang="en-US" sz="1200" dirty="0">
                        <a:latin typeface="Arial Nova" charset="0"/>
                        <a:ea typeface="Arial Nova" charset="0"/>
                        <a:cs typeface="Arial Nova" charset="0"/>
                      </a:endParaRPr>
                    </a:p>
                  </a:txBody>
                  <a:tcPr marL="64008" marR="64008" marT="64008" marB="64008"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00E1FF"/>
                    </a:solidFill>
                  </a:tcPr>
                </a:tc>
                <a:tc>
                  <a:txBody>
                    <a:bodyPr/>
                    <a:lstStyle/>
                    <a:p>
                      <a:pPr algn="ctr" indent="0" marL="0">
                        <a:buNone/>
                      </a:pPr>
                      <a:r>
                        <a:rPr lang="en-US" sz="1200" b="1" dirty="0">
                          <a:solidFill>
                            <a:srgbClr val="000000"/>
                          </a:solidFill>
                          <a:latin typeface="Arial Nova" pitchFamily="34" charset="0"/>
                          <a:ea typeface="Arial Nova" pitchFamily="34" charset="-122"/>
                          <a:cs typeface="Arial Nova" pitchFamily="34" charset="-120"/>
                        </a:rPr>
                        <a:t>N.º de casos</a:t>
                      </a:r>
                      <a:endParaRPr lang="en-US" sz="1200" dirty="0">
                        <a:latin typeface="Arial Nova" charset="0"/>
                        <a:ea typeface="Arial Nova" charset="0"/>
                        <a:cs typeface="Arial Nova" charset="0"/>
                      </a:endParaRPr>
                    </a:p>
                  </a:txBody>
                  <a:tcPr marL="64008" marR="64008" marT="64008" marB="64008"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00E1FF"/>
                    </a:solidFill>
                  </a:tcPr>
                </a:tc>
                <a:tc>
                  <a:txBody>
                    <a:bodyPr/>
                    <a:lstStyle/>
                    <a:p>
                      <a:pPr algn="ctr" indent="0" marL="0">
                        <a:buNone/>
                      </a:pPr>
                      <a:r>
                        <a:rPr lang="en-US" sz="1200" b="1" dirty="0">
                          <a:solidFill>
                            <a:srgbClr val="000000"/>
                          </a:solidFill>
                          <a:latin typeface="Arial Nova" pitchFamily="34" charset="0"/>
                          <a:ea typeface="Arial Nova" pitchFamily="34" charset="-122"/>
                          <a:cs typeface="Arial Nova" pitchFamily="34" charset="-120"/>
                        </a:rPr>
                        <a:t>Métrica principal</a:t>
                      </a:r>
                      <a:endParaRPr lang="en-US" sz="1200" dirty="0">
                        <a:latin typeface="Arial Nova" charset="0"/>
                        <a:ea typeface="Arial Nova" charset="0"/>
                        <a:cs typeface="Arial Nova" charset="0"/>
                      </a:endParaRPr>
                    </a:p>
                  </a:txBody>
                  <a:tcPr marL="64008" marR="64008" marT="64008" marB="64008"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00E1FF"/>
                    </a:solidFill>
                  </a:tcPr>
                </a:tc>
                <a:tc>
                  <a:txBody>
                    <a:bodyPr/>
                    <a:lstStyle/>
                    <a:p>
                      <a:pPr algn="ctr" indent="0" marL="0">
                        <a:buNone/>
                      </a:pPr>
                      <a:r>
                        <a:rPr lang="en-US" sz="1200" b="1" dirty="0">
                          <a:solidFill>
                            <a:srgbClr val="000000"/>
                          </a:solidFill>
                          <a:latin typeface="Arial Nova" pitchFamily="34" charset="0"/>
                          <a:ea typeface="Arial Nova" pitchFamily="34" charset="-122"/>
                          <a:cs typeface="Arial Nova" pitchFamily="34" charset="-120"/>
                        </a:rPr>
                        <a:t>Diferencia frente al total</a:t>
                      </a:r>
                      <a:endParaRPr lang="en-US" sz="1200" dirty="0">
                        <a:latin typeface="Arial Nova" charset="0"/>
                        <a:ea typeface="Arial Nova" charset="0"/>
                        <a:cs typeface="Arial Nova" charset="0"/>
                      </a:endParaRPr>
                    </a:p>
                  </a:txBody>
                  <a:tcPr marL="64008" marR="64008" marT="64008" marB="64008"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00E1FF"/>
                    </a:solidFill>
                  </a:tcPr>
                </a:tc>
                <a:tc>
                  <a:txBody>
                    <a:bodyPr/>
                    <a:lstStyle/>
                    <a:p>
                      <a:pPr algn="ctr" indent="0" marL="0">
                        <a:buNone/>
                      </a:pPr>
                      <a:r>
                        <a:rPr lang="en-US" sz="1200" b="1" dirty="0">
                          <a:solidFill>
                            <a:srgbClr val="000000"/>
                          </a:solidFill>
                          <a:latin typeface="Arial Nova" pitchFamily="34" charset="0"/>
                          <a:ea typeface="Arial Nova" pitchFamily="34" charset="-122"/>
                          <a:cs typeface="Arial Nova" pitchFamily="34" charset="-120"/>
                        </a:rPr>
                        <a:t>Por qué creemos que pasa</a:t>
                      </a:r>
                      <a:endParaRPr lang="en-US" sz="1200" dirty="0">
                        <a:latin typeface="Arial Nova" charset="0"/>
                        <a:ea typeface="Arial Nova" charset="0"/>
                        <a:cs typeface="Arial Nova" charset="0"/>
                      </a:endParaRPr>
                    </a:p>
                  </a:txBody>
                  <a:tcPr marL="64008" marR="64008" marT="64008" marB="64008"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00E1FF"/>
                    </a:solidFill>
                  </a:tcPr>
                </a:tc>
              </a:tr>
              <a:tr h="457200">
                <a:tc>
                  <a:txBody>
                    <a:bodyPr/>
                    <a:lstStyle/>
                    <a:p>
                      <a:pPr indent="0" marL="0">
                        <a:buNone/>
                      </a:pPr>
                      <a:r>
                        <a:rPr lang="en-US" sz="1200" b="1" dirty="0">
                          <a:solidFill>
                            <a:srgbClr val="4E4B4C"/>
                          </a:solidFill>
                          <a:latin typeface="Arial Nova" pitchFamily="34" charset="0"/>
                          <a:ea typeface="Arial Nova" pitchFamily="34" charset="-122"/>
                          <a:cs typeface="Arial Nova" pitchFamily="34" charset="-120"/>
                        </a:rPr>
                        <a:t>Total</a:t>
                      </a:r>
                      <a:endParaRPr lang="en-US" sz="1200" dirty="0">
                        <a:latin typeface="Arial Nova" charset="0"/>
                        <a:ea typeface="Arial Nova" charset="0"/>
                        <a:cs typeface="Arial Nova" charset="0"/>
                      </a:endParaRPr>
                    </a:p>
                  </a:txBody>
                  <a:tcPr marL="64008" marR="64008" marT="64008" marB="64008"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indent="0" marL="0">
                        <a:buNone/>
                      </a:pPr>
                      <a:endParaRPr lang="en-US" sz="1200" dirty="0">
                        <a:latin typeface="Arial Nova Light" charset="0"/>
                        <a:ea typeface="Arial Nova Light" charset="0"/>
                        <a:cs typeface="Arial Nova Light" charset="0"/>
                      </a:endParaRPr>
                    </a:p>
                  </a:txBody>
                  <a:tcPr marL="64008" marR="64008" marT="64008" marB="64008"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indent="0" marL="0">
                        <a:buNone/>
                      </a:pPr>
                      <a:endParaRPr lang="en-US" sz="1200" dirty="0">
                        <a:latin typeface="Arial Nova Light" charset="0"/>
                        <a:ea typeface="Arial Nova Light" charset="0"/>
                        <a:cs typeface="Arial Nova Light" charset="0"/>
                      </a:endParaRPr>
                    </a:p>
                  </a:txBody>
                  <a:tcPr marL="64008" marR="64008" marT="64008" marB="64008"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indent="0" marL="0">
                        <a:buNone/>
                      </a:pPr>
                      <a:r>
                        <a:rPr lang="en-US" sz="1200" dirty="0">
                          <a:solidFill>
                            <a:srgbClr val="A6A6A6"/>
                          </a:solidFill>
                          <a:latin typeface="Arial Nova Light" pitchFamily="34" charset="0"/>
                          <a:ea typeface="Arial Nova Light" pitchFamily="34" charset="-122"/>
                          <a:cs typeface="Arial Nova Light" pitchFamily="34" charset="-120"/>
                        </a:rPr>
                        <a:t>—</a:t>
                      </a:r>
                      <a:endParaRPr lang="en-US" sz="1200" dirty="0">
                        <a:latin typeface="Arial Nova Light" charset="0"/>
                        <a:ea typeface="Arial Nova Light" charset="0"/>
                        <a:cs typeface="Arial Nova Light" charset="0"/>
                      </a:endParaRPr>
                    </a:p>
                  </a:txBody>
                  <a:tcPr marL="64008" marR="64008" marT="64008" marB="64008"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indent="0" marL="0">
                        <a:buNone/>
                      </a:pPr>
                      <a:r>
                        <a:rPr lang="en-US" sz="1200" dirty="0">
                          <a:solidFill>
                            <a:srgbClr val="A6A6A6"/>
                          </a:solidFill>
                          <a:latin typeface="Arial Nova Light" pitchFamily="34" charset="0"/>
                          <a:ea typeface="Arial Nova Light" pitchFamily="34" charset="-122"/>
                          <a:cs typeface="Arial Nova Light" pitchFamily="34" charset="-120"/>
                        </a:rPr>
                        <a:t>—</a:t>
                      </a:r>
                      <a:endParaRPr lang="en-US" sz="1200" dirty="0">
                        <a:latin typeface="Arial Nova Light" charset="0"/>
                        <a:ea typeface="Arial Nova Light" charset="0"/>
                        <a:cs typeface="Arial Nova Light" charset="0"/>
                      </a:endParaRPr>
                    </a:p>
                  </a:txBody>
                  <a:tcPr marL="64008" marR="64008" marT="64008" marB="64008"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457200">
                <a:tc>
                  <a:txBody>
                    <a:bodyPr/>
                    <a:lstStyle/>
                    <a:p>
                      <a:pPr indent="0" marL="0">
                        <a:buNone/>
                      </a:pPr>
                      <a:endParaRPr lang="en-US" sz="1200" dirty="0">
                        <a:latin typeface="Arial Nova Light" charset="0"/>
                        <a:ea typeface="Arial Nova Light" charset="0"/>
                        <a:cs typeface="Arial Nova Light" charset="0"/>
                      </a:endParaRPr>
                    </a:p>
                  </a:txBody>
                  <a:tcPr marL="64008" marR="64008" marT="64008" marB="64008"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indent="0" marL="0">
                        <a:buNone/>
                      </a:pPr>
                      <a:endParaRPr lang="en-US" sz="1200" dirty="0">
                        <a:latin typeface="Arial Nova Light" charset="0"/>
                        <a:ea typeface="Arial Nova Light" charset="0"/>
                        <a:cs typeface="Arial Nova Light" charset="0"/>
                      </a:endParaRPr>
                    </a:p>
                  </a:txBody>
                  <a:tcPr marL="64008" marR="64008" marT="64008" marB="64008"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indent="0" marL="0">
                        <a:buNone/>
                      </a:pPr>
                      <a:endParaRPr lang="en-US" sz="1200" dirty="0">
                        <a:latin typeface="Arial Nova Light" charset="0"/>
                        <a:ea typeface="Arial Nova Light" charset="0"/>
                        <a:cs typeface="Arial Nova Light" charset="0"/>
                      </a:endParaRPr>
                    </a:p>
                  </a:txBody>
                  <a:tcPr marL="64008" marR="64008" marT="64008" marB="64008"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indent="0" marL="0">
                        <a:buNone/>
                      </a:pPr>
                      <a:endParaRPr lang="en-US" sz="1200" dirty="0">
                        <a:latin typeface="Arial Nova Light" charset="0"/>
                        <a:ea typeface="Arial Nova Light" charset="0"/>
                        <a:cs typeface="Arial Nova Light" charset="0"/>
                      </a:endParaRPr>
                    </a:p>
                  </a:txBody>
                  <a:tcPr marL="64008" marR="64008" marT="64008" marB="64008"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indent="0" marL="0">
                        <a:buNone/>
                      </a:pPr>
                      <a:endParaRPr lang="en-US" sz="1200" dirty="0">
                        <a:latin typeface="Arial Nova Light" charset="0"/>
                        <a:ea typeface="Arial Nova Light" charset="0"/>
                        <a:cs typeface="Arial Nova Light" charset="0"/>
                      </a:endParaRPr>
                    </a:p>
                  </a:txBody>
                  <a:tcPr marL="64008" marR="64008" marT="64008" marB="64008"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457200">
                <a:tc>
                  <a:txBody>
                    <a:bodyPr/>
                    <a:lstStyle/>
                    <a:p>
                      <a:pPr indent="0" marL="0">
                        <a:buNone/>
                      </a:pPr>
                      <a:endParaRPr lang="en-US" sz="1200" dirty="0">
                        <a:latin typeface="Arial Nova Light" charset="0"/>
                        <a:ea typeface="Arial Nova Light" charset="0"/>
                        <a:cs typeface="Arial Nova Light" charset="0"/>
                      </a:endParaRPr>
                    </a:p>
                  </a:txBody>
                  <a:tcPr marL="64008" marR="64008" marT="64008" marB="64008"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indent="0" marL="0">
                        <a:buNone/>
                      </a:pPr>
                      <a:endParaRPr lang="en-US" sz="1200" dirty="0">
                        <a:latin typeface="Arial Nova Light" charset="0"/>
                        <a:ea typeface="Arial Nova Light" charset="0"/>
                        <a:cs typeface="Arial Nova Light" charset="0"/>
                      </a:endParaRPr>
                    </a:p>
                  </a:txBody>
                  <a:tcPr marL="64008" marR="64008" marT="64008" marB="64008"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indent="0" marL="0">
                        <a:buNone/>
                      </a:pPr>
                      <a:endParaRPr lang="en-US" sz="1200" dirty="0">
                        <a:latin typeface="Arial Nova Light" charset="0"/>
                        <a:ea typeface="Arial Nova Light" charset="0"/>
                        <a:cs typeface="Arial Nova Light" charset="0"/>
                      </a:endParaRPr>
                    </a:p>
                  </a:txBody>
                  <a:tcPr marL="64008" marR="64008" marT="64008" marB="64008"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indent="0" marL="0">
                        <a:buNone/>
                      </a:pPr>
                      <a:endParaRPr lang="en-US" sz="1200" dirty="0">
                        <a:latin typeface="Arial Nova Light" charset="0"/>
                        <a:ea typeface="Arial Nova Light" charset="0"/>
                        <a:cs typeface="Arial Nova Light" charset="0"/>
                      </a:endParaRPr>
                    </a:p>
                  </a:txBody>
                  <a:tcPr marL="64008" marR="64008" marT="64008" marB="64008"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indent="0" marL="0">
                        <a:buNone/>
                      </a:pPr>
                      <a:endParaRPr lang="en-US" sz="1200" dirty="0">
                        <a:latin typeface="Arial Nova Light" charset="0"/>
                        <a:ea typeface="Arial Nova Light" charset="0"/>
                        <a:cs typeface="Arial Nova Light" charset="0"/>
                      </a:endParaRPr>
                    </a:p>
                  </a:txBody>
                  <a:tcPr marL="64008" marR="64008" marT="64008" marB="64008"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457200">
                <a:tc>
                  <a:txBody>
                    <a:bodyPr/>
                    <a:lstStyle/>
                    <a:p>
                      <a:pPr indent="0" marL="0">
                        <a:buNone/>
                      </a:pPr>
                      <a:endParaRPr lang="en-US" sz="1200" dirty="0">
                        <a:latin typeface="Arial Nova Light" charset="0"/>
                        <a:ea typeface="Arial Nova Light" charset="0"/>
                        <a:cs typeface="Arial Nova Light" charset="0"/>
                      </a:endParaRPr>
                    </a:p>
                  </a:txBody>
                  <a:tcPr marL="64008" marR="64008" marT="64008" marB="64008"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indent="0" marL="0">
                        <a:buNone/>
                      </a:pPr>
                      <a:endParaRPr lang="en-US" sz="1200" dirty="0">
                        <a:latin typeface="Arial Nova Light" charset="0"/>
                        <a:ea typeface="Arial Nova Light" charset="0"/>
                        <a:cs typeface="Arial Nova Light" charset="0"/>
                      </a:endParaRPr>
                    </a:p>
                  </a:txBody>
                  <a:tcPr marL="64008" marR="64008" marT="64008" marB="64008"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indent="0" marL="0">
                        <a:buNone/>
                      </a:pPr>
                      <a:endParaRPr lang="en-US" sz="1200" dirty="0">
                        <a:latin typeface="Arial Nova Light" charset="0"/>
                        <a:ea typeface="Arial Nova Light" charset="0"/>
                        <a:cs typeface="Arial Nova Light" charset="0"/>
                      </a:endParaRPr>
                    </a:p>
                  </a:txBody>
                  <a:tcPr marL="64008" marR="64008" marT="64008" marB="64008"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indent="0" marL="0">
                        <a:buNone/>
                      </a:pPr>
                      <a:endParaRPr lang="en-US" sz="1200" dirty="0">
                        <a:latin typeface="Arial Nova Light" charset="0"/>
                        <a:ea typeface="Arial Nova Light" charset="0"/>
                        <a:cs typeface="Arial Nova Light" charset="0"/>
                      </a:endParaRPr>
                    </a:p>
                  </a:txBody>
                  <a:tcPr marL="64008" marR="64008" marT="64008" marB="64008"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indent="0" marL="0">
                        <a:buNone/>
                      </a:pPr>
                      <a:endParaRPr lang="en-US" sz="1200" dirty="0">
                        <a:latin typeface="Arial Nova Light" charset="0"/>
                        <a:ea typeface="Arial Nova Light" charset="0"/>
                        <a:cs typeface="Arial Nova Light" charset="0"/>
                      </a:endParaRPr>
                    </a:p>
                  </a:txBody>
                  <a:tcPr marL="64008" marR="64008" marT="64008" marB="64008"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8" name="Shape 4"/>
          <p:cNvSpPr/>
          <p:nvPr/>
        </p:nvSpPr>
        <p:spPr>
          <a:xfrm>
            <a:off x="685800" y="4800600"/>
            <a:ext cx="10820095" cy="1508760"/>
          </a:xfrm>
          <a:prstGeom prst="rect">
            <a:avLst/>
          </a:prstGeom>
          <a:solidFill>
            <a:srgbClr val="FFFFFF"/>
          </a:solidFill>
          <a:ln w="12700">
            <a:solidFill>
              <a:srgbClr val="BFBFBF"/>
            </a:solidFill>
            <a:prstDash val="solid"/>
          </a:ln>
        </p:spPr>
      </p:sp>
      <p:sp>
        <p:nvSpPr>
          <p:cNvPr id="9" name="Text 5"/>
          <p:cNvSpPr/>
          <p:nvPr/>
        </p:nvSpPr>
        <p:spPr>
          <a:xfrm>
            <a:off x="850392" y="4910328"/>
            <a:ext cx="10490911" cy="329184"/>
          </a:xfrm>
          <a:prstGeom prst="rect">
            <a:avLst/>
          </a:prstGeom>
          <a:noFill/>
          <a:ln/>
        </p:spPr>
        <p:txBody>
          <a:bodyPr wrap="square" lIns="0" tIns="0" rIns="0" bIns="0" rtlCol="0" anchor="t"/>
          <a:lstStyle/>
          <a:p>
            <a:pPr indent="0" marL="0">
              <a:buNone/>
            </a:pPr>
            <a:r>
              <a:rPr lang="en-US" sz="1500" b="1" dirty="0">
                <a:solidFill>
                  <a:srgbClr val="4E4B4C"/>
                </a:solidFill>
                <a:latin typeface="Arial Nova" pitchFamily="34" charset="0"/>
                <a:ea typeface="Arial Nova" pitchFamily="34" charset="-122"/>
                <a:cs typeface="Arial Nova" pitchFamily="34" charset="-120"/>
              </a:rPr>
              <a:t>Qué harán con esto antes del 21 de noviembre</a:t>
            </a:r>
            <a:endParaRPr lang="en-US" sz="1500" dirty="0"/>
          </a:p>
        </p:txBody>
      </p:sp>
      <p:sp>
        <p:nvSpPr>
          <p:cNvPr id="10" name="Text 6"/>
          <p:cNvSpPr/>
          <p:nvPr/>
        </p:nvSpPr>
        <p:spPr>
          <a:xfrm>
            <a:off x="850392" y="5257800"/>
            <a:ext cx="10490911" cy="594360"/>
          </a:xfrm>
          <a:prstGeom prst="rect">
            <a:avLst/>
          </a:prstGeom>
          <a:noFill/>
          <a:ln/>
        </p:spPr>
        <p:txBody>
          <a:bodyPr wrap="square" lIns="0" tIns="0" rIns="0" bIns="0" rtlCol="0" anchor="t"/>
          <a:lstStyle/>
          <a:p>
            <a:pPr indent="0" marL="0">
              <a:spcAft>
                <a:spcPts val="300"/>
              </a:spcAft>
              <a:buNone/>
            </a:pPr>
            <a:r>
              <a:rPr lang="en-US" sz="1100" b="1" i="1" dirty="0">
                <a:solidFill>
                  <a:srgbClr val="7F7F7F"/>
                </a:solidFill>
                <a:latin typeface="Arial Nova Light" pitchFamily="34" charset="0"/>
                <a:ea typeface="Arial Nova Light" pitchFamily="34" charset="-122"/>
                <a:cs typeface="Arial Nova Light" pitchFamily="34" charset="-120"/>
              </a:rPr>
              <a:t>Pista ML: </a:t>
            </a:r>
            <a:pPr indent="0" marL="0">
              <a:spcAft>
                <a:spcPts val="300"/>
              </a:spcAft>
              <a:buNone/>
            </a:pPr>
            <a:r>
              <a:rPr lang="en-US" sz="1100" i="1" dirty="0">
                <a:solidFill>
                  <a:srgbClr val="7F7F7F"/>
                </a:solidFill>
                <a:latin typeface="Arial Nova Light" pitchFamily="34" charset="0"/>
                <a:ea typeface="Arial Nova Light" pitchFamily="34" charset="-122"/>
                <a:cs typeface="Arial Nova Light" pitchFamily="34" charset="-120"/>
              </a:rPr>
              <a:t>Segmentos: región, canal, antigüedad, clase minoritaria, etc. Si el modelo falla en un segmento clave, ¿lo corrigen, lo excluyen del alcance o lo declaran como limitación?</a:t>
            </a:r>
            <a:endParaRPr lang="en-US" sz="1100" dirty="0"/>
          </a:p>
          <a:p>
            <a:pPr indent="0" marL="0">
              <a:spcAft>
                <a:spcPts val="300"/>
              </a:spcAft>
              <a:buNone/>
            </a:pPr>
            <a:r>
              <a:rPr lang="en-US" sz="1100" b="1" i="1" dirty="0">
                <a:solidFill>
                  <a:srgbClr val="7F7F7F"/>
                </a:solidFill>
                <a:latin typeface="Arial Nova Light" pitchFamily="34" charset="0"/>
                <a:ea typeface="Arial Nova Light" pitchFamily="34" charset="-122"/>
                <a:cs typeface="Arial Nova Light" pitchFamily="34" charset="-120"/>
              </a:rPr>
              <a:t>Pista LLM o agente: </a:t>
            </a:r>
            <a:pPr indent="0" marL="0">
              <a:spcAft>
                <a:spcPts val="300"/>
              </a:spcAft>
              <a:buNone/>
            </a:pPr>
            <a:r>
              <a:rPr lang="en-US" sz="1100" i="1" dirty="0">
                <a:solidFill>
                  <a:srgbClr val="7F7F7F"/>
                </a:solidFill>
                <a:latin typeface="Arial Nova Light" pitchFamily="34" charset="0"/>
                <a:ea typeface="Arial Nova Light" pitchFamily="34" charset="-122"/>
                <a:cs typeface="Arial Nova Light" pitchFamily="34" charset="-120"/>
              </a:rPr>
              <a:t>Segmentos = tipos de consulta o de caso (ambiguos, largos, otro idioma). En agentes, indiquen en qué paso falla.</a:t>
            </a:r>
            <a:endParaRPr lang="en-US" sz="1100" dirty="0"/>
          </a:p>
        </p:txBody>
      </p:sp>
      <p:sp>
        <p:nvSpPr>
          <p:cNvPr id="11" name="Text 7"/>
          <p:cNvSpPr/>
          <p:nvPr/>
        </p:nvSpPr>
        <p:spPr>
          <a:xfrm>
            <a:off x="850392" y="5925312"/>
            <a:ext cx="10490911" cy="274320"/>
          </a:xfrm>
          <a:prstGeom prst="rect">
            <a:avLst/>
          </a:prstGeom>
          <a:noFill/>
          <a:ln/>
        </p:spPr>
        <p:txBody>
          <a:bodyPr wrap="square" lIns="0" tIns="0" rIns="0" bIns="0" rtlCol="0" anchor="t"/>
          <a:lstStyle/>
          <a:p>
            <a:pPr indent="0" marL="0">
              <a:buNone/>
            </a:pPr>
            <a:r>
              <a:rPr lang="en-US" sz="1300" dirty="0">
                <a:solidFill>
                  <a:srgbClr val="A6A6A6"/>
                </a:solidFill>
                <a:latin typeface="Arial Nova Light" pitchFamily="34" charset="0"/>
                <a:ea typeface="Arial Nova Light" pitchFamily="34" charset="-122"/>
                <a:cs typeface="Arial Nova Light" pitchFamily="34" charset="-120"/>
              </a:rPr>
              <a:t>[Respuesta del equipo]</a:t>
            </a:r>
            <a:endParaRPr lang="en-US" sz="1300" dirty="0"/>
          </a:p>
        </p:txBody>
      </p:sp>
      <p:sp>
        <p:nvSpPr>
          <p:cNvPr id="12" name="Text 8"/>
          <p:cNvSpPr/>
          <p:nvPr/>
        </p:nvSpPr>
        <p:spPr>
          <a:xfrm>
            <a:off x="8762695" y="6400800"/>
            <a:ext cx="2743200" cy="274320"/>
          </a:xfrm>
          <a:prstGeom prst="rect">
            <a:avLst/>
          </a:prstGeom>
          <a:noFill/>
          <a:ln/>
        </p:spPr>
        <p:txBody>
          <a:bodyPr wrap="square" lIns="0" tIns="0" rIns="0" bIns="0" rtlCol="0" anchor="ctr"/>
          <a:lstStyle/>
          <a:p>
            <a:pPr algn="r" indent="0" marL="0">
              <a:buNone/>
            </a:pPr>
            <a:r>
              <a:rPr lang="en-US" sz="1000" dirty="0">
                <a:solidFill>
                  <a:srgbClr val="666666"/>
                </a:solidFill>
                <a:latin typeface="Arial Nova Light" pitchFamily="34" charset="0"/>
                <a:ea typeface="Arial Nova Light" pitchFamily="34" charset="-122"/>
                <a:cs typeface="Arial Nova Light" pitchFamily="34" charset="-120"/>
              </a:rPr>
              <a:t>E5 · Equipo N.º ____</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4E4E4"/>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48640" y="384048"/>
            <a:ext cx="2194560" cy="429768"/>
          </a:xfrm>
          <a:prstGeom prst="rect">
            <a:avLst/>
          </a:prstGeom>
        </p:spPr>
      </p:pic>
      <p:sp>
        <p:nvSpPr>
          <p:cNvPr id="3" name="Text 0"/>
          <p:cNvSpPr/>
          <p:nvPr/>
        </p:nvSpPr>
        <p:spPr>
          <a:xfrm>
            <a:off x="685800" y="1097280"/>
            <a:ext cx="10820095" cy="685800"/>
          </a:xfrm>
          <a:prstGeom prst="rect">
            <a:avLst/>
          </a:prstGeom>
          <a:noFill/>
          <a:ln/>
        </p:spPr>
        <p:txBody>
          <a:bodyPr wrap="square" lIns="0" tIns="0" rIns="0" bIns="0" rtlCol="0" anchor="t"/>
          <a:lstStyle/>
          <a:p>
            <a:pPr indent="0" marL="0">
              <a:buNone/>
            </a:pPr>
            <a:r>
              <a:rPr lang="en-US" sz="3000" b="1" dirty="0">
                <a:solidFill>
                  <a:srgbClr val="4E4B4C"/>
                </a:solidFill>
                <a:latin typeface="Arial Nova" pitchFamily="34" charset="0"/>
                <a:ea typeface="Arial Nova" pitchFamily="34" charset="-122"/>
                <a:cs typeface="Arial Nova" pitchFamily="34" charset="-120"/>
              </a:rPr>
              <a:t>Model Card v0 (1/2)</a:t>
            </a:r>
            <a:endParaRPr lang="en-US" sz="3000" dirty="0"/>
          </a:p>
        </p:txBody>
      </p:sp>
      <p:sp>
        <p:nvSpPr>
          <p:cNvPr id="4" name="Text 1"/>
          <p:cNvSpPr/>
          <p:nvPr/>
        </p:nvSpPr>
        <p:spPr>
          <a:xfrm>
            <a:off x="685800" y="1783080"/>
            <a:ext cx="10820095" cy="457200"/>
          </a:xfrm>
          <a:prstGeom prst="rect">
            <a:avLst/>
          </a:prstGeom>
          <a:noFill/>
          <a:ln/>
        </p:spPr>
        <p:txBody>
          <a:bodyPr wrap="square" lIns="0" tIns="0" rIns="0" bIns="0" rtlCol="0" anchor="t"/>
          <a:lstStyle/>
          <a:p>
            <a:pPr indent="0" marL="0">
              <a:buNone/>
            </a:pPr>
            <a:r>
              <a:rPr lang="en-US" sz="1600" dirty="0">
                <a:solidFill>
                  <a:srgbClr val="666666"/>
                </a:solidFill>
                <a:latin typeface="Arial Nova Light" pitchFamily="34" charset="0"/>
                <a:ea typeface="Arial Nova Light" pitchFamily="34" charset="-122"/>
                <a:cs typeface="Arial Nova Light" pitchFamily="34" charset="-120"/>
              </a:rPr>
              <a:t>Versión reducida de Mitchell et al. (2019). Una página en total, repartida en dos láminas</a:t>
            </a:r>
            <a:endParaRPr lang="en-US" sz="1600" dirty="0"/>
          </a:p>
        </p:txBody>
      </p:sp>
      <p:sp>
        <p:nvSpPr>
          <p:cNvPr id="5" name="Shape 2"/>
          <p:cNvSpPr/>
          <p:nvPr/>
        </p:nvSpPr>
        <p:spPr>
          <a:xfrm>
            <a:off x="7985455" y="457200"/>
            <a:ext cx="3520440" cy="347472"/>
          </a:xfrm>
          <a:prstGeom prst="rect">
            <a:avLst/>
          </a:prstGeom>
          <a:solidFill>
            <a:srgbClr val="00E1FF"/>
          </a:solidFill>
          <a:ln w="12700">
            <a:solidFill>
              <a:srgbClr val="333333"/>
            </a:solidFill>
            <a:prstDash val="solid"/>
          </a:ln>
        </p:spPr>
      </p:sp>
      <p:sp>
        <p:nvSpPr>
          <p:cNvPr id="6" name="Text 3"/>
          <p:cNvSpPr/>
          <p:nvPr/>
        </p:nvSpPr>
        <p:spPr>
          <a:xfrm>
            <a:off x="7985455" y="457200"/>
            <a:ext cx="3520440" cy="347472"/>
          </a:xfrm>
          <a:prstGeom prst="rect">
            <a:avLst/>
          </a:prstGeom>
          <a:noFill/>
          <a:ln/>
        </p:spPr>
        <p:txBody>
          <a:bodyPr wrap="none" lIns="0" tIns="0" rIns="0" bIns="0" rtlCol="0" anchor="ctr"/>
          <a:lstStyle/>
          <a:p>
            <a:pPr algn="ctr" indent="0" marL="0">
              <a:buNone/>
            </a:pPr>
            <a:r>
              <a:rPr lang="en-US" sz="1100" b="1" dirty="0">
                <a:solidFill>
                  <a:srgbClr val="000000"/>
                </a:solidFill>
                <a:latin typeface="Arial Nova" pitchFamily="34" charset="0"/>
                <a:ea typeface="Arial Nova" pitchFamily="34" charset="-122"/>
                <a:cs typeface="Arial Nova" pitchFamily="34" charset="-120"/>
              </a:rPr>
              <a:t>SECCIÓN 3 · MODEL CARD V0</a:t>
            </a:r>
            <a:endParaRPr lang="en-US" sz="1100" dirty="0"/>
          </a:p>
        </p:txBody>
      </p:sp>
      <p:sp>
        <p:nvSpPr>
          <p:cNvPr id="7" name="Shape 4"/>
          <p:cNvSpPr/>
          <p:nvPr/>
        </p:nvSpPr>
        <p:spPr>
          <a:xfrm>
            <a:off x="685800" y="2331720"/>
            <a:ext cx="5295748" cy="1874520"/>
          </a:xfrm>
          <a:prstGeom prst="rect">
            <a:avLst/>
          </a:prstGeom>
          <a:solidFill>
            <a:srgbClr val="FFFFFF"/>
          </a:solidFill>
          <a:ln w="12700">
            <a:solidFill>
              <a:srgbClr val="BFBFBF"/>
            </a:solidFill>
            <a:prstDash val="solid"/>
          </a:ln>
        </p:spPr>
      </p:sp>
      <p:sp>
        <p:nvSpPr>
          <p:cNvPr id="8" name="Text 5"/>
          <p:cNvSpPr/>
          <p:nvPr/>
        </p:nvSpPr>
        <p:spPr>
          <a:xfrm>
            <a:off x="850392" y="2441448"/>
            <a:ext cx="4966564" cy="329184"/>
          </a:xfrm>
          <a:prstGeom prst="rect">
            <a:avLst/>
          </a:prstGeom>
          <a:noFill/>
          <a:ln/>
        </p:spPr>
        <p:txBody>
          <a:bodyPr wrap="square" lIns="0" tIns="0" rIns="0" bIns="0" rtlCol="0" anchor="t"/>
          <a:lstStyle/>
          <a:p>
            <a:pPr indent="0" marL="0">
              <a:buNone/>
            </a:pPr>
            <a:r>
              <a:rPr lang="en-US" sz="1500" b="1" dirty="0">
                <a:solidFill>
                  <a:srgbClr val="4E4B4C"/>
                </a:solidFill>
                <a:latin typeface="Arial Nova" pitchFamily="34" charset="0"/>
                <a:ea typeface="Arial Nova" pitchFamily="34" charset="-122"/>
                <a:cs typeface="Arial Nova" pitchFamily="34" charset="-120"/>
              </a:rPr>
              <a:t>Qué es</a:t>
            </a:r>
            <a:endParaRPr lang="en-US" sz="1500" dirty="0"/>
          </a:p>
        </p:txBody>
      </p:sp>
      <p:sp>
        <p:nvSpPr>
          <p:cNvPr id="9" name="Text 6"/>
          <p:cNvSpPr/>
          <p:nvPr/>
        </p:nvSpPr>
        <p:spPr>
          <a:xfrm>
            <a:off x="850392" y="2788920"/>
            <a:ext cx="4966564" cy="777240"/>
          </a:xfrm>
          <a:prstGeom prst="rect">
            <a:avLst/>
          </a:prstGeom>
          <a:noFill/>
          <a:ln/>
        </p:spPr>
        <p:txBody>
          <a:bodyPr wrap="square" lIns="0" tIns="0" rIns="0" bIns="0" rtlCol="0" anchor="t"/>
          <a:lstStyle/>
          <a:p>
            <a:pPr indent="0" marL="0">
              <a:spcAft>
                <a:spcPts val="300"/>
              </a:spcAft>
              <a:buNone/>
            </a:pPr>
            <a:r>
              <a:rPr lang="en-US" sz="1100" b="1" i="1" dirty="0">
                <a:solidFill>
                  <a:srgbClr val="7F7F7F"/>
                </a:solidFill>
                <a:latin typeface="Arial Nova Light" pitchFamily="34" charset="0"/>
                <a:ea typeface="Arial Nova Light" pitchFamily="34" charset="-122"/>
                <a:cs typeface="Arial Nova Light" pitchFamily="34" charset="-120"/>
              </a:rPr>
              <a:t>Pista ML: </a:t>
            </a:r>
            <a:pPr indent="0" marL="0">
              <a:spcAft>
                <a:spcPts val="300"/>
              </a:spcAft>
              <a:buNone/>
            </a:pPr>
            <a:r>
              <a:rPr lang="en-US" sz="1100" i="1" dirty="0">
                <a:solidFill>
                  <a:srgbClr val="7F7F7F"/>
                </a:solidFill>
                <a:latin typeface="Arial Nova Light" pitchFamily="34" charset="0"/>
                <a:ea typeface="Arial Nova Light" pitchFamily="34" charset="-122"/>
                <a:cs typeface="Arial Nova Light" pitchFamily="34" charset="-120"/>
              </a:rPr>
              <a:t>Algoritmo, variables principales y versión.</a:t>
            </a:r>
            <a:endParaRPr lang="en-US" sz="1100" dirty="0"/>
          </a:p>
          <a:p>
            <a:pPr indent="0" marL="0">
              <a:spcAft>
                <a:spcPts val="300"/>
              </a:spcAft>
              <a:buNone/>
            </a:pPr>
            <a:r>
              <a:rPr lang="en-US" sz="1100" b="1" i="1" dirty="0">
                <a:solidFill>
                  <a:srgbClr val="7F7F7F"/>
                </a:solidFill>
                <a:latin typeface="Arial Nova Light" pitchFamily="34" charset="0"/>
                <a:ea typeface="Arial Nova Light" pitchFamily="34" charset="-122"/>
                <a:cs typeface="Arial Nova Light" pitchFamily="34" charset="-120"/>
              </a:rPr>
              <a:t>Pista LLM o agente: </a:t>
            </a:r>
            <a:pPr indent="0" marL="0">
              <a:spcAft>
                <a:spcPts val="300"/>
              </a:spcAft>
              <a:buNone/>
            </a:pPr>
            <a:r>
              <a:rPr lang="en-US" sz="1100" i="1" dirty="0">
                <a:solidFill>
                  <a:srgbClr val="7F7F7F"/>
                </a:solidFill>
                <a:latin typeface="Arial Nova Light" pitchFamily="34" charset="0"/>
                <a:ea typeface="Arial Nova Light" pitchFamily="34" charset="-122"/>
                <a:cs typeface="Arial Nova Light" pitchFamily="34" charset="-120"/>
              </a:rPr>
              <a:t>Modelo base y versión; prompt, RAG o herramientas que usa.</a:t>
            </a:r>
            <a:endParaRPr lang="en-US" sz="1100" dirty="0"/>
          </a:p>
        </p:txBody>
      </p:sp>
      <p:sp>
        <p:nvSpPr>
          <p:cNvPr id="10" name="Text 7"/>
          <p:cNvSpPr/>
          <p:nvPr/>
        </p:nvSpPr>
        <p:spPr>
          <a:xfrm>
            <a:off x="850392" y="3639312"/>
            <a:ext cx="4966564" cy="457200"/>
          </a:xfrm>
          <a:prstGeom prst="rect">
            <a:avLst/>
          </a:prstGeom>
          <a:noFill/>
          <a:ln/>
        </p:spPr>
        <p:txBody>
          <a:bodyPr wrap="square" lIns="0" tIns="0" rIns="0" bIns="0" rtlCol="0" anchor="t"/>
          <a:lstStyle/>
          <a:p>
            <a:pPr indent="0" marL="0">
              <a:buNone/>
            </a:pPr>
            <a:r>
              <a:rPr lang="en-US" sz="1300" dirty="0">
                <a:solidFill>
                  <a:srgbClr val="A6A6A6"/>
                </a:solidFill>
                <a:latin typeface="Arial Nova Light" pitchFamily="34" charset="0"/>
                <a:ea typeface="Arial Nova Light" pitchFamily="34" charset="-122"/>
                <a:cs typeface="Arial Nova Light" pitchFamily="34" charset="-120"/>
              </a:rPr>
              <a:t>[Respuesta del equipo]</a:t>
            </a:r>
            <a:endParaRPr lang="en-US" sz="1300" dirty="0"/>
          </a:p>
        </p:txBody>
      </p:sp>
      <p:sp>
        <p:nvSpPr>
          <p:cNvPr id="11" name="Shape 8"/>
          <p:cNvSpPr/>
          <p:nvPr/>
        </p:nvSpPr>
        <p:spPr>
          <a:xfrm>
            <a:off x="6210148" y="2331720"/>
            <a:ext cx="5295748" cy="1874520"/>
          </a:xfrm>
          <a:prstGeom prst="rect">
            <a:avLst/>
          </a:prstGeom>
          <a:solidFill>
            <a:srgbClr val="FFFFFF"/>
          </a:solidFill>
          <a:ln w="12700">
            <a:solidFill>
              <a:srgbClr val="BFBFBF"/>
            </a:solidFill>
            <a:prstDash val="solid"/>
          </a:ln>
        </p:spPr>
      </p:sp>
      <p:sp>
        <p:nvSpPr>
          <p:cNvPr id="12" name="Text 9"/>
          <p:cNvSpPr/>
          <p:nvPr/>
        </p:nvSpPr>
        <p:spPr>
          <a:xfrm>
            <a:off x="6374740" y="2441448"/>
            <a:ext cx="4966564" cy="329184"/>
          </a:xfrm>
          <a:prstGeom prst="rect">
            <a:avLst/>
          </a:prstGeom>
          <a:noFill/>
          <a:ln/>
        </p:spPr>
        <p:txBody>
          <a:bodyPr wrap="square" lIns="0" tIns="0" rIns="0" bIns="0" rtlCol="0" anchor="t"/>
          <a:lstStyle/>
          <a:p>
            <a:pPr indent="0" marL="0">
              <a:buNone/>
            </a:pPr>
            <a:r>
              <a:rPr lang="en-US" sz="1500" b="1" dirty="0">
                <a:solidFill>
                  <a:srgbClr val="4E4B4C"/>
                </a:solidFill>
                <a:latin typeface="Arial Nova" pitchFamily="34" charset="0"/>
                <a:ea typeface="Arial Nova" pitchFamily="34" charset="-122"/>
                <a:cs typeface="Arial Nova" pitchFamily="34" charset="-120"/>
              </a:rPr>
              <a:t>Uso previsto</a:t>
            </a:r>
            <a:endParaRPr lang="en-US" sz="1500" dirty="0"/>
          </a:p>
        </p:txBody>
      </p:sp>
      <p:sp>
        <p:nvSpPr>
          <p:cNvPr id="13" name="Text 10"/>
          <p:cNvSpPr/>
          <p:nvPr/>
        </p:nvSpPr>
        <p:spPr>
          <a:xfrm>
            <a:off x="6374740" y="2788920"/>
            <a:ext cx="4966564" cy="292608"/>
          </a:xfrm>
          <a:prstGeom prst="rect">
            <a:avLst/>
          </a:prstGeom>
          <a:noFill/>
          <a:ln/>
        </p:spPr>
        <p:txBody>
          <a:bodyPr wrap="square" lIns="0" tIns="0" rIns="0" bIns="0" rtlCol="0" anchor="t"/>
          <a:lstStyle/>
          <a:p>
            <a:pPr indent="0" marL="0">
              <a:spcAft>
                <a:spcPts val="300"/>
              </a:spcAft>
              <a:buNone/>
            </a:pPr>
            <a:r>
              <a:rPr lang="en-US" sz="1100" b="1" i="1" dirty="0">
                <a:solidFill>
                  <a:srgbClr val="7F7F7F"/>
                </a:solidFill>
                <a:latin typeface="Arial Nova Light" pitchFamily="34" charset="0"/>
                <a:ea typeface="Arial Nova Light" pitchFamily="34" charset="-122"/>
                <a:cs typeface="Arial Nova Light" pitchFamily="34" charset="-120"/>
              </a:rPr>
              <a:t>Pista: </a:t>
            </a:r>
            <a:pPr indent="0" marL="0">
              <a:spcAft>
                <a:spcPts val="300"/>
              </a:spcAft>
              <a:buNone/>
            </a:pPr>
            <a:r>
              <a:rPr lang="en-US" sz="1100" i="1" dirty="0">
                <a:solidFill>
                  <a:srgbClr val="7F7F7F"/>
                </a:solidFill>
                <a:latin typeface="Arial Nova Light" pitchFamily="34" charset="0"/>
                <a:ea typeface="Arial Nova Light" pitchFamily="34" charset="-122"/>
                <a:cs typeface="Arial Nova Light" pitchFamily="34" charset="-120"/>
              </a:rPr>
              <a:t>Quién lo usa, para qué decisión y en qué momento.</a:t>
            </a:r>
            <a:endParaRPr lang="en-US" sz="1100" dirty="0"/>
          </a:p>
        </p:txBody>
      </p:sp>
      <p:sp>
        <p:nvSpPr>
          <p:cNvPr id="14" name="Text 11"/>
          <p:cNvSpPr/>
          <p:nvPr/>
        </p:nvSpPr>
        <p:spPr>
          <a:xfrm>
            <a:off x="6374740" y="3154680"/>
            <a:ext cx="4966564" cy="941832"/>
          </a:xfrm>
          <a:prstGeom prst="rect">
            <a:avLst/>
          </a:prstGeom>
          <a:noFill/>
          <a:ln/>
        </p:spPr>
        <p:txBody>
          <a:bodyPr wrap="square" lIns="0" tIns="0" rIns="0" bIns="0" rtlCol="0" anchor="t"/>
          <a:lstStyle/>
          <a:p>
            <a:pPr indent="0" marL="0">
              <a:buNone/>
            </a:pPr>
            <a:r>
              <a:rPr lang="en-US" sz="1300" dirty="0">
                <a:solidFill>
                  <a:srgbClr val="A6A6A6"/>
                </a:solidFill>
                <a:latin typeface="Arial Nova Light" pitchFamily="34" charset="0"/>
                <a:ea typeface="Arial Nova Light" pitchFamily="34" charset="-122"/>
                <a:cs typeface="Arial Nova Light" pitchFamily="34" charset="-120"/>
              </a:rPr>
              <a:t>[Respuesta del equipo]</a:t>
            </a:r>
            <a:endParaRPr lang="en-US" sz="1300" dirty="0"/>
          </a:p>
        </p:txBody>
      </p:sp>
      <p:sp>
        <p:nvSpPr>
          <p:cNvPr id="15" name="Shape 12"/>
          <p:cNvSpPr/>
          <p:nvPr/>
        </p:nvSpPr>
        <p:spPr>
          <a:xfrm>
            <a:off x="685800" y="4343400"/>
            <a:ext cx="5295748" cy="1874520"/>
          </a:xfrm>
          <a:prstGeom prst="rect">
            <a:avLst/>
          </a:prstGeom>
          <a:solidFill>
            <a:srgbClr val="FFFFFF"/>
          </a:solidFill>
          <a:ln w="12700">
            <a:solidFill>
              <a:srgbClr val="BFBFBF"/>
            </a:solidFill>
            <a:prstDash val="solid"/>
          </a:ln>
        </p:spPr>
      </p:sp>
      <p:sp>
        <p:nvSpPr>
          <p:cNvPr id="16" name="Text 13"/>
          <p:cNvSpPr/>
          <p:nvPr/>
        </p:nvSpPr>
        <p:spPr>
          <a:xfrm>
            <a:off x="850392" y="4453128"/>
            <a:ext cx="4966564" cy="329184"/>
          </a:xfrm>
          <a:prstGeom prst="rect">
            <a:avLst/>
          </a:prstGeom>
          <a:noFill/>
          <a:ln/>
        </p:spPr>
        <p:txBody>
          <a:bodyPr wrap="square" lIns="0" tIns="0" rIns="0" bIns="0" rtlCol="0" anchor="t"/>
          <a:lstStyle/>
          <a:p>
            <a:pPr indent="0" marL="0">
              <a:buNone/>
            </a:pPr>
            <a:r>
              <a:rPr lang="en-US" sz="1500" b="1" dirty="0">
                <a:solidFill>
                  <a:srgbClr val="4E4B4C"/>
                </a:solidFill>
                <a:latin typeface="Arial Nova" pitchFamily="34" charset="0"/>
                <a:ea typeface="Arial Nova" pitchFamily="34" charset="-122"/>
                <a:cs typeface="Arial Nova" pitchFamily="34" charset="-120"/>
              </a:rPr>
              <a:t>Uso no previsto</a:t>
            </a:r>
            <a:endParaRPr lang="en-US" sz="1500" dirty="0"/>
          </a:p>
        </p:txBody>
      </p:sp>
      <p:sp>
        <p:nvSpPr>
          <p:cNvPr id="17" name="Text 14"/>
          <p:cNvSpPr/>
          <p:nvPr/>
        </p:nvSpPr>
        <p:spPr>
          <a:xfrm>
            <a:off x="850392" y="4800600"/>
            <a:ext cx="4966564" cy="292608"/>
          </a:xfrm>
          <a:prstGeom prst="rect">
            <a:avLst/>
          </a:prstGeom>
          <a:noFill/>
          <a:ln/>
        </p:spPr>
        <p:txBody>
          <a:bodyPr wrap="square" lIns="0" tIns="0" rIns="0" bIns="0" rtlCol="0" anchor="t"/>
          <a:lstStyle/>
          <a:p>
            <a:pPr indent="0" marL="0">
              <a:spcAft>
                <a:spcPts val="300"/>
              </a:spcAft>
              <a:buNone/>
            </a:pPr>
            <a:r>
              <a:rPr lang="en-US" sz="1100" b="1" i="1" dirty="0">
                <a:solidFill>
                  <a:srgbClr val="7F7F7F"/>
                </a:solidFill>
                <a:latin typeface="Arial Nova Light" pitchFamily="34" charset="0"/>
                <a:ea typeface="Arial Nova Light" pitchFamily="34" charset="-122"/>
                <a:cs typeface="Arial Nova Light" pitchFamily="34" charset="-120"/>
              </a:rPr>
              <a:t>Pista: </a:t>
            </a:r>
            <a:pPr indent="0" marL="0">
              <a:spcAft>
                <a:spcPts val="300"/>
              </a:spcAft>
              <a:buNone/>
            </a:pPr>
            <a:r>
              <a:rPr lang="en-US" sz="1100" i="1" dirty="0">
                <a:solidFill>
                  <a:srgbClr val="7F7F7F"/>
                </a:solidFill>
                <a:latin typeface="Arial Nova Light" pitchFamily="34" charset="0"/>
                <a:ea typeface="Arial Nova Light" pitchFamily="34" charset="-122"/>
                <a:cs typeface="Arial Nova Light" pitchFamily="34" charset="-120"/>
              </a:rPr>
              <a:t>Para qué NO debe usarse, y por qué.</a:t>
            </a:r>
            <a:endParaRPr lang="en-US" sz="1100" dirty="0"/>
          </a:p>
        </p:txBody>
      </p:sp>
      <p:sp>
        <p:nvSpPr>
          <p:cNvPr id="18" name="Text 15"/>
          <p:cNvSpPr/>
          <p:nvPr/>
        </p:nvSpPr>
        <p:spPr>
          <a:xfrm>
            <a:off x="850392" y="5166360"/>
            <a:ext cx="4966564" cy="941832"/>
          </a:xfrm>
          <a:prstGeom prst="rect">
            <a:avLst/>
          </a:prstGeom>
          <a:noFill/>
          <a:ln/>
        </p:spPr>
        <p:txBody>
          <a:bodyPr wrap="square" lIns="0" tIns="0" rIns="0" bIns="0" rtlCol="0" anchor="t"/>
          <a:lstStyle/>
          <a:p>
            <a:pPr indent="0" marL="0">
              <a:buNone/>
            </a:pPr>
            <a:r>
              <a:rPr lang="en-US" sz="1300" dirty="0">
                <a:solidFill>
                  <a:srgbClr val="A6A6A6"/>
                </a:solidFill>
                <a:latin typeface="Arial Nova Light" pitchFamily="34" charset="0"/>
                <a:ea typeface="Arial Nova Light" pitchFamily="34" charset="-122"/>
                <a:cs typeface="Arial Nova Light" pitchFamily="34" charset="-120"/>
              </a:rPr>
              <a:t>[Respuesta del equipo]</a:t>
            </a:r>
            <a:endParaRPr lang="en-US" sz="1300" dirty="0"/>
          </a:p>
        </p:txBody>
      </p:sp>
      <p:sp>
        <p:nvSpPr>
          <p:cNvPr id="19" name="Shape 16"/>
          <p:cNvSpPr/>
          <p:nvPr/>
        </p:nvSpPr>
        <p:spPr>
          <a:xfrm>
            <a:off x="6210148" y="4343400"/>
            <a:ext cx="5295748" cy="1874520"/>
          </a:xfrm>
          <a:prstGeom prst="rect">
            <a:avLst/>
          </a:prstGeom>
          <a:solidFill>
            <a:srgbClr val="FFFFFF"/>
          </a:solidFill>
          <a:ln w="12700">
            <a:solidFill>
              <a:srgbClr val="BFBFBF"/>
            </a:solidFill>
            <a:prstDash val="solid"/>
          </a:ln>
        </p:spPr>
      </p:sp>
      <p:sp>
        <p:nvSpPr>
          <p:cNvPr id="20" name="Text 17"/>
          <p:cNvSpPr/>
          <p:nvPr/>
        </p:nvSpPr>
        <p:spPr>
          <a:xfrm>
            <a:off x="6374740" y="4453128"/>
            <a:ext cx="4966564" cy="329184"/>
          </a:xfrm>
          <a:prstGeom prst="rect">
            <a:avLst/>
          </a:prstGeom>
          <a:noFill/>
          <a:ln/>
        </p:spPr>
        <p:txBody>
          <a:bodyPr wrap="square" lIns="0" tIns="0" rIns="0" bIns="0" rtlCol="0" anchor="t"/>
          <a:lstStyle/>
          <a:p>
            <a:pPr indent="0" marL="0">
              <a:buNone/>
            </a:pPr>
            <a:r>
              <a:rPr lang="en-US" sz="1500" b="1" dirty="0">
                <a:solidFill>
                  <a:srgbClr val="4E4B4C"/>
                </a:solidFill>
                <a:latin typeface="Arial Nova" pitchFamily="34" charset="0"/>
                <a:ea typeface="Arial Nova" pitchFamily="34" charset="-122"/>
                <a:cs typeface="Arial Nova" pitchFamily="34" charset="-120"/>
              </a:rPr>
              <a:t>Datos</a:t>
            </a:r>
            <a:endParaRPr lang="en-US" sz="1500" dirty="0"/>
          </a:p>
        </p:txBody>
      </p:sp>
      <p:sp>
        <p:nvSpPr>
          <p:cNvPr id="21" name="Text 18"/>
          <p:cNvSpPr/>
          <p:nvPr/>
        </p:nvSpPr>
        <p:spPr>
          <a:xfrm>
            <a:off x="6374740" y="4800600"/>
            <a:ext cx="4966564" cy="777240"/>
          </a:xfrm>
          <a:prstGeom prst="rect">
            <a:avLst/>
          </a:prstGeom>
          <a:noFill/>
          <a:ln/>
        </p:spPr>
        <p:txBody>
          <a:bodyPr wrap="square" lIns="0" tIns="0" rIns="0" bIns="0" rtlCol="0" anchor="t"/>
          <a:lstStyle/>
          <a:p>
            <a:pPr indent="0" marL="0">
              <a:spcAft>
                <a:spcPts val="300"/>
              </a:spcAft>
              <a:buNone/>
            </a:pPr>
            <a:r>
              <a:rPr lang="en-US" sz="1100" b="1" i="1" dirty="0">
                <a:solidFill>
                  <a:srgbClr val="7F7F7F"/>
                </a:solidFill>
                <a:latin typeface="Arial Nova Light" pitchFamily="34" charset="0"/>
                <a:ea typeface="Arial Nova Light" pitchFamily="34" charset="-122"/>
                <a:cs typeface="Arial Nova Light" pitchFamily="34" charset="-120"/>
              </a:rPr>
              <a:t>Pista ML: </a:t>
            </a:r>
            <a:pPr indent="0" marL="0">
              <a:spcAft>
                <a:spcPts val="300"/>
              </a:spcAft>
              <a:buNone/>
            </a:pPr>
            <a:r>
              <a:rPr lang="en-US" sz="1100" i="1" dirty="0">
                <a:solidFill>
                  <a:srgbClr val="7F7F7F"/>
                </a:solidFill>
                <a:latin typeface="Arial Nova Light" pitchFamily="34" charset="0"/>
                <a:ea typeface="Arial Nova Light" pitchFamily="34" charset="-122"/>
                <a:cs typeface="Arial Nova Light" pitchFamily="34" charset="-120"/>
              </a:rPr>
              <a:t>Datos de entrenamiento y de prueba: periodo y tamaño. Remitir al datasheet del E4.</a:t>
            </a:r>
            <a:endParaRPr lang="en-US" sz="1100" dirty="0"/>
          </a:p>
          <a:p>
            <a:pPr indent="0" marL="0">
              <a:spcAft>
                <a:spcPts val="300"/>
              </a:spcAft>
              <a:buNone/>
            </a:pPr>
            <a:r>
              <a:rPr lang="en-US" sz="1100" b="1" i="1" dirty="0">
                <a:solidFill>
                  <a:srgbClr val="7F7F7F"/>
                </a:solidFill>
                <a:latin typeface="Arial Nova Light" pitchFamily="34" charset="0"/>
                <a:ea typeface="Arial Nova Light" pitchFamily="34" charset="-122"/>
                <a:cs typeface="Arial Nova Light" pitchFamily="34" charset="-120"/>
              </a:rPr>
              <a:t>Pista LLM o agente: </a:t>
            </a:r>
            <a:pPr indent="0" marL="0">
              <a:spcAft>
                <a:spcPts val="300"/>
              </a:spcAft>
              <a:buNone/>
            </a:pPr>
            <a:r>
              <a:rPr lang="en-US" sz="1100" i="1" dirty="0">
                <a:solidFill>
                  <a:srgbClr val="7F7F7F"/>
                </a:solidFill>
                <a:latin typeface="Arial Nova Light" pitchFamily="34" charset="0"/>
                <a:ea typeface="Arial Nova Light" pitchFamily="34" charset="-122"/>
                <a:cs typeface="Arial Nova Light" pitchFamily="34" charset="-120"/>
              </a:rPr>
              <a:t>Base de conocimiento o documentos que consulta y su fecha de corte.</a:t>
            </a:r>
            <a:endParaRPr lang="en-US" sz="1100" dirty="0"/>
          </a:p>
        </p:txBody>
      </p:sp>
      <p:sp>
        <p:nvSpPr>
          <p:cNvPr id="22" name="Text 19"/>
          <p:cNvSpPr/>
          <p:nvPr/>
        </p:nvSpPr>
        <p:spPr>
          <a:xfrm>
            <a:off x="6374740" y="5650992"/>
            <a:ext cx="4966564" cy="457200"/>
          </a:xfrm>
          <a:prstGeom prst="rect">
            <a:avLst/>
          </a:prstGeom>
          <a:noFill/>
          <a:ln/>
        </p:spPr>
        <p:txBody>
          <a:bodyPr wrap="square" lIns="0" tIns="0" rIns="0" bIns="0" rtlCol="0" anchor="t"/>
          <a:lstStyle/>
          <a:p>
            <a:pPr indent="0" marL="0">
              <a:buNone/>
            </a:pPr>
            <a:r>
              <a:rPr lang="en-US" sz="1300" dirty="0">
                <a:solidFill>
                  <a:srgbClr val="A6A6A6"/>
                </a:solidFill>
                <a:latin typeface="Arial Nova Light" pitchFamily="34" charset="0"/>
                <a:ea typeface="Arial Nova Light" pitchFamily="34" charset="-122"/>
                <a:cs typeface="Arial Nova Light" pitchFamily="34" charset="-120"/>
              </a:rPr>
              <a:t>[Respuesta del equipo]</a:t>
            </a:r>
            <a:endParaRPr lang="en-US" sz="1300" dirty="0"/>
          </a:p>
        </p:txBody>
      </p:sp>
      <p:sp>
        <p:nvSpPr>
          <p:cNvPr id="23" name="Text 20"/>
          <p:cNvSpPr/>
          <p:nvPr/>
        </p:nvSpPr>
        <p:spPr>
          <a:xfrm>
            <a:off x="8762695" y="6400800"/>
            <a:ext cx="2743200" cy="274320"/>
          </a:xfrm>
          <a:prstGeom prst="rect">
            <a:avLst/>
          </a:prstGeom>
          <a:noFill/>
          <a:ln/>
        </p:spPr>
        <p:txBody>
          <a:bodyPr wrap="square" lIns="0" tIns="0" rIns="0" bIns="0" rtlCol="0" anchor="ctr"/>
          <a:lstStyle/>
          <a:p>
            <a:pPr algn="r" indent="0" marL="0">
              <a:buNone/>
            </a:pPr>
            <a:r>
              <a:rPr lang="en-US" sz="1000" dirty="0">
                <a:solidFill>
                  <a:srgbClr val="666666"/>
                </a:solidFill>
                <a:latin typeface="Arial Nova Light" pitchFamily="34" charset="0"/>
                <a:ea typeface="Arial Nova Light" pitchFamily="34" charset="-122"/>
                <a:cs typeface="Arial Nova Light" pitchFamily="34" charset="-120"/>
              </a:rPr>
              <a:t>E5 · Equipo N.º ____</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4E4E4"/>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48640" y="384048"/>
            <a:ext cx="2194560" cy="429768"/>
          </a:xfrm>
          <a:prstGeom prst="rect">
            <a:avLst/>
          </a:prstGeom>
        </p:spPr>
      </p:pic>
      <p:sp>
        <p:nvSpPr>
          <p:cNvPr id="3" name="Text 0"/>
          <p:cNvSpPr/>
          <p:nvPr/>
        </p:nvSpPr>
        <p:spPr>
          <a:xfrm>
            <a:off x="685800" y="1097280"/>
            <a:ext cx="10820095" cy="685800"/>
          </a:xfrm>
          <a:prstGeom prst="rect">
            <a:avLst/>
          </a:prstGeom>
          <a:noFill/>
          <a:ln/>
        </p:spPr>
        <p:txBody>
          <a:bodyPr wrap="square" lIns="0" tIns="0" rIns="0" bIns="0" rtlCol="0" anchor="t"/>
          <a:lstStyle/>
          <a:p>
            <a:pPr indent="0" marL="0">
              <a:buNone/>
            </a:pPr>
            <a:r>
              <a:rPr lang="en-US" sz="3000" b="1" dirty="0">
                <a:solidFill>
                  <a:srgbClr val="4E4B4C"/>
                </a:solidFill>
                <a:latin typeface="Arial Nova" pitchFamily="34" charset="0"/>
                <a:ea typeface="Arial Nova" pitchFamily="34" charset="-122"/>
                <a:cs typeface="Arial Nova" pitchFamily="34" charset="-120"/>
              </a:rPr>
              <a:t>Model Card v0 (2/2)</a:t>
            </a:r>
            <a:endParaRPr lang="en-US" sz="3000" dirty="0"/>
          </a:p>
        </p:txBody>
      </p:sp>
      <p:sp>
        <p:nvSpPr>
          <p:cNvPr id="4" name="Shape 1"/>
          <p:cNvSpPr/>
          <p:nvPr/>
        </p:nvSpPr>
        <p:spPr>
          <a:xfrm>
            <a:off x="7985455" y="457200"/>
            <a:ext cx="3520440" cy="347472"/>
          </a:xfrm>
          <a:prstGeom prst="rect">
            <a:avLst/>
          </a:prstGeom>
          <a:solidFill>
            <a:srgbClr val="00E1FF"/>
          </a:solidFill>
          <a:ln w="12700">
            <a:solidFill>
              <a:srgbClr val="333333"/>
            </a:solidFill>
            <a:prstDash val="solid"/>
          </a:ln>
        </p:spPr>
      </p:sp>
      <p:sp>
        <p:nvSpPr>
          <p:cNvPr id="5" name="Text 2"/>
          <p:cNvSpPr/>
          <p:nvPr/>
        </p:nvSpPr>
        <p:spPr>
          <a:xfrm>
            <a:off x="7985455" y="457200"/>
            <a:ext cx="3520440" cy="347472"/>
          </a:xfrm>
          <a:prstGeom prst="rect">
            <a:avLst/>
          </a:prstGeom>
          <a:noFill/>
          <a:ln/>
        </p:spPr>
        <p:txBody>
          <a:bodyPr wrap="none" lIns="0" tIns="0" rIns="0" bIns="0" rtlCol="0" anchor="ctr"/>
          <a:lstStyle/>
          <a:p>
            <a:pPr algn="ctr" indent="0" marL="0">
              <a:buNone/>
            </a:pPr>
            <a:r>
              <a:rPr lang="en-US" sz="1100" b="1" dirty="0">
                <a:solidFill>
                  <a:srgbClr val="000000"/>
                </a:solidFill>
                <a:latin typeface="Arial Nova" pitchFamily="34" charset="0"/>
                <a:ea typeface="Arial Nova" pitchFamily="34" charset="-122"/>
                <a:cs typeface="Arial Nova" pitchFamily="34" charset="-120"/>
              </a:rPr>
              <a:t>SECCIÓN 3 · MODEL CARD V0</a:t>
            </a:r>
            <a:endParaRPr lang="en-US" sz="1100" dirty="0"/>
          </a:p>
        </p:txBody>
      </p:sp>
      <p:sp>
        <p:nvSpPr>
          <p:cNvPr id="6" name="Shape 3"/>
          <p:cNvSpPr/>
          <p:nvPr/>
        </p:nvSpPr>
        <p:spPr>
          <a:xfrm>
            <a:off x="685800" y="1920240"/>
            <a:ext cx="5295748" cy="2075688"/>
          </a:xfrm>
          <a:prstGeom prst="rect">
            <a:avLst/>
          </a:prstGeom>
          <a:solidFill>
            <a:srgbClr val="FFFFFF"/>
          </a:solidFill>
          <a:ln w="12700">
            <a:solidFill>
              <a:srgbClr val="BFBFBF"/>
            </a:solidFill>
            <a:prstDash val="solid"/>
          </a:ln>
        </p:spPr>
      </p:sp>
      <p:sp>
        <p:nvSpPr>
          <p:cNvPr id="7" name="Text 4"/>
          <p:cNvSpPr/>
          <p:nvPr/>
        </p:nvSpPr>
        <p:spPr>
          <a:xfrm>
            <a:off x="850392" y="2029968"/>
            <a:ext cx="4966564" cy="329184"/>
          </a:xfrm>
          <a:prstGeom prst="rect">
            <a:avLst/>
          </a:prstGeom>
          <a:noFill/>
          <a:ln/>
        </p:spPr>
        <p:txBody>
          <a:bodyPr wrap="square" lIns="0" tIns="0" rIns="0" bIns="0" rtlCol="0" anchor="t"/>
          <a:lstStyle/>
          <a:p>
            <a:pPr indent="0" marL="0">
              <a:buNone/>
            </a:pPr>
            <a:r>
              <a:rPr lang="en-US" sz="1500" b="1" dirty="0">
                <a:solidFill>
                  <a:srgbClr val="4E4B4C"/>
                </a:solidFill>
                <a:latin typeface="Arial Nova" pitchFamily="34" charset="0"/>
                <a:ea typeface="Arial Nova" pitchFamily="34" charset="-122"/>
                <a:cs typeface="Arial Nova" pitchFamily="34" charset="-120"/>
              </a:rPr>
              <a:t>Resultados</a:t>
            </a:r>
            <a:endParaRPr lang="en-US" sz="1500" dirty="0"/>
          </a:p>
        </p:txBody>
      </p:sp>
      <p:sp>
        <p:nvSpPr>
          <p:cNvPr id="8" name="Text 5"/>
          <p:cNvSpPr/>
          <p:nvPr/>
        </p:nvSpPr>
        <p:spPr>
          <a:xfrm>
            <a:off x="850392" y="2377440"/>
            <a:ext cx="4966564" cy="292608"/>
          </a:xfrm>
          <a:prstGeom prst="rect">
            <a:avLst/>
          </a:prstGeom>
          <a:noFill/>
          <a:ln/>
        </p:spPr>
        <p:txBody>
          <a:bodyPr wrap="square" lIns="0" tIns="0" rIns="0" bIns="0" rtlCol="0" anchor="t"/>
          <a:lstStyle/>
          <a:p>
            <a:pPr indent="0" marL="0">
              <a:spcAft>
                <a:spcPts val="300"/>
              </a:spcAft>
              <a:buNone/>
            </a:pPr>
            <a:r>
              <a:rPr lang="en-US" sz="1100" b="1" i="1" dirty="0">
                <a:solidFill>
                  <a:srgbClr val="7F7F7F"/>
                </a:solidFill>
                <a:latin typeface="Arial Nova Light" pitchFamily="34" charset="0"/>
                <a:ea typeface="Arial Nova Light" pitchFamily="34" charset="-122"/>
                <a:cs typeface="Arial Nova Light" pitchFamily="34" charset="-120"/>
              </a:rPr>
              <a:t>Pista: </a:t>
            </a:r>
            <a:pPr indent="0" marL="0">
              <a:spcAft>
                <a:spcPts val="300"/>
              </a:spcAft>
              <a:buNone/>
            </a:pPr>
            <a:r>
              <a:rPr lang="en-US" sz="1100" i="1" dirty="0">
                <a:solidFill>
                  <a:srgbClr val="7F7F7F"/>
                </a:solidFill>
                <a:latin typeface="Arial Nova Light" pitchFamily="34" charset="0"/>
                <a:ea typeface="Arial Nova Light" pitchFamily="34" charset="-122"/>
                <a:cs typeface="Arial Nova Light" pitchFamily="34" charset="-120"/>
              </a:rPr>
              <a:t>Resumen de la sección 2: métrica principal con su rango y el segmento más débil.</a:t>
            </a:r>
            <a:endParaRPr lang="en-US" sz="1100" dirty="0"/>
          </a:p>
        </p:txBody>
      </p:sp>
      <p:sp>
        <p:nvSpPr>
          <p:cNvPr id="9" name="Text 6"/>
          <p:cNvSpPr/>
          <p:nvPr/>
        </p:nvSpPr>
        <p:spPr>
          <a:xfrm>
            <a:off x="850392" y="2743200"/>
            <a:ext cx="4966564" cy="1143000"/>
          </a:xfrm>
          <a:prstGeom prst="rect">
            <a:avLst/>
          </a:prstGeom>
          <a:noFill/>
          <a:ln/>
        </p:spPr>
        <p:txBody>
          <a:bodyPr wrap="square" lIns="0" tIns="0" rIns="0" bIns="0" rtlCol="0" anchor="t"/>
          <a:lstStyle/>
          <a:p>
            <a:pPr indent="0" marL="0">
              <a:buNone/>
            </a:pPr>
            <a:r>
              <a:rPr lang="en-US" sz="1300" dirty="0">
                <a:solidFill>
                  <a:srgbClr val="A6A6A6"/>
                </a:solidFill>
                <a:latin typeface="Arial Nova Light" pitchFamily="34" charset="0"/>
                <a:ea typeface="Arial Nova Light" pitchFamily="34" charset="-122"/>
                <a:cs typeface="Arial Nova Light" pitchFamily="34" charset="-120"/>
              </a:rPr>
              <a:t>[Respuesta del equipo]</a:t>
            </a:r>
            <a:endParaRPr lang="en-US" sz="1300" dirty="0"/>
          </a:p>
        </p:txBody>
      </p:sp>
      <p:sp>
        <p:nvSpPr>
          <p:cNvPr id="10" name="Shape 7"/>
          <p:cNvSpPr/>
          <p:nvPr/>
        </p:nvSpPr>
        <p:spPr>
          <a:xfrm>
            <a:off x="6210148" y="1920240"/>
            <a:ext cx="5295748" cy="2075688"/>
          </a:xfrm>
          <a:prstGeom prst="rect">
            <a:avLst/>
          </a:prstGeom>
          <a:solidFill>
            <a:srgbClr val="FFFFFF"/>
          </a:solidFill>
          <a:ln w="12700">
            <a:solidFill>
              <a:srgbClr val="BFBFBF"/>
            </a:solidFill>
            <a:prstDash val="solid"/>
          </a:ln>
        </p:spPr>
      </p:sp>
      <p:sp>
        <p:nvSpPr>
          <p:cNvPr id="11" name="Text 8"/>
          <p:cNvSpPr/>
          <p:nvPr/>
        </p:nvSpPr>
        <p:spPr>
          <a:xfrm>
            <a:off x="6374740" y="2029968"/>
            <a:ext cx="4966564" cy="329184"/>
          </a:xfrm>
          <a:prstGeom prst="rect">
            <a:avLst/>
          </a:prstGeom>
          <a:noFill/>
          <a:ln/>
        </p:spPr>
        <p:txBody>
          <a:bodyPr wrap="square" lIns="0" tIns="0" rIns="0" bIns="0" rtlCol="0" anchor="t"/>
          <a:lstStyle/>
          <a:p>
            <a:pPr indent="0" marL="0">
              <a:buNone/>
            </a:pPr>
            <a:r>
              <a:rPr lang="en-US" sz="1500" b="1" dirty="0">
                <a:solidFill>
                  <a:srgbClr val="4E4B4C"/>
                </a:solidFill>
                <a:latin typeface="Arial Nova" pitchFamily="34" charset="0"/>
                <a:ea typeface="Arial Nova" pitchFamily="34" charset="-122"/>
                <a:cs typeface="Arial Nova" pitchFamily="34" charset="-120"/>
              </a:rPr>
              <a:t>Cómo se evaluó</a:t>
            </a:r>
            <a:endParaRPr lang="en-US" sz="1500" dirty="0"/>
          </a:p>
        </p:txBody>
      </p:sp>
      <p:sp>
        <p:nvSpPr>
          <p:cNvPr id="12" name="Text 9"/>
          <p:cNvSpPr/>
          <p:nvPr/>
        </p:nvSpPr>
        <p:spPr>
          <a:xfrm>
            <a:off x="6374740" y="2377440"/>
            <a:ext cx="4966564" cy="777240"/>
          </a:xfrm>
          <a:prstGeom prst="rect">
            <a:avLst/>
          </a:prstGeom>
          <a:noFill/>
          <a:ln/>
        </p:spPr>
        <p:txBody>
          <a:bodyPr wrap="square" lIns="0" tIns="0" rIns="0" bIns="0" rtlCol="0" anchor="t"/>
          <a:lstStyle/>
          <a:p>
            <a:pPr indent="0" marL="0">
              <a:spcAft>
                <a:spcPts val="300"/>
              </a:spcAft>
              <a:buNone/>
            </a:pPr>
            <a:r>
              <a:rPr lang="en-US" sz="1100" b="1" i="1" dirty="0">
                <a:solidFill>
                  <a:srgbClr val="7F7F7F"/>
                </a:solidFill>
                <a:latin typeface="Arial Nova Light" pitchFamily="34" charset="0"/>
                <a:ea typeface="Arial Nova Light" pitchFamily="34" charset="-122"/>
                <a:cs typeface="Arial Nova Light" pitchFamily="34" charset="-120"/>
              </a:rPr>
              <a:t>Pista ML: </a:t>
            </a:r>
            <a:pPr indent="0" marL="0">
              <a:spcAft>
                <a:spcPts val="300"/>
              </a:spcAft>
              <a:buNone/>
            </a:pPr>
            <a:r>
              <a:rPr lang="en-US" sz="1100" i="1" dirty="0">
                <a:solidFill>
                  <a:srgbClr val="7F7F7F"/>
                </a:solidFill>
                <a:latin typeface="Arial Nova Light" pitchFamily="34" charset="0"/>
                <a:ea typeface="Arial Nova Light" pitchFamily="34" charset="-122"/>
                <a:cs typeface="Arial Nova Light" pitchFamily="34" charset="-120"/>
              </a:rPr>
              <a:t>Datos de prueba y métrica usada.</a:t>
            </a:r>
            <a:endParaRPr lang="en-US" sz="1100" dirty="0"/>
          </a:p>
          <a:p>
            <a:pPr indent="0" marL="0">
              <a:spcAft>
                <a:spcPts val="300"/>
              </a:spcAft>
              <a:buNone/>
            </a:pPr>
            <a:r>
              <a:rPr lang="en-US" sz="1100" b="1" i="1" dirty="0">
                <a:solidFill>
                  <a:srgbClr val="7F7F7F"/>
                </a:solidFill>
                <a:latin typeface="Arial Nova Light" pitchFamily="34" charset="0"/>
                <a:ea typeface="Arial Nova Light" pitchFamily="34" charset="-122"/>
                <a:cs typeface="Arial Nova Light" pitchFamily="34" charset="-120"/>
              </a:rPr>
              <a:t>Pista LLM o agente: </a:t>
            </a:r>
            <a:pPr indent="0" marL="0">
              <a:spcAft>
                <a:spcPts val="300"/>
              </a:spcAft>
              <a:buNone/>
            </a:pPr>
            <a:r>
              <a:rPr lang="en-US" sz="1100" i="1" dirty="0">
                <a:solidFill>
                  <a:srgbClr val="7F7F7F"/>
                </a:solidFill>
                <a:latin typeface="Arial Nova Light" pitchFamily="34" charset="0"/>
                <a:ea typeface="Arial Nova Light" pitchFamily="34" charset="-122"/>
                <a:cs typeface="Arial Nova Light" pitchFamily="34" charset="-120"/>
              </a:rPr>
              <a:t>Rúbrica de calidad, quién evaluó y acuerdo (κ), o cómo se validó el LLM juez.</a:t>
            </a:r>
            <a:endParaRPr lang="en-US" sz="1100" dirty="0"/>
          </a:p>
        </p:txBody>
      </p:sp>
      <p:sp>
        <p:nvSpPr>
          <p:cNvPr id="13" name="Text 10"/>
          <p:cNvSpPr/>
          <p:nvPr/>
        </p:nvSpPr>
        <p:spPr>
          <a:xfrm>
            <a:off x="6374740" y="3227832"/>
            <a:ext cx="4966564" cy="658368"/>
          </a:xfrm>
          <a:prstGeom prst="rect">
            <a:avLst/>
          </a:prstGeom>
          <a:noFill/>
          <a:ln/>
        </p:spPr>
        <p:txBody>
          <a:bodyPr wrap="square" lIns="0" tIns="0" rIns="0" bIns="0" rtlCol="0" anchor="t"/>
          <a:lstStyle/>
          <a:p>
            <a:pPr indent="0" marL="0">
              <a:buNone/>
            </a:pPr>
            <a:r>
              <a:rPr lang="en-US" sz="1300" dirty="0">
                <a:solidFill>
                  <a:srgbClr val="A6A6A6"/>
                </a:solidFill>
                <a:latin typeface="Arial Nova Light" pitchFamily="34" charset="0"/>
                <a:ea typeface="Arial Nova Light" pitchFamily="34" charset="-122"/>
                <a:cs typeface="Arial Nova Light" pitchFamily="34" charset="-120"/>
              </a:rPr>
              <a:t>[Respuesta del equipo]</a:t>
            </a:r>
            <a:endParaRPr lang="en-US" sz="1300" dirty="0"/>
          </a:p>
        </p:txBody>
      </p:sp>
      <p:sp>
        <p:nvSpPr>
          <p:cNvPr id="14" name="Shape 11"/>
          <p:cNvSpPr/>
          <p:nvPr/>
        </p:nvSpPr>
        <p:spPr>
          <a:xfrm>
            <a:off x="685800" y="4133088"/>
            <a:ext cx="5295748" cy="2075688"/>
          </a:xfrm>
          <a:prstGeom prst="rect">
            <a:avLst/>
          </a:prstGeom>
          <a:solidFill>
            <a:srgbClr val="FFFFFF"/>
          </a:solidFill>
          <a:ln w="12700">
            <a:solidFill>
              <a:srgbClr val="BFBFBF"/>
            </a:solidFill>
            <a:prstDash val="solid"/>
          </a:ln>
        </p:spPr>
      </p:sp>
      <p:sp>
        <p:nvSpPr>
          <p:cNvPr id="15" name="Text 12"/>
          <p:cNvSpPr/>
          <p:nvPr/>
        </p:nvSpPr>
        <p:spPr>
          <a:xfrm>
            <a:off x="850392" y="4242816"/>
            <a:ext cx="4966564" cy="329184"/>
          </a:xfrm>
          <a:prstGeom prst="rect">
            <a:avLst/>
          </a:prstGeom>
          <a:noFill/>
          <a:ln/>
        </p:spPr>
        <p:txBody>
          <a:bodyPr wrap="square" lIns="0" tIns="0" rIns="0" bIns="0" rtlCol="0" anchor="t"/>
          <a:lstStyle/>
          <a:p>
            <a:pPr indent="0" marL="0">
              <a:buNone/>
            </a:pPr>
            <a:r>
              <a:rPr lang="en-US" sz="1500" b="1" dirty="0">
                <a:solidFill>
                  <a:srgbClr val="4E4B4C"/>
                </a:solidFill>
                <a:latin typeface="Arial Nova" pitchFamily="34" charset="0"/>
                <a:ea typeface="Arial Nova" pitchFamily="34" charset="-122"/>
                <a:cs typeface="Arial Nova" pitchFamily="34" charset="-120"/>
              </a:rPr>
              <a:t>Limitaciones</a:t>
            </a:r>
            <a:endParaRPr lang="en-US" sz="1500" dirty="0"/>
          </a:p>
        </p:txBody>
      </p:sp>
      <p:sp>
        <p:nvSpPr>
          <p:cNvPr id="16" name="Text 13"/>
          <p:cNvSpPr/>
          <p:nvPr/>
        </p:nvSpPr>
        <p:spPr>
          <a:xfrm>
            <a:off x="850392" y="4590288"/>
            <a:ext cx="4966564" cy="292608"/>
          </a:xfrm>
          <a:prstGeom prst="rect">
            <a:avLst/>
          </a:prstGeom>
          <a:noFill/>
          <a:ln/>
        </p:spPr>
        <p:txBody>
          <a:bodyPr wrap="square" lIns="0" tIns="0" rIns="0" bIns="0" rtlCol="0" anchor="t"/>
          <a:lstStyle/>
          <a:p>
            <a:pPr indent="0" marL="0">
              <a:spcAft>
                <a:spcPts val="300"/>
              </a:spcAft>
              <a:buNone/>
            </a:pPr>
            <a:r>
              <a:rPr lang="en-US" sz="1100" b="1" i="1" dirty="0">
                <a:solidFill>
                  <a:srgbClr val="7F7F7F"/>
                </a:solidFill>
                <a:latin typeface="Arial Nova Light" pitchFamily="34" charset="0"/>
                <a:ea typeface="Arial Nova Light" pitchFamily="34" charset="-122"/>
                <a:cs typeface="Arial Nova Light" pitchFamily="34" charset="-120"/>
              </a:rPr>
              <a:t>Pista: </a:t>
            </a:r>
            <a:pPr indent="0" marL="0">
              <a:spcAft>
                <a:spcPts val="300"/>
              </a:spcAft>
              <a:buNone/>
            </a:pPr>
            <a:r>
              <a:rPr lang="en-US" sz="1100" i="1" dirty="0">
                <a:solidFill>
                  <a:srgbClr val="7F7F7F"/>
                </a:solidFill>
                <a:latin typeface="Arial Nova Light" pitchFamily="34" charset="0"/>
                <a:ea typeface="Arial Nova Light" pitchFamily="34" charset="-122"/>
                <a:cs typeface="Arial Nova Light" pitchFamily="34" charset="-120"/>
              </a:rPr>
              <a:t>Dónde no funciona, supuestos, datos sustitutos.</a:t>
            </a:r>
            <a:endParaRPr lang="en-US" sz="1100" dirty="0"/>
          </a:p>
        </p:txBody>
      </p:sp>
      <p:sp>
        <p:nvSpPr>
          <p:cNvPr id="17" name="Text 14"/>
          <p:cNvSpPr/>
          <p:nvPr/>
        </p:nvSpPr>
        <p:spPr>
          <a:xfrm>
            <a:off x="850392" y="4956048"/>
            <a:ext cx="4966564" cy="1143000"/>
          </a:xfrm>
          <a:prstGeom prst="rect">
            <a:avLst/>
          </a:prstGeom>
          <a:noFill/>
          <a:ln/>
        </p:spPr>
        <p:txBody>
          <a:bodyPr wrap="square" lIns="0" tIns="0" rIns="0" bIns="0" rtlCol="0" anchor="t"/>
          <a:lstStyle/>
          <a:p>
            <a:pPr indent="0" marL="0">
              <a:buNone/>
            </a:pPr>
            <a:r>
              <a:rPr lang="en-US" sz="1300" dirty="0">
                <a:solidFill>
                  <a:srgbClr val="A6A6A6"/>
                </a:solidFill>
                <a:latin typeface="Arial Nova Light" pitchFamily="34" charset="0"/>
                <a:ea typeface="Arial Nova Light" pitchFamily="34" charset="-122"/>
                <a:cs typeface="Arial Nova Light" pitchFamily="34" charset="-120"/>
              </a:rPr>
              <a:t>[Respuesta del equipo]</a:t>
            </a:r>
            <a:endParaRPr lang="en-US" sz="1300" dirty="0"/>
          </a:p>
        </p:txBody>
      </p:sp>
      <p:sp>
        <p:nvSpPr>
          <p:cNvPr id="18" name="Shape 15"/>
          <p:cNvSpPr/>
          <p:nvPr/>
        </p:nvSpPr>
        <p:spPr>
          <a:xfrm>
            <a:off x="6210148" y="4133088"/>
            <a:ext cx="5295748" cy="2075688"/>
          </a:xfrm>
          <a:prstGeom prst="rect">
            <a:avLst/>
          </a:prstGeom>
          <a:solidFill>
            <a:srgbClr val="FFFFFF"/>
          </a:solidFill>
          <a:ln w="12700">
            <a:solidFill>
              <a:srgbClr val="BFBFBF"/>
            </a:solidFill>
            <a:prstDash val="solid"/>
          </a:ln>
        </p:spPr>
      </p:sp>
      <p:sp>
        <p:nvSpPr>
          <p:cNvPr id="19" name="Text 16"/>
          <p:cNvSpPr/>
          <p:nvPr/>
        </p:nvSpPr>
        <p:spPr>
          <a:xfrm>
            <a:off x="6374740" y="4242816"/>
            <a:ext cx="4966564" cy="329184"/>
          </a:xfrm>
          <a:prstGeom prst="rect">
            <a:avLst/>
          </a:prstGeom>
          <a:noFill/>
          <a:ln/>
        </p:spPr>
        <p:txBody>
          <a:bodyPr wrap="square" lIns="0" tIns="0" rIns="0" bIns="0" rtlCol="0" anchor="t"/>
          <a:lstStyle/>
          <a:p>
            <a:pPr indent="0" marL="0">
              <a:buNone/>
            </a:pPr>
            <a:r>
              <a:rPr lang="en-US" sz="1500" b="1" dirty="0">
                <a:solidFill>
                  <a:srgbClr val="4E4B4C"/>
                </a:solidFill>
                <a:latin typeface="Arial Nova" pitchFamily="34" charset="0"/>
                <a:ea typeface="Arial Nova" pitchFamily="34" charset="-122"/>
                <a:cs typeface="Arial Nova" pitchFamily="34" charset="-120"/>
              </a:rPr>
              <a:t>Consideraciones éticas</a:t>
            </a:r>
            <a:endParaRPr lang="en-US" sz="1500" dirty="0"/>
          </a:p>
        </p:txBody>
      </p:sp>
      <p:sp>
        <p:nvSpPr>
          <p:cNvPr id="20" name="Text 17"/>
          <p:cNvSpPr/>
          <p:nvPr/>
        </p:nvSpPr>
        <p:spPr>
          <a:xfrm>
            <a:off x="6374740" y="4590288"/>
            <a:ext cx="4966564" cy="292608"/>
          </a:xfrm>
          <a:prstGeom prst="rect">
            <a:avLst/>
          </a:prstGeom>
          <a:noFill/>
          <a:ln/>
        </p:spPr>
        <p:txBody>
          <a:bodyPr wrap="square" lIns="0" tIns="0" rIns="0" bIns="0" rtlCol="0" anchor="t"/>
          <a:lstStyle/>
          <a:p>
            <a:pPr indent="0" marL="0">
              <a:spcAft>
                <a:spcPts val="300"/>
              </a:spcAft>
              <a:buNone/>
            </a:pPr>
            <a:r>
              <a:rPr lang="en-US" sz="1100" b="1" i="1" dirty="0">
                <a:solidFill>
                  <a:srgbClr val="7F7F7F"/>
                </a:solidFill>
                <a:latin typeface="Arial Nova Light" pitchFamily="34" charset="0"/>
                <a:ea typeface="Arial Nova Light" pitchFamily="34" charset="-122"/>
                <a:cs typeface="Arial Nova Light" pitchFamily="34" charset="-120"/>
              </a:rPr>
              <a:t>Pista: </a:t>
            </a:r>
            <a:pPr indent="0" marL="0">
              <a:spcAft>
                <a:spcPts val="300"/>
              </a:spcAft>
              <a:buNone/>
            </a:pPr>
            <a:r>
              <a:rPr lang="en-US" sz="1100" i="1" dirty="0">
                <a:solidFill>
                  <a:srgbClr val="7F7F7F"/>
                </a:solidFill>
                <a:latin typeface="Arial Nova Light" pitchFamily="34" charset="0"/>
                <a:ea typeface="Arial Nova Light" pitchFamily="34" charset="-122"/>
                <a:cs typeface="Arial Nova Light" pitchFamily="34" charset="-120"/>
              </a:rPr>
              <a:t>Datos personales (Ley 29733), sesgos y supervisión humana.</a:t>
            </a:r>
            <a:endParaRPr lang="en-US" sz="1100" dirty="0"/>
          </a:p>
        </p:txBody>
      </p:sp>
      <p:sp>
        <p:nvSpPr>
          <p:cNvPr id="21" name="Text 18"/>
          <p:cNvSpPr/>
          <p:nvPr/>
        </p:nvSpPr>
        <p:spPr>
          <a:xfrm>
            <a:off x="6374740" y="4956048"/>
            <a:ext cx="4966564" cy="1143000"/>
          </a:xfrm>
          <a:prstGeom prst="rect">
            <a:avLst/>
          </a:prstGeom>
          <a:noFill/>
          <a:ln/>
        </p:spPr>
        <p:txBody>
          <a:bodyPr wrap="square" lIns="0" tIns="0" rIns="0" bIns="0" rtlCol="0" anchor="t"/>
          <a:lstStyle/>
          <a:p>
            <a:pPr indent="0" marL="0">
              <a:buNone/>
            </a:pPr>
            <a:r>
              <a:rPr lang="en-US" sz="1300" dirty="0">
                <a:solidFill>
                  <a:srgbClr val="A6A6A6"/>
                </a:solidFill>
                <a:latin typeface="Arial Nova Light" pitchFamily="34" charset="0"/>
                <a:ea typeface="Arial Nova Light" pitchFamily="34" charset="-122"/>
                <a:cs typeface="Arial Nova Light" pitchFamily="34" charset="-120"/>
              </a:rPr>
              <a:t>[Respuesta del equipo]</a:t>
            </a:r>
            <a:endParaRPr lang="en-US" sz="1300" dirty="0"/>
          </a:p>
        </p:txBody>
      </p:sp>
      <p:sp>
        <p:nvSpPr>
          <p:cNvPr id="22" name="Text 19"/>
          <p:cNvSpPr/>
          <p:nvPr/>
        </p:nvSpPr>
        <p:spPr>
          <a:xfrm>
            <a:off x="8762695" y="6400800"/>
            <a:ext cx="2743200" cy="274320"/>
          </a:xfrm>
          <a:prstGeom prst="rect">
            <a:avLst/>
          </a:prstGeom>
          <a:noFill/>
          <a:ln/>
        </p:spPr>
        <p:txBody>
          <a:bodyPr wrap="square" lIns="0" tIns="0" rIns="0" bIns="0" rtlCol="0" anchor="ctr"/>
          <a:lstStyle/>
          <a:p>
            <a:pPr algn="r" indent="0" marL="0">
              <a:buNone/>
            </a:pPr>
            <a:r>
              <a:rPr lang="en-US" sz="1000" dirty="0">
                <a:solidFill>
                  <a:srgbClr val="666666"/>
                </a:solidFill>
                <a:latin typeface="Arial Nova Light" pitchFamily="34" charset="0"/>
                <a:ea typeface="Arial Nova Light" pitchFamily="34" charset="-122"/>
                <a:cs typeface="Arial Nova Light" pitchFamily="34" charset="-120"/>
              </a:rPr>
              <a:t>E5 · Equipo N.º ____</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4E4E4"/>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48640" y="384048"/>
            <a:ext cx="2194560" cy="429768"/>
          </a:xfrm>
          <a:prstGeom prst="rect">
            <a:avLst/>
          </a:prstGeom>
        </p:spPr>
      </p:pic>
      <p:sp>
        <p:nvSpPr>
          <p:cNvPr id="3" name="Text 0"/>
          <p:cNvSpPr/>
          <p:nvPr/>
        </p:nvSpPr>
        <p:spPr>
          <a:xfrm>
            <a:off x="685800" y="1097280"/>
            <a:ext cx="10820095" cy="685800"/>
          </a:xfrm>
          <a:prstGeom prst="rect">
            <a:avLst/>
          </a:prstGeom>
          <a:noFill/>
          <a:ln/>
        </p:spPr>
        <p:txBody>
          <a:bodyPr wrap="square" lIns="0" tIns="0" rIns="0" bIns="0" rtlCol="0" anchor="t"/>
          <a:lstStyle/>
          <a:p>
            <a:pPr indent="0" marL="0">
              <a:buNone/>
            </a:pPr>
            <a:r>
              <a:rPr lang="en-US" sz="3000" b="1" dirty="0">
                <a:solidFill>
                  <a:srgbClr val="4E4B4C"/>
                </a:solidFill>
                <a:latin typeface="Arial Nova" pitchFamily="34" charset="0"/>
                <a:ea typeface="Arial Nova" pitchFamily="34" charset="-122"/>
                <a:cs typeface="Arial Nova" pitchFamily="34" charset="-120"/>
              </a:rPr>
              <a:t>Registro de los 3 riesgos principales</a:t>
            </a:r>
            <a:endParaRPr lang="en-US" sz="3000" dirty="0"/>
          </a:p>
        </p:txBody>
      </p:sp>
      <p:sp>
        <p:nvSpPr>
          <p:cNvPr id="4" name="Text 1"/>
          <p:cNvSpPr/>
          <p:nvPr/>
        </p:nvSpPr>
        <p:spPr>
          <a:xfrm>
            <a:off x="685800" y="1783080"/>
            <a:ext cx="10820095" cy="457200"/>
          </a:xfrm>
          <a:prstGeom prst="rect">
            <a:avLst/>
          </a:prstGeom>
          <a:noFill/>
          <a:ln/>
        </p:spPr>
        <p:txBody>
          <a:bodyPr wrap="square" lIns="0" tIns="0" rIns="0" bIns="0" rtlCol="0" anchor="t"/>
          <a:lstStyle/>
          <a:p>
            <a:pPr indent="0" marL="0">
              <a:buNone/>
            </a:pPr>
            <a:r>
              <a:rPr lang="en-US" sz="1600" dirty="0">
                <a:solidFill>
                  <a:srgbClr val="666666"/>
                </a:solidFill>
                <a:latin typeface="Arial Nova Light" pitchFamily="34" charset="0"/>
                <a:ea typeface="Arial Nova Light" pitchFamily="34" charset="-122"/>
                <a:cs typeface="Arial Nova Light" pitchFamily="34" charset="-120"/>
              </a:rPr>
              <a:t>El registro del pre-mortem, completo. Categorías: datos · modelo · adopción · ética o regulación</a:t>
            </a:r>
            <a:endParaRPr lang="en-US" sz="1600" dirty="0"/>
          </a:p>
        </p:txBody>
      </p:sp>
      <p:sp>
        <p:nvSpPr>
          <p:cNvPr id="5" name="Shape 2"/>
          <p:cNvSpPr/>
          <p:nvPr/>
        </p:nvSpPr>
        <p:spPr>
          <a:xfrm>
            <a:off x="8698687" y="457200"/>
            <a:ext cx="2807208" cy="347472"/>
          </a:xfrm>
          <a:prstGeom prst="rect">
            <a:avLst/>
          </a:prstGeom>
          <a:solidFill>
            <a:srgbClr val="00E1FF"/>
          </a:solidFill>
          <a:ln w="12700">
            <a:solidFill>
              <a:srgbClr val="333333"/>
            </a:solidFill>
            <a:prstDash val="solid"/>
          </a:ln>
        </p:spPr>
      </p:sp>
      <p:sp>
        <p:nvSpPr>
          <p:cNvPr id="6" name="Text 3"/>
          <p:cNvSpPr/>
          <p:nvPr/>
        </p:nvSpPr>
        <p:spPr>
          <a:xfrm>
            <a:off x="8698687" y="457200"/>
            <a:ext cx="2807208" cy="347472"/>
          </a:xfrm>
          <a:prstGeom prst="rect">
            <a:avLst/>
          </a:prstGeom>
          <a:noFill/>
          <a:ln/>
        </p:spPr>
        <p:txBody>
          <a:bodyPr wrap="none" lIns="0" tIns="0" rIns="0" bIns="0" rtlCol="0" anchor="ctr"/>
          <a:lstStyle/>
          <a:p>
            <a:pPr algn="ctr" indent="0" marL="0">
              <a:buNone/>
            </a:pPr>
            <a:r>
              <a:rPr lang="en-US" sz="1100" b="1" dirty="0">
                <a:solidFill>
                  <a:srgbClr val="000000"/>
                </a:solidFill>
                <a:latin typeface="Arial Nova" pitchFamily="34" charset="0"/>
                <a:ea typeface="Arial Nova" pitchFamily="34" charset="-122"/>
                <a:cs typeface="Arial Nova" pitchFamily="34" charset="-120"/>
              </a:rPr>
              <a:t>SECCIÓN 4 · RIESGOS</a:t>
            </a:r>
            <a:endParaRPr lang="en-US" sz="11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85800" y="2377440"/>
          <a:ext cx="10820095" cy="914400"/>
        </p:xfrm>
        <a:graphic>
          <a:graphicData uri="http://schemas.openxmlformats.org/drawingml/2006/table">
            <a:tbl>
              <a:tblPr/>
              <a:tblGrid>
                <a:gridCol w="457200"/>
                <a:gridCol w="2286000"/>
                <a:gridCol w="1097280"/>
                <a:gridCol w="731520"/>
                <a:gridCol w="868680"/>
                <a:gridCol w="2377440"/>
                <a:gridCol w="1783080"/>
                <a:gridCol w="1218895"/>
              </a:tblGrid>
              <a:tr h="457200">
                <a:tc>
                  <a:txBody>
                    <a:bodyPr/>
                    <a:lstStyle/>
                    <a:p>
                      <a:pPr algn="ctr" indent="0" marL="0">
                        <a:buNone/>
                      </a:pPr>
                      <a:r>
                        <a:rPr lang="en-US" sz="1200" b="1" dirty="0">
                          <a:solidFill>
                            <a:srgbClr val="000000"/>
                          </a:solidFill>
                          <a:latin typeface="Arial Nova" pitchFamily="34" charset="0"/>
                          <a:ea typeface="Arial Nova" pitchFamily="34" charset="-122"/>
                          <a:cs typeface="Arial Nova" pitchFamily="34" charset="-120"/>
                        </a:rPr>
                        <a:t>#</a:t>
                      </a:r>
                      <a:endParaRPr lang="en-US" sz="1200" dirty="0">
                        <a:latin typeface="Arial Nova" charset="0"/>
                        <a:ea typeface="Arial Nova" charset="0"/>
                        <a:cs typeface="Arial Nova" charset="0"/>
                      </a:endParaRPr>
                    </a:p>
                  </a:txBody>
                  <a:tcPr marL="64008" marR="64008" marT="64008" marB="64008"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00E1FF"/>
                    </a:solidFill>
                  </a:tcPr>
                </a:tc>
                <a:tc>
                  <a:txBody>
                    <a:bodyPr/>
                    <a:lstStyle/>
                    <a:p>
                      <a:pPr algn="ctr" indent="0" marL="0">
                        <a:buNone/>
                      </a:pPr>
                      <a:r>
                        <a:rPr lang="en-US" sz="1200" b="1" dirty="0">
                          <a:solidFill>
                            <a:srgbClr val="000000"/>
                          </a:solidFill>
                          <a:latin typeface="Arial Nova" pitchFamily="34" charset="0"/>
                          <a:ea typeface="Arial Nova" pitchFamily="34" charset="-122"/>
                          <a:cs typeface="Arial Nova" pitchFamily="34" charset="-120"/>
                        </a:rPr>
                        <a:t>Riesgo</a:t>
                      </a:r>
                      <a:endParaRPr lang="en-US" sz="1200" dirty="0">
                        <a:latin typeface="Arial Nova" charset="0"/>
                        <a:ea typeface="Arial Nova" charset="0"/>
                        <a:cs typeface="Arial Nova" charset="0"/>
                      </a:endParaRPr>
                    </a:p>
                  </a:txBody>
                  <a:tcPr marL="64008" marR="64008" marT="64008" marB="64008"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00E1FF"/>
                    </a:solidFill>
                  </a:tcPr>
                </a:tc>
                <a:tc>
                  <a:txBody>
                    <a:bodyPr/>
                    <a:lstStyle/>
                    <a:p>
                      <a:pPr algn="ctr" indent="0" marL="0">
                        <a:buNone/>
                      </a:pPr>
                      <a:r>
                        <a:rPr lang="en-US" sz="1200" b="1" dirty="0">
                          <a:solidFill>
                            <a:srgbClr val="000000"/>
                          </a:solidFill>
                          <a:latin typeface="Arial Nova" pitchFamily="34" charset="0"/>
                          <a:ea typeface="Arial Nova" pitchFamily="34" charset="-122"/>
                          <a:cs typeface="Arial Nova" pitchFamily="34" charset="-120"/>
                        </a:rPr>
                        <a:t>Categoría</a:t>
                      </a:r>
                      <a:endParaRPr lang="en-US" sz="1200" dirty="0">
                        <a:latin typeface="Arial Nova" charset="0"/>
                        <a:ea typeface="Arial Nova" charset="0"/>
                        <a:cs typeface="Arial Nova" charset="0"/>
                      </a:endParaRPr>
                    </a:p>
                  </a:txBody>
                  <a:tcPr marL="64008" marR="64008" marT="64008" marB="64008"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00E1FF"/>
                    </a:solidFill>
                  </a:tcPr>
                </a:tc>
                <a:tc>
                  <a:txBody>
                    <a:bodyPr/>
                    <a:lstStyle/>
                    <a:p>
                      <a:pPr algn="ctr" indent="0" marL="0">
                        <a:buNone/>
                      </a:pPr>
                      <a:r>
                        <a:rPr lang="en-US" sz="1200" b="1" dirty="0">
                          <a:solidFill>
                            <a:srgbClr val="000000"/>
                          </a:solidFill>
                          <a:latin typeface="Arial Nova" pitchFamily="34" charset="0"/>
                          <a:ea typeface="Arial Nova" pitchFamily="34" charset="-122"/>
                          <a:cs typeface="Arial Nova" pitchFamily="34" charset="-120"/>
                        </a:rPr>
                        <a:t>Prob.</a:t>
                      </a:r>
                      <a:endParaRPr lang="en-US" sz="1200" dirty="0">
                        <a:latin typeface="Arial Nova" charset="0"/>
                        <a:ea typeface="Arial Nova" charset="0"/>
                        <a:cs typeface="Arial Nova" charset="0"/>
                      </a:endParaRPr>
                    </a:p>
                  </a:txBody>
                  <a:tcPr marL="64008" marR="64008" marT="64008" marB="64008"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00E1FF"/>
                    </a:solidFill>
                  </a:tcPr>
                </a:tc>
                <a:tc>
                  <a:txBody>
                    <a:bodyPr/>
                    <a:lstStyle/>
                    <a:p>
                      <a:pPr algn="ctr" indent="0" marL="0">
                        <a:buNone/>
                      </a:pPr>
                      <a:r>
                        <a:rPr lang="en-US" sz="1200" b="1" dirty="0">
                          <a:solidFill>
                            <a:srgbClr val="000000"/>
                          </a:solidFill>
                          <a:latin typeface="Arial Nova" pitchFamily="34" charset="0"/>
                          <a:ea typeface="Arial Nova" pitchFamily="34" charset="-122"/>
                          <a:cs typeface="Arial Nova" pitchFamily="34" charset="-120"/>
                        </a:rPr>
                        <a:t>Impacto</a:t>
                      </a:r>
                      <a:endParaRPr lang="en-US" sz="1200" dirty="0">
                        <a:latin typeface="Arial Nova" charset="0"/>
                        <a:ea typeface="Arial Nova" charset="0"/>
                        <a:cs typeface="Arial Nova" charset="0"/>
                      </a:endParaRPr>
                    </a:p>
                  </a:txBody>
                  <a:tcPr marL="64008" marR="64008" marT="64008" marB="64008"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00E1FF"/>
                    </a:solidFill>
                  </a:tcPr>
                </a:tc>
                <a:tc>
                  <a:txBody>
                    <a:bodyPr/>
                    <a:lstStyle/>
                    <a:p>
                      <a:pPr algn="ctr" indent="0" marL="0">
                        <a:buNone/>
                      </a:pPr>
                      <a:r>
                        <a:rPr lang="en-US" sz="1200" b="1" dirty="0">
                          <a:solidFill>
                            <a:srgbClr val="000000"/>
                          </a:solidFill>
                          <a:latin typeface="Arial Nova" pitchFamily="34" charset="0"/>
                          <a:ea typeface="Arial Nova" pitchFamily="34" charset="-122"/>
                          <a:cs typeface="Arial Nova" pitchFamily="34" charset="-120"/>
                        </a:rPr>
                        <a:t>Mitigación</a:t>
                      </a:r>
                      <a:endParaRPr lang="en-US" sz="1200" dirty="0">
                        <a:latin typeface="Arial Nova" charset="0"/>
                        <a:ea typeface="Arial Nova" charset="0"/>
                        <a:cs typeface="Arial Nova" charset="0"/>
                      </a:endParaRPr>
                    </a:p>
                  </a:txBody>
                  <a:tcPr marL="64008" marR="64008" marT="64008" marB="64008"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00E1FF"/>
                    </a:solidFill>
                  </a:tcPr>
                </a:tc>
                <a:tc>
                  <a:txBody>
                    <a:bodyPr/>
                    <a:lstStyle/>
                    <a:p>
                      <a:pPr algn="ctr" indent="0" marL="0">
                        <a:buNone/>
                      </a:pPr>
                      <a:r>
                        <a:rPr lang="en-US" sz="1200" b="1" dirty="0">
                          <a:solidFill>
                            <a:srgbClr val="000000"/>
                          </a:solidFill>
                          <a:latin typeface="Arial Nova" pitchFamily="34" charset="0"/>
                          <a:ea typeface="Arial Nova" pitchFamily="34" charset="-122"/>
                          <a:cs typeface="Arial Nova" pitchFamily="34" charset="-120"/>
                        </a:rPr>
                        <a:t>Señal de alerta</a:t>
                      </a:r>
                      <a:endParaRPr lang="en-US" sz="1200" dirty="0">
                        <a:latin typeface="Arial Nova" charset="0"/>
                        <a:ea typeface="Arial Nova" charset="0"/>
                        <a:cs typeface="Arial Nova" charset="0"/>
                      </a:endParaRPr>
                    </a:p>
                  </a:txBody>
                  <a:tcPr marL="64008" marR="64008" marT="64008" marB="64008"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00E1FF"/>
                    </a:solidFill>
                  </a:tcPr>
                </a:tc>
                <a:tc>
                  <a:txBody>
                    <a:bodyPr/>
                    <a:lstStyle/>
                    <a:p>
                      <a:pPr algn="ctr" indent="0" marL="0">
                        <a:buNone/>
                      </a:pPr>
                      <a:r>
                        <a:rPr lang="en-US" sz="1200" b="1" dirty="0">
                          <a:solidFill>
                            <a:srgbClr val="000000"/>
                          </a:solidFill>
                          <a:latin typeface="Arial Nova" pitchFamily="34" charset="0"/>
                          <a:ea typeface="Arial Nova" pitchFamily="34" charset="-122"/>
                          <a:cs typeface="Arial Nova" pitchFamily="34" charset="-120"/>
                        </a:rPr>
                        <a:t>Responsable</a:t>
                      </a:r>
                      <a:endParaRPr lang="en-US" sz="1200" dirty="0">
                        <a:latin typeface="Arial Nova" charset="0"/>
                        <a:ea typeface="Arial Nova" charset="0"/>
                        <a:cs typeface="Arial Nova" charset="0"/>
                      </a:endParaRPr>
                    </a:p>
                  </a:txBody>
                  <a:tcPr marL="64008" marR="64008" marT="64008" marB="64008"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00E1FF"/>
                    </a:solidFill>
                  </a:tcPr>
                </a:tc>
              </a:tr>
              <a:tr h="914400">
                <a:tc>
                  <a:txBody>
                    <a:bodyPr/>
                    <a:lstStyle/>
                    <a:p>
                      <a:pPr indent="0" marL="0">
                        <a:buNone/>
                      </a:pPr>
                      <a:r>
                        <a:rPr lang="en-US" sz="1200" b="1" dirty="0">
                          <a:solidFill>
                            <a:srgbClr val="4E4B4C"/>
                          </a:solidFill>
                          <a:latin typeface="Arial Nova" pitchFamily="34" charset="0"/>
                          <a:ea typeface="Arial Nova" pitchFamily="34" charset="-122"/>
                          <a:cs typeface="Arial Nova" pitchFamily="34" charset="-120"/>
                        </a:rPr>
                        <a:t>1</a:t>
                      </a:r>
                      <a:endParaRPr lang="en-US" sz="1200" dirty="0">
                        <a:latin typeface="Arial Nova" charset="0"/>
                        <a:ea typeface="Arial Nova" charset="0"/>
                        <a:cs typeface="Arial Nova" charset="0"/>
                      </a:endParaRPr>
                    </a:p>
                  </a:txBody>
                  <a:tcPr marL="64008" marR="64008" marT="64008" marB="64008"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indent="0" marL="0">
                        <a:buNone/>
                      </a:pPr>
                      <a:endParaRPr lang="en-US" sz="1200" dirty="0">
                        <a:latin typeface="Arial Nova Light" charset="0"/>
                        <a:ea typeface="Arial Nova Light" charset="0"/>
                        <a:cs typeface="Arial Nova Light" charset="0"/>
                      </a:endParaRPr>
                    </a:p>
                  </a:txBody>
                  <a:tcPr marL="64008" marR="64008" marT="64008" marB="64008"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indent="0" marL="0">
                        <a:buNone/>
                      </a:pPr>
                      <a:endParaRPr lang="en-US" sz="1200" dirty="0">
                        <a:latin typeface="Arial Nova Light" charset="0"/>
                        <a:ea typeface="Arial Nova Light" charset="0"/>
                        <a:cs typeface="Arial Nova Light" charset="0"/>
                      </a:endParaRPr>
                    </a:p>
                  </a:txBody>
                  <a:tcPr marL="64008" marR="64008" marT="64008" marB="64008"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indent="0" marL="0">
                        <a:buNone/>
                      </a:pPr>
                      <a:endParaRPr lang="en-US" sz="1200" dirty="0">
                        <a:latin typeface="Arial Nova Light" charset="0"/>
                        <a:ea typeface="Arial Nova Light" charset="0"/>
                        <a:cs typeface="Arial Nova Light" charset="0"/>
                      </a:endParaRPr>
                    </a:p>
                  </a:txBody>
                  <a:tcPr marL="64008" marR="64008" marT="64008" marB="64008"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indent="0" marL="0">
                        <a:buNone/>
                      </a:pPr>
                      <a:endParaRPr lang="en-US" sz="1200" dirty="0">
                        <a:latin typeface="Arial Nova Light" charset="0"/>
                        <a:ea typeface="Arial Nova Light" charset="0"/>
                        <a:cs typeface="Arial Nova Light" charset="0"/>
                      </a:endParaRPr>
                    </a:p>
                  </a:txBody>
                  <a:tcPr marL="64008" marR="64008" marT="64008" marB="64008"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indent="0" marL="0">
                        <a:buNone/>
                      </a:pPr>
                      <a:endParaRPr lang="en-US" sz="1200" dirty="0">
                        <a:latin typeface="Arial Nova Light" charset="0"/>
                        <a:ea typeface="Arial Nova Light" charset="0"/>
                        <a:cs typeface="Arial Nova Light" charset="0"/>
                      </a:endParaRPr>
                    </a:p>
                  </a:txBody>
                  <a:tcPr marL="64008" marR="64008" marT="64008" marB="64008"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indent="0" marL="0">
                        <a:buNone/>
                      </a:pPr>
                      <a:endParaRPr lang="en-US" sz="1200" dirty="0">
                        <a:latin typeface="Arial Nova Light" charset="0"/>
                        <a:ea typeface="Arial Nova Light" charset="0"/>
                        <a:cs typeface="Arial Nova Light" charset="0"/>
                      </a:endParaRPr>
                    </a:p>
                  </a:txBody>
                  <a:tcPr marL="64008" marR="64008" marT="64008" marB="64008"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indent="0" marL="0">
                        <a:buNone/>
                      </a:pPr>
                      <a:endParaRPr lang="en-US" sz="1200" dirty="0">
                        <a:latin typeface="Arial Nova Light" charset="0"/>
                        <a:ea typeface="Arial Nova Light" charset="0"/>
                        <a:cs typeface="Arial Nova Light" charset="0"/>
                      </a:endParaRPr>
                    </a:p>
                  </a:txBody>
                  <a:tcPr marL="64008" marR="64008" marT="64008" marB="64008"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914400">
                <a:tc>
                  <a:txBody>
                    <a:bodyPr/>
                    <a:lstStyle/>
                    <a:p>
                      <a:pPr indent="0" marL="0">
                        <a:buNone/>
                      </a:pPr>
                      <a:r>
                        <a:rPr lang="en-US" sz="1200" b="1" dirty="0">
                          <a:solidFill>
                            <a:srgbClr val="4E4B4C"/>
                          </a:solidFill>
                          <a:latin typeface="Arial Nova" pitchFamily="34" charset="0"/>
                          <a:ea typeface="Arial Nova" pitchFamily="34" charset="-122"/>
                          <a:cs typeface="Arial Nova" pitchFamily="34" charset="-120"/>
                        </a:rPr>
                        <a:t>2</a:t>
                      </a:r>
                      <a:endParaRPr lang="en-US" sz="1200" dirty="0">
                        <a:latin typeface="Arial Nova" charset="0"/>
                        <a:ea typeface="Arial Nova" charset="0"/>
                        <a:cs typeface="Arial Nova" charset="0"/>
                      </a:endParaRPr>
                    </a:p>
                  </a:txBody>
                  <a:tcPr marL="64008" marR="64008" marT="64008" marB="64008"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indent="0" marL="0">
                        <a:buNone/>
                      </a:pPr>
                      <a:endParaRPr lang="en-US" sz="1200" dirty="0">
                        <a:latin typeface="Arial Nova Light" charset="0"/>
                        <a:ea typeface="Arial Nova Light" charset="0"/>
                        <a:cs typeface="Arial Nova Light" charset="0"/>
                      </a:endParaRPr>
                    </a:p>
                  </a:txBody>
                  <a:tcPr marL="64008" marR="64008" marT="64008" marB="64008"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indent="0" marL="0">
                        <a:buNone/>
                      </a:pPr>
                      <a:endParaRPr lang="en-US" sz="1200" dirty="0">
                        <a:latin typeface="Arial Nova Light" charset="0"/>
                        <a:ea typeface="Arial Nova Light" charset="0"/>
                        <a:cs typeface="Arial Nova Light" charset="0"/>
                      </a:endParaRPr>
                    </a:p>
                  </a:txBody>
                  <a:tcPr marL="64008" marR="64008" marT="64008" marB="64008"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indent="0" marL="0">
                        <a:buNone/>
                      </a:pPr>
                      <a:endParaRPr lang="en-US" sz="1200" dirty="0">
                        <a:latin typeface="Arial Nova Light" charset="0"/>
                        <a:ea typeface="Arial Nova Light" charset="0"/>
                        <a:cs typeface="Arial Nova Light" charset="0"/>
                      </a:endParaRPr>
                    </a:p>
                  </a:txBody>
                  <a:tcPr marL="64008" marR="64008" marT="64008" marB="64008"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indent="0" marL="0">
                        <a:buNone/>
                      </a:pPr>
                      <a:endParaRPr lang="en-US" sz="1200" dirty="0">
                        <a:latin typeface="Arial Nova Light" charset="0"/>
                        <a:ea typeface="Arial Nova Light" charset="0"/>
                        <a:cs typeface="Arial Nova Light" charset="0"/>
                      </a:endParaRPr>
                    </a:p>
                  </a:txBody>
                  <a:tcPr marL="64008" marR="64008" marT="64008" marB="64008"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indent="0" marL="0">
                        <a:buNone/>
                      </a:pPr>
                      <a:endParaRPr lang="en-US" sz="1200" dirty="0">
                        <a:latin typeface="Arial Nova Light" charset="0"/>
                        <a:ea typeface="Arial Nova Light" charset="0"/>
                        <a:cs typeface="Arial Nova Light" charset="0"/>
                      </a:endParaRPr>
                    </a:p>
                  </a:txBody>
                  <a:tcPr marL="64008" marR="64008" marT="64008" marB="64008"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indent="0" marL="0">
                        <a:buNone/>
                      </a:pPr>
                      <a:endParaRPr lang="en-US" sz="1200" dirty="0">
                        <a:latin typeface="Arial Nova Light" charset="0"/>
                        <a:ea typeface="Arial Nova Light" charset="0"/>
                        <a:cs typeface="Arial Nova Light" charset="0"/>
                      </a:endParaRPr>
                    </a:p>
                  </a:txBody>
                  <a:tcPr marL="64008" marR="64008" marT="64008" marB="64008"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indent="0" marL="0">
                        <a:buNone/>
                      </a:pPr>
                      <a:endParaRPr lang="en-US" sz="1200" dirty="0">
                        <a:latin typeface="Arial Nova Light" charset="0"/>
                        <a:ea typeface="Arial Nova Light" charset="0"/>
                        <a:cs typeface="Arial Nova Light" charset="0"/>
                      </a:endParaRPr>
                    </a:p>
                  </a:txBody>
                  <a:tcPr marL="64008" marR="64008" marT="64008" marB="64008"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914400">
                <a:tc>
                  <a:txBody>
                    <a:bodyPr/>
                    <a:lstStyle/>
                    <a:p>
                      <a:pPr indent="0" marL="0">
                        <a:buNone/>
                      </a:pPr>
                      <a:r>
                        <a:rPr lang="en-US" sz="1200" b="1" dirty="0">
                          <a:solidFill>
                            <a:srgbClr val="4E4B4C"/>
                          </a:solidFill>
                          <a:latin typeface="Arial Nova" pitchFamily="34" charset="0"/>
                          <a:ea typeface="Arial Nova" pitchFamily="34" charset="-122"/>
                          <a:cs typeface="Arial Nova" pitchFamily="34" charset="-120"/>
                        </a:rPr>
                        <a:t>3</a:t>
                      </a:r>
                      <a:endParaRPr lang="en-US" sz="1200" dirty="0">
                        <a:latin typeface="Arial Nova" charset="0"/>
                        <a:ea typeface="Arial Nova" charset="0"/>
                        <a:cs typeface="Arial Nova" charset="0"/>
                      </a:endParaRPr>
                    </a:p>
                  </a:txBody>
                  <a:tcPr marL="64008" marR="64008" marT="64008" marB="64008"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indent="0" marL="0">
                        <a:buNone/>
                      </a:pPr>
                      <a:endParaRPr lang="en-US" sz="1200" dirty="0">
                        <a:latin typeface="Arial Nova Light" charset="0"/>
                        <a:ea typeface="Arial Nova Light" charset="0"/>
                        <a:cs typeface="Arial Nova Light" charset="0"/>
                      </a:endParaRPr>
                    </a:p>
                  </a:txBody>
                  <a:tcPr marL="64008" marR="64008" marT="64008" marB="64008"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indent="0" marL="0">
                        <a:buNone/>
                      </a:pPr>
                      <a:endParaRPr lang="en-US" sz="1200" dirty="0">
                        <a:latin typeface="Arial Nova Light" charset="0"/>
                        <a:ea typeface="Arial Nova Light" charset="0"/>
                        <a:cs typeface="Arial Nova Light" charset="0"/>
                      </a:endParaRPr>
                    </a:p>
                  </a:txBody>
                  <a:tcPr marL="64008" marR="64008" marT="64008" marB="64008"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indent="0" marL="0">
                        <a:buNone/>
                      </a:pPr>
                      <a:endParaRPr lang="en-US" sz="1200" dirty="0">
                        <a:latin typeface="Arial Nova Light" charset="0"/>
                        <a:ea typeface="Arial Nova Light" charset="0"/>
                        <a:cs typeface="Arial Nova Light" charset="0"/>
                      </a:endParaRPr>
                    </a:p>
                  </a:txBody>
                  <a:tcPr marL="64008" marR="64008" marT="64008" marB="64008"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indent="0" marL="0">
                        <a:buNone/>
                      </a:pPr>
                      <a:endParaRPr lang="en-US" sz="1200" dirty="0">
                        <a:latin typeface="Arial Nova Light" charset="0"/>
                        <a:ea typeface="Arial Nova Light" charset="0"/>
                        <a:cs typeface="Arial Nova Light" charset="0"/>
                      </a:endParaRPr>
                    </a:p>
                  </a:txBody>
                  <a:tcPr marL="64008" marR="64008" marT="64008" marB="64008"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indent="0" marL="0">
                        <a:buNone/>
                      </a:pPr>
                      <a:endParaRPr lang="en-US" sz="1200" dirty="0">
                        <a:latin typeface="Arial Nova Light" charset="0"/>
                        <a:ea typeface="Arial Nova Light" charset="0"/>
                        <a:cs typeface="Arial Nova Light" charset="0"/>
                      </a:endParaRPr>
                    </a:p>
                  </a:txBody>
                  <a:tcPr marL="64008" marR="64008" marT="64008" marB="64008"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indent="0" marL="0">
                        <a:buNone/>
                      </a:pPr>
                      <a:endParaRPr lang="en-US" sz="1200" dirty="0">
                        <a:latin typeface="Arial Nova Light" charset="0"/>
                        <a:ea typeface="Arial Nova Light" charset="0"/>
                        <a:cs typeface="Arial Nova Light" charset="0"/>
                      </a:endParaRPr>
                    </a:p>
                  </a:txBody>
                  <a:tcPr marL="64008" marR="64008" marT="64008" marB="64008"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indent="0" marL="0">
                        <a:buNone/>
                      </a:pPr>
                      <a:endParaRPr lang="en-US" sz="1200" dirty="0">
                        <a:latin typeface="Arial Nova Light" charset="0"/>
                        <a:ea typeface="Arial Nova Light" charset="0"/>
                        <a:cs typeface="Arial Nova Light" charset="0"/>
                      </a:endParaRPr>
                    </a:p>
                  </a:txBody>
                  <a:tcPr marL="64008" marR="64008" marT="64008" marB="64008"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8" name="Text 4"/>
          <p:cNvSpPr/>
          <p:nvPr/>
        </p:nvSpPr>
        <p:spPr>
          <a:xfrm>
            <a:off x="685800" y="5715000"/>
            <a:ext cx="10820095" cy="457200"/>
          </a:xfrm>
          <a:prstGeom prst="rect">
            <a:avLst/>
          </a:prstGeom>
          <a:noFill/>
          <a:ln/>
        </p:spPr>
        <p:txBody>
          <a:bodyPr wrap="square" lIns="0" tIns="0" rIns="0" bIns="0" rtlCol="0" anchor="ctr"/>
          <a:lstStyle/>
          <a:p>
            <a:pPr indent="0" marL="0">
              <a:buNone/>
            </a:pPr>
            <a:r>
              <a:rPr lang="en-US" sz="1100" b="1" i="1" dirty="0">
                <a:solidFill>
                  <a:srgbClr val="7F7F7F"/>
                </a:solidFill>
                <a:latin typeface="Arial Nova Light" pitchFamily="34" charset="0"/>
                <a:ea typeface="Arial Nova Light" pitchFamily="34" charset="-122"/>
                <a:cs typeface="Arial Nova Light" pitchFamily="34" charset="-120"/>
              </a:rPr>
              <a:t>Pista: </a:t>
            </a:r>
            <a:pPr indent="0" marL="0">
              <a:buNone/>
            </a:pPr>
            <a:r>
              <a:rPr lang="en-US" sz="1100" i="1" dirty="0">
                <a:solidFill>
                  <a:srgbClr val="7F7F7F"/>
                </a:solidFill>
                <a:latin typeface="Arial Nova Light" pitchFamily="34" charset="0"/>
                <a:ea typeface="Arial Nova Light" pitchFamily="34" charset="-122"/>
                <a:cs typeface="Arial Nova Light" pitchFamily="34" charset="-120"/>
              </a:rPr>
              <a:t>la señal de alerta tiene que ser observable y con fecha (p. ej., «sin respuesta del área al 24 de octubre»). Una mitigación sin responsable no es mitigación.</a:t>
            </a:r>
            <a:endParaRPr lang="en-US" sz="1100" dirty="0"/>
          </a:p>
        </p:txBody>
      </p:sp>
      <p:sp>
        <p:nvSpPr>
          <p:cNvPr id="9" name="Text 5"/>
          <p:cNvSpPr/>
          <p:nvPr/>
        </p:nvSpPr>
        <p:spPr>
          <a:xfrm>
            <a:off x="8762695" y="6400800"/>
            <a:ext cx="2743200" cy="274320"/>
          </a:xfrm>
          <a:prstGeom prst="rect">
            <a:avLst/>
          </a:prstGeom>
          <a:noFill/>
          <a:ln/>
        </p:spPr>
        <p:txBody>
          <a:bodyPr wrap="square" lIns="0" tIns="0" rIns="0" bIns="0" rtlCol="0" anchor="ctr"/>
          <a:lstStyle/>
          <a:p>
            <a:pPr algn="r" indent="0" marL="0">
              <a:buNone/>
            </a:pPr>
            <a:r>
              <a:rPr lang="en-US" sz="1000" dirty="0">
                <a:solidFill>
                  <a:srgbClr val="666666"/>
                </a:solidFill>
                <a:latin typeface="Arial Nova Light" pitchFamily="34" charset="0"/>
                <a:ea typeface="Arial Nova Light" pitchFamily="34" charset="-122"/>
                <a:cs typeface="Arial Nova Light" pitchFamily="34" charset="-120"/>
              </a:rPr>
              <a:t>E5 · Equipo N.º ____</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4E4E4"/>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48640" y="384048"/>
            <a:ext cx="2194560" cy="429768"/>
          </a:xfrm>
          <a:prstGeom prst="rect">
            <a:avLst/>
          </a:prstGeom>
        </p:spPr>
      </p:pic>
      <p:sp>
        <p:nvSpPr>
          <p:cNvPr id="3" name="Text 0"/>
          <p:cNvSpPr/>
          <p:nvPr/>
        </p:nvSpPr>
        <p:spPr>
          <a:xfrm>
            <a:off x="685800" y="1097280"/>
            <a:ext cx="10820095" cy="685800"/>
          </a:xfrm>
          <a:prstGeom prst="rect">
            <a:avLst/>
          </a:prstGeom>
          <a:noFill/>
          <a:ln/>
        </p:spPr>
        <p:txBody>
          <a:bodyPr wrap="square" lIns="0" tIns="0" rIns="0" bIns="0" rtlCol="0" anchor="t"/>
          <a:lstStyle/>
          <a:p>
            <a:pPr indent="0" marL="0">
              <a:buNone/>
            </a:pPr>
            <a:r>
              <a:rPr lang="en-US" sz="3000" b="1" dirty="0">
                <a:solidFill>
                  <a:srgbClr val="4E4B4C"/>
                </a:solidFill>
                <a:latin typeface="Arial Nova" pitchFamily="34" charset="0"/>
                <a:ea typeface="Arial Nova" pitchFamily="34" charset="-122"/>
                <a:cs typeface="Arial Nova" pitchFamily="34" charset="-120"/>
              </a:rPr>
              <a:t>Anexo: enlaces y verificación</a:t>
            </a:r>
            <a:endParaRPr lang="en-US" sz="3000" dirty="0"/>
          </a:p>
        </p:txBody>
      </p:sp>
      <p:sp>
        <p:nvSpPr>
          <p:cNvPr id="4" name="Shape 1"/>
          <p:cNvSpPr/>
          <p:nvPr/>
        </p:nvSpPr>
        <p:spPr>
          <a:xfrm>
            <a:off x="10362895" y="457200"/>
            <a:ext cx="1143000" cy="347472"/>
          </a:xfrm>
          <a:prstGeom prst="rect">
            <a:avLst/>
          </a:prstGeom>
          <a:solidFill>
            <a:srgbClr val="00E1FF"/>
          </a:solidFill>
          <a:ln w="12700">
            <a:solidFill>
              <a:srgbClr val="333333"/>
            </a:solidFill>
            <a:prstDash val="solid"/>
          </a:ln>
        </p:spPr>
      </p:sp>
      <p:sp>
        <p:nvSpPr>
          <p:cNvPr id="5" name="Text 2"/>
          <p:cNvSpPr/>
          <p:nvPr/>
        </p:nvSpPr>
        <p:spPr>
          <a:xfrm>
            <a:off x="10362895" y="457200"/>
            <a:ext cx="1143000" cy="347472"/>
          </a:xfrm>
          <a:prstGeom prst="rect">
            <a:avLst/>
          </a:prstGeom>
          <a:noFill/>
          <a:ln/>
        </p:spPr>
        <p:txBody>
          <a:bodyPr wrap="none" lIns="0" tIns="0" rIns="0" bIns="0" rtlCol="0" anchor="ctr"/>
          <a:lstStyle/>
          <a:p>
            <a:pPr algn="ctr" indent="0" marL="0">
              <a:buNone/>
            </a:pPr>
            <a:r>
              <a:rPr lang="en-US" sz="1100" b="1" dirty="0">
                <a:solidFill>
                  <a:srgbClr val="000000"/>
                </a:solidFill>
                <a:latin typeface="Arial Nova" pitchFamily="34" charset="0"/>
                <a:ea typeface="Arial Nova" pitchFamily="34" charset="-122"/>
                <a:cs typeface="Arial Nova" pitchFamily="34" charset="-120"/>
              </a:rPr>
              <a:t>ANEXO</a:t>
            </a:r>
            <a:endParaRPr lang="en-US" sz="1100" dirty="0"/>
          </a:p>
        </p:txBody>
      </p:sp>
      <p:sp>
        <p:nvSpPr>
          <p:cNvPr id="6" name="Shape 3"/>
          <p:cNvSpPr/>
          <p:nvPr/>
        </p:nvSpPr>
        <p:spPr>
          <a:xfrm>
            <a:off x="685800" y="1920240"/>
            <a:ext cx="4937760" cy="2194560"/>
          </a:xfrm>
          <a:prstGeom prst="rect">
            <a:avLst/>
          </a:prstGeom>
          <a:solidFill>
            <a:srgbClr val="FFFFFF"/>
          </a:solidFill>
          <a:ln w="12700">
            <a:solidFill>
              <a:srgbClr val="BFBFBF"/>
            </a:solidFill>
            <a:prstDash val="solid"/>
          </a:ln>
        </p:spPr>
      </p:sp>
      <p:sp>
        <p:nvSpPr>
          <p:cNvPr id="7" name="Text 4"/>
          <p:cNvSpPr/>
          <p:nvPr/>
        </p:nvSpPr>
        <p:spPr>
          <a:xfrm>
            <a:off x="850392" y="2029968"/>
            <a:ext cx="4608576" cy="329184"/>
          </a:xfrm>
          <a:prstGeom prst="rect">
            <a:avLst/>
          </a:prstGeom>
          <a:noFill/>
          <a:ln/>
        </p:spPr>
        <p:txBody>
          <a:bodyPr wrap="square" lIns="0" tIns="0" rIns="0" bIns="0" rtlCol="0" anchor="t"/>
          <a:lstStyle/>
          <a:p>
            <a:pPr indent="0" marL="0">
              <a:buNone/>
            </a:pPr>
            <a:r>
              <a:rPr lang="en-US" sz="1500" b="1" dirty="0">
                <a:solidFill>
                  <a:srgbClr val="4E4B4C"/>
                </a:solidFill>
                <a:latin typeface="Arial Nova" pitchFamily="34" charset="0"/>
                <a:ea typeface="Arial Nova" pitchFamily="34" charset="-122"/>
                <a:cs typeface="Arial Nova" pitchFamily="34" charset="-120"/>
              </a:rPr>
              <a:t>Enlaces</a:t>
            </a:r>
            <a:endParaRPr lang="en-US" sz="1500" dirty="0"/>
          </a:p>
        </p:txBody>
      </p:sp>
      <p:sp>
        <p:nvSpPr>
          <p:cNvPr id="8" name="Text 5"/>
          <p:cNvSpPr/>
          <p:nvPr/>
        </p:nvSpPr>
        <p:spPr>
          <a:xfrm>
            <a:off x="850392" y="2377440"/>
            <a:ext cx="4608576" cy="457200"/>
          </a:xfrm>
          <a:prstGeom prst="rect">
            <a:avLst/>
          </a:prstGeom>
          <a:noFill/>
          <a:ln/>
        </p:spPr>
        <p:txBody>
          <a:bodyPr wrap="square" lIns="0" tIns="0" rIns="0" bIns="0" rtlCol="0" anchor="t"/>
          <a:lstStyle/>
          <a:p>
            <a:pPr indent="0" marL="0">
              <a:spcAft>
                <a:spcPts val="300"/>
              </a:spcAft>
              <a:buNone/>
            </a:pPr>
            <a:r>
              <a:rPr lang="en-US" sz="1100" b="1" i="1" dirty="0">
                <a:solidFill>
                  <a:srgbClr val="7F7F7F"/>
                </a:solidFill>
                <a:latin typeface="Arial Nova Light" pitchFamily="34" charset="0"/>
                <a:ea typeface="Arial Nova Light" pitchFamily="34" charset="-122"/>
                <a:cs typeface="Arial Nova Light" pitchFamily="34" charset="-120"/>
              </a:rPr>
              <a:t>Pista: </a:t>
            </a:r>
            <a:pPr indent="0" marL="0">
              <a:spcAft>
                <a:spcPts val="300"/>
              </a:spcAft>
              <a:buNone/>
            </a:pPr>
            <a:r>
              <a:rPr lang="en-US" sz="1100" i="1" dirty="0">
                <a:solidFill>
                  <a:srgbClr val="7F7F7F"/>
                </a:solidFill>
                <a:latin typeface="Arial Nova Light" pitchFamily="34" charset="0"/>
                <a:ea typeface="Arial Nova Light" pitchFamily="34" charset="-122"/>
                <a:cs typeface="Arial Nova Light" pitchFamily="34" charset="-120"/>
              </a:rPr>
              <a:t>Notebook o repositorio · datasheet del E4 · plan del taller de la Semana 6 (foto o archivo).</a:t>
            </a:r>
            <a:endParaRPr lang="en-US" sz="1100" dirty="0"/>
          </a:p>
        </p:txBody>
      </p:sp>
      <p:sp>
        <p:nvSpPr>
          <p:cNvPr id="9" name="Text 6"/>
          <p:cNvSpPr/>
          <p:nvPr/>
        </p:nvSpPr>
        <p:spPr>
          <a:xfrm>
            <a:off x="850392" y="2907792"/>
            <a:ext cx="4608576" cy="1097280"/>
          </a:xfrm>
          <a:prstGeom prst="rect">
            <a:avLst/>
          </a:prstGeom>
          <a:noFill/>
          <a:ln/>
        </p:spPr>
        <p:txBody>
          <a:bodyPr wrap="square" lIns="0" tIns="0" rIns="0" bIns="0" rtlCol="0" anchor="t"/>
          <a:lstStyle/>
          <a:p>
            <a:pPr indent="0" marL="0">
              <a:buNone/>
            </a:pPr>
            <a:r>
              <a:rPr lang="en-US" sz="1300" dirty="0">
                <a:solidFill>
                  <a:srgbClr val="A6A6A6"/>
                </a:solidFill>
                <a:latin typeface="Arial Nova Light" pitchFamily="34" charset="0"/>
                <a:ea typeface="Arial Nova Light" pitchFamily="34" charset="-122"/>
                <a:cs typeface="Arial Nova Light" pitchFamily="34" charset="-120"/>
              </a:rPr>
              <a:t>[Respuesta del equipo]</a:t>
            </a:r>
            <a:endParaRPr lang="en-US" sz="1300" dirty="0"/>
          </a:p>
        </p:txBody>
      </p:sp>
      <p:sp>
        <p:nvSpPr>
          <p:cNvPr id="10" name="Shape 7"/>
          <p:cNvSpPr/>
          <p:nvPr/>
        </p:nvSpPr>
        <p:spPr>
          <a:xfrm>
            <a:off x="685800" y="4297680"/>
            <a:ext cx="4937760" cy="1920240"/>
          </a:xfrm>
          <a:prstGeom prst="rect">
            <a:avLst/>
          </a:prstGeom>
          <a:solidFill>
            <a:srgbClr val="FFFFFF"/>
          </a:solidFill>
          <a:ln w="12700">
            <a:solidFill>
              <a:srgbClr val="BFBFBF"/>
            </a:solidFill>
            <a:prstDash val="solid"/>
          </a:ln>
        </p:spPr>
      </p:sp>
      <p:sp>
        <p:nvSpPr>
          <p:cNvPr id="11" name="Text 8"/>
          <p:cNvSpPr/>
          <p:nvPr/>
        </p:nvSpPr>
        <p:spPr>
          <a:xfrm>
            <a:off x="850392" y="4407408"/>
            <a:ext cx="4608576" cy="329184"/>
          </a:xfrm>
          <a:prstGeom prst="rect">
            <a:avLst/>
          </a:prstGeom>
          <a:noFill/>
          <a:ln/>
        </p:spPr>
        <p:txBody>
          <a:bodyPr wrap="square" lIns="0" tIns="0" rIns="0" bIns="0" rtlCol="0" anchor="t"/>
          <a:lstStyle/>
          <a:p>
            <a:pPr indent="0" marL="0">
              <a:buNone/>
            </a:pPr>
            <a:r>
              <a:rPr lang="en-US" sz="1500" b="1" dirty="0">
                <a:solidFill>
                  <a:srgbClr val="4E4B4C"/>
                </a:solidFill>
                <a:latin typeface="Arial Nova" pitchFamily="34" charset="0"/>
                <a:ea typeface="Arial Nova" pitchFamily="34" charset="-122"/>
                <a:cs typeface="Arial Nova" pitchFamily="34" charset="-120"/>
              </a:rPr>
              <a:t>Lo que no aplica</a:t>
            </a:r>
            <a:endParaRPr lang="en-US" sz="1500" dirty="0"/>
          </a:p>
        </p:txBody>
      </p:sp>
      <p:sp>
        <p:nvSpPr>
          <p:cNvPr id="12" name="Text 9"/>
          <p:cNvSpPr/>
          <p:nvPr/>
        </p:nvSpPr>
        <p:spPr>
          <a:xfrm>
            <a:off x="850392" y="4754880"/>
            <a:ext cx="4608576" cy="292608"/>
          </a:xfrm>
          <a:prstGeom prst="rect">
            <a:avLst/>
          </a:prstGeom>
          <a:noFill/>
          <a:ln/>
        </p:spPr>
        <p:txBody>
          <a:bodyPr wrap="square" lIns="0" tIns="0" rIns="0" bIns="0" rtlCol="0" anchor="t"/>
          <a:lstStyle/>
          <a:p>
            <a:pPr indent="0" marL="0">
              <a:spcAft>
                <a:spcPts val="300"/>
              </a:spcAft>
              <a:buNone/>
            </a:pPr>
            <a:r>
              <a:rPr lang="en-US" sz="1100" b="1" i="1" dirty="0">
                <a:solidFill>
                  <a:srgbClr val="7F7F7F"/>
                </a:solidFill>
                <a:latin typeface="Arial Nova Light" pitchFamily="34" charset="0"/>
                <a:ea typeface="Arial Nova Light" pitchFamily="34" charset="-122"/>
                <a:cs typeface="Arial Nova Light" pitchFamily="34" charset="-120"/>
              </a:rPr>
              <a:t>Pista: </a:t>
            </a:r>
            <a:pPr indent="0" marL="0">
              <a:spcAft>
                <a:spcPts val="300"/>
              </a:spcAft>
              <a:buNone/>
            </a:pPr>
            <a:r>
              <a:rPr lang="en-US" sz="1100" i="1" dirty="0">
                <a:solidFill>
                  <a:srgbClr val="7F7F7F"/>
                </a:solidFill>
                <a:latin typeface="Arial Nova Light" pitchFamily="34" charset="0"/>
                <a:ea typeface="Arial Nova Light" pitchFamily="34" charset="-122"/>
                <a:cs typeface="Arial Nova Light" pitchFamily="34" charset="-120"/>
              </a:rPr>
              <a:t>Sección o pregunta, y «No aplica, porque…» en una línea.</a:t>
            </a:r>
            <a:endParaRPr lang="en-US" sz="1100" dirty="0"/>
          </a:p>
        </p:txBody>
      </p:sp>
      <p:sp>
        <p:nvSpPr>
          <p:cNvPr id="13" name="Text 10"/>
          <p:cNvSpPr/>
          <p:nvPr/>
        </p:nvSpPr>
        <p:spPr>
          <a:xfrm>
            <a:off x="850392" y="5120640"/>
            <a:ext cx="4608576" cy="987552"/>
          </a:xfrm>
          <a:prstGeom prst="rect">
            <a:avLst/>
          </a:prstGeom>
          <a:noFill/>
          <a:ln/>
        </p:spPr>
        <p:txBody>
          <a:bodyPr wrap="square" lIns="0" tIns="0" rIns="0" bIns="0" rtlCol="0" anchor="t"/>
          <a:lstStyle/>
          <a:p>
            <a:pPr indent="0" marL="0">
              <a:buNone/>
            </a:pPr>
            <a:r>
              <a:rPr lang="en-US" sz="1300" dirty="0">
                <a:solidFill>
                  <a:srgbClr val="A6A6A6"/>
                </a:solidFill>
                <a:latin typeface="Arial Nova Light" pitchFamily="34" charset="0"/>
                <a:ea typeface="Arial Nova Light" pitchFamily="34" charset="-122"/>
                <a:cs typeface="Arial Nova Light" pitchFamily="34" charset="-120"/>
              </a:rPr>
              <a:t>[Respuesta del equipo]</a:t>
            </a:r>
            <a:endParaRPr lang="en-US" sz="1300" dirty="0"/>
          </a:p>
        </p:txBody>
      </p:sp>
      <p:sp>
        <p:nvSpPr>
          <p:cNvPr id="14" name="Text 11"/>
          <p:cNvSpPr/>
          <p:nvPr/>
        </p:nvSpPr>
        <p:spPr>
          <a:xfrm>
            <a:off x="5852160" y="1920240"/>
            <a:ext cx="5653735" cy="365760"/>
          </a:xfrm>
          <a:prstGeom prst="rect">
            <a:avLst/>
          </a:prstGeom>
          <a:noFill/>
          <a:ln/>
        </p:spPr>
        <p:txBody>
          <a:bodyPr wrap="square" lIns="0" tIns="0" rIns="0" bIns="0" rtlCol="0" anchor="ctr"/>
          <a:lstStyle/>
          <a:p>
            <a:pPr indent="0" marL="0">
              <a:buNone/>
            </a:pPr>
            <a:r>
              <a:rPr lang="en-US" sz="1500" b="1" dirty="0">
                <a:solidFill>
                  <a:srgbClr val="4E4B4C"/>
                </a:solidFill>
                <a:latin typeface="Arial Nova" pitchFamily="34" charset="0"/>
                <a:ea typeface="Arial Nova" pitchFamily="34" charset="-122"/>
                <a:cs typeface="Arial Nova" pitchFamily="34" charset="-120"/>
              </a:rPr>
              <a:t>Lista de verificación antes de entregar</a:t>
            </a:r>
            <a:endParaRPr lang="en-US" sz="15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852160" y="2331720"/>
          <a:ext cx="5653735" cy="914400"/>
        </p:xfrm>
        <a:graphic>
          <a:graphicData uri="http://schemas.openxmlformats.org/drawingml/2006/table">
            <a:tbl>
              <a:tblPr/>
              <a:tblGrid>
                <a:gridCol w="457200"/>
                <a:gridCol w="4007815"/>
                <a:gridCol w="1188720"/>
              </a:tblGrid>
              <a:tr h="384048">
                <a:tc>
                  <a:txBody>
                    <a:bodyPr/>
                    <a:lstStyle/>
                    <a:p>
                      <a:pPr algn="ctr" indent="0" marL="0">
                        <a:buNone/>
                      </a:pPr>
                      <a:r>
                        <a:rPr lang="en-US" sz="1200" b="1" dirty="0">
                          <a:solidFill>
                            <a:srgbClr val="333333"/>
                          </a:solidFill>
                          <a:latin typeface="Arial Nova Light" pitchFamily="34" charset="0"/>
                          <a:ea typeface="Arial Nova Light" pitchFamily="34" charset="-122"/>
                          <a:cs typeface="Arial Nova Light" pitchFamily="34" charset="-120"/>
                        </a:rPr>
                        <a:t>✓</a:t>
                      </a:r>
                      <a:endParaRPr lang="en-US" sz="1200" dirty="0">
                        <a:latin typeface="Arial Nova Light" charset="0"/>
                        <a:ea typeface="Arial Nova Light" charset="0"/>
                        <a:cs typeface="Arial Nova Light" charset="0"/>
                      </a:endParaRPr>
                    </a:p>
                  </a:txBody>
                  <a:tcPr marL="64008" marR="64008" marT="64008" marB="64008"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00E1FF"/>
                    </a:solidFill>
                  </a:tcPr>
                </a:tc>
                <a:tc>
                  <a:txBody>
                    <a:bodyPr/>
                    <a:lstStyle/>
                    <a:p>
                      <a:pPr indent="0" marL="0">
                        <a:buNone/>
                      </a:pPr>
                      <a:r>
                        <a:rPr lang="en-US" sz="1200" b="1" dirty="0">
                          <a:solidFill>
                            <a:srgbClr val="333333"/>
                          </a:solidFill>
                          <a:latin typeface="Arial Nova Light" pitchFamily="34" charset="0"/>
                          <a:ea typeface="Arial Nova Light" pitchFamily="34" charset="-122"/>
                          <a:cs typeface="Arial Nova Light" pitchFamily="34" charset="-120"/>
                        </a:rPr>
                        <a:t>Verificación</a:t>
                      </a:r>
                      <a:endParaRPr lang="en-US" sz="1200" dirty="0">
                        <a:latin typeface="Arial Nova Light" charset="0"/>
                        <a:ea typeface="Arial Nova Light" charset="0"/>
                        <a:cs typeface="Arial Nova Light" charset="0"/>
                      </a:endParaRPr>
                    </a:p>
                  </a:txBody>
                  <a:tcPr marL="64008" marR="64008" marT="64008" marB="64008"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00E1FF"/>
                    </a:solidFill>
                  </a:tcPr>
                </a:tc>
                <a:tc>
                  <a:txBody>
                    <a:bodyPr/>
                    <a:lstStyle/>
                    <a:p>
                      <a:pPr algn="ctr" indent="0" marL="0">
                        <a:buNone/>
                      </a:pPr>
                      <a:r>
                        <a:rPr lang="en-US" sz="1200" b="1" dirty="0">
                          <a:solidFill>
                            <a:srgbClr val="333333"/>
                          </a:solidFill>
                          <a:latin typeface="Arial Nova Light" pitchFamily="34" charset="0"/>
                          <a:ea typeface="Arial Nova Light" pitchFamily="34" charset="-122"/>
                          <a:cs typeface="Arial Nova Light" pitchFamily="34" charset="-120"/>
                        </a:rPr>
                        <a:t>Evidencia P4</a:t>
                      </a:r>
                      <a:endParaRPr lang="en-US" sz="1200" dirty="0">
                        <a:latin typeface="Arial Nova Light" charset="0"/>
                        <a:ea typeface="Arial Nova Light" charset="0"/>
                        <a:cs typeface="Arial Nova Light" charset="0"/>
                      </a:endParaRPr>
                    </a:p>
                  </a:txBody>
                  <a:tcPr marL="64008" marR="64008" marT="64008" marB="64008"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00E1FF"/>
                    </a:solidFill>
                  </a:tcPr>
                </a:tc>
              </a:tr>
              <a:tr h="402336">
                <a:tc>
                  <a:txBody>
                    <a:bodyPr/>
                    <a:lstStyle/>
                    <a:p>
                      <a:pPr algn="ctr" indent="0" marL="0">
                        <a:buNone/>
                      </a:pPr>
                      <a:r>
                        <a:rPr lang="en-US" sz="1200" dirty="0">
                          <a:solidFill>
                            <a:srgbClr val="333333"/>
                          </a:solidFill>
                          <a:latin typeface="Arial Nova Light" pitchFamily="34" charset="0"/>
                          <a:ea typeface="Arial Nova Light" pitchFamily="34" charset="-122"/>
                          <a:cs typeface="Arial Nova Light" pitchFamily="34" charset="-120"/>
                        </a:rPr>
                        <a:t>☐</a:t>
                      </a:r>
                      <a:endParaRPr lang="en-US" sz="1200" dirty="0">
                        <a:latin typeface="Arial Nova Light" charset="0"/>
                        <a:ea typeface="Arial Nova Light" charset="0"/>
                        <a:cs typeface="Arial Nova Light" charset="0"/>
                      </a:endParaRPr>
                    </a:p>
                  </a:txBody>
                  <a:tcPr marL="64008" marR="64008" marT="64008" marB="64008"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indent="0" marL="0">
                        <a:buNone/>
                      </a:pPr>
                      <a:r>
                        <a:rPr lang="en-US" sz="1200" dirty="0">
                          <a:solidFill>
                            <a:srgbClr val="333333"/>
                          </a:solidFill>
                          <a:latin typeface="Arial Nova Light" pitchFamily="34" charset="0"/>
                          <a:ea typeface="Arial Nova Light" pitchFamily="34" charset="-122"/>
                          <a:cs typeface="Arial Nova Light" pitchFamily="34" charset="-120"/>
                        </a:rPr>
                        <a:t>La métrica principal se conecta con el KPI de impacto y el contrapeso</a:t>
                      </a:r>
                      <a:endParaRPr lang="en-US" sz="1200" dirty="0">
                        <a:latin typeface="Arial Nova Light" charset="0"/>
                        <a:ea typeface="Arial Nova Light" charset="0"/>
                        <a:cs typeface="Arial Nova Light" charset="0"/>
                      </a:endParaRPr>
                    </a:p>
                  </a:txBody>
                  <a:tcPr marL="64008" marR="64008" marT="64008" marB="64008"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666666"/>
                          </a:solidFill>
                          <a:latin typeface="Arial Nova Light" pitchFamily="34" charset="0"/>
                          <a:ea typeface="Arial Nova Light" pitchFamily="34" charset="-122"/>
                          <a:cs typeface="Arial Nova Light" pitchFamily="34" charset="-120"/>
                        </a:rPr>
                        <a:t>2.4</a:t>
                      </a:r>
                      <a:endParaRPr lang="en-US" sz="1200" dirty="0">
                        <a:latin typeface="Arial Nova Light" charset="0"/>
                        <a:ea typeface="Arial Nova Light" charset="0"/>
                        <a:cs typeface="Arial Nova Light" charset="0"/>
                      </a:endParaRPr>
                    </a:p>
                  </a:txBody>
                  <a:tcPr marL="64008" marR="64008" marT="64008" marB="64008"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402336">
                <a:tc>
                  <a:txBody>
                    <a:bodyPr/>
                    <a:lstStyle/>
                    <a:p>
                      <a:pPr algn="ctr" indent="0" marL="0">
                        <a:buNone/>
                      </a:pPr>
                      <a:r>
                        <a:rPr lang="en-US" sz="1200" dirty="0">
                          <a:solidFill>
                            <a:srgbClr val="333333"/>
                          </a:solidFill>
                          <a:latin typeface="Arial Nova Light" pitchFamily="34" charset="0"/>
                          <a:ea typeface="Arial Nova Light" pitchFamily="34" charset="-122"/>
                          <a:cs typeface="Arial Nova Light" pitchFamily="34" charset="-120"/>
                        </a:rPr>
                        <a:t>☐</a:t>
                      </a:r>
                      <a:endParaRPr lang="en-US" sz="1200" dirty="0">
                        <a:latin typeface="Arial Nova Light" charset="0"/>
                        <a:ea typeface="Arial Nova Light" charset="0"/>
                        <a:cs typeface="Arial Nova Light" charset="0"/>
                      </a:endParaRPr>
                    </a:p>
                  </a:txBody>
                  <a:tcPr marL="64008" marR="64008" marT="64008" marB="64008"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indent="0" marL="0">
                        <a:buNone/>
                      </a:pPr>
                      <a:r>
                        <a:rPr lang="en-US" sz="1200" dirty="0">
                          <a:solidFill>
                            <a:srgbClr val="333333"/>
                          </a:solidFill>
                          <a:latin typeface="Arial Nova Light" pitchFamily="34" charset="0"/>
                          <a:ea typeface="Arial Nova Light" pitchFamily="34" charset="-122"/>
                          <a:cs typeface="Arial Nova Light" pitchFamily="34" charset="-120"/>
                        </a:rPr>
                        <a:t>Los datos de prueba no se usaron para entrenar ni para ajustar</a:t>
                      </a:r>
                      <a:endParaRPr lang="en-US" sz="1200" dirty="0">
                        <a:latin typeface="Arial Nova Light" charset="0"/>
                        <a:ea typeface="Arial Nova Light" charset="0"/>
                        <a:cs typeface="Arial Nova Light" charset="0"/>
                      </a:endParaRPr>
                    </a:p>
                  </a:txBody>
                  <a:tcPr marL="64008" marR="64008" marT="64008" marB="64008"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666666"/>
                          </a:solidFill>
                          <a:latin typeface="Arial Nova Light" pitchFamily="34" charset="0"/>
                          <a:ea typeface="Arial Nova Light" pitchFamily="34" charset="-122"/>
                          <a:cs typeface="Arial Nova Light" pitchFamily="34" charset="-120"/>
                        </a:rPr>
                        <a:t>2.5</a:t>
                      </a:r>
                      <a:endParaRPr lang="en-US" sz="1200" dirty="0">
                        <a:latin typeface="Arial Nova Light" charset="0"/>
                        <a:ea typeface="Arial Nova Light" charset="0"/>
                        <a:cs typeface="Arial Nova Light" charset="0"/>
                      </a:endParaRPr>
                    </a:p>
                  </a:txBody>
                  <a:tcPr marL="64008" marR="64008" marT="64008" marB="64008"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402336">
                <a:tc>
                  <a:txBody>
                    <a:bodyPr/>
                    <a:lstStyle/>
                    <a:p>
                      <a:pPr algn="ctr" indent="0" marL="0">
                        <a:buNone/>
                      </a:pPr>
                      <a:r>
                        <a:rPr lang="en-US" sz="1200" dirty="0">
                          <a:solidFill>
                            <a:srgbClr val="333333"/>
                          </a:solidFill>
                          <a:latin typeface="Arial Nova Light" pitchFamily="34" charset="0"/>
                          <a:ea typeface="Arial Nova Light" pitchFamily="34" charset="-122"/>
                          <a:cs typeface="Arial Nova Light" pitchFamily="34" charset="-120"/>
                        </a:rPr>
                        <a:t>☐</a:t>
                      </a:r>
                      <a:endParaRPr lang="en-US" sz="1200" dirty="0">
                        <a:latin typeface="Arial Nova Light" charset="0"/>
                        <a:ea typeface="Arial Nova Light" charset="0"/>
                        <a:cs typeface="Arial Nova Light" charset="0"/>
                      </a:endParaRPr>
                    </a:p>
                  </a:txBody>
                  <a:tcPr marL="64008" marR="64008" marT="64008" marB="64008"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indent="0" marL="0">
                        <a:buNone/>
                      </a:pPr>
                      <a:r>
                        <a:rPr lang="en-US" sz="1200" dirty="0">
                          <a:solidFill>
                            <a:srgbClr val="333333"/>
                          </a:solidFill>
                          <a:latin typeface="Arial Nova Light" pitchFamily="34" charset="0"/>
                          <a:ea typeface="Arial Nova Light" pitchFamily="34" charset="-122"/>
                          <a:cs typeface="Arial Nova Light" pitchFamily="34" charset="-120"/>
                        </a:rPr>
                        <a:t>Hay al menos dos baselines en la tabla</a:t>
                      </a:r>
                      <a:endParaRPr lang="en-US" sz="1200" dirty="0">
                        <a:latin typeface="Arial Nova Light" charset="0"/>
                        <a:ea typeface="Arial Nova Light" charset="0"/>
                        <a:cs typeface="Arial Nova Light" charset="0"/>
                      </a:endParaRPr>
                    </a:p>
                  </a:txBody>
                  <a:tcPr marL="64008" marR="64008" marT="64008" marB="64008"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666666"/>
                          </a:solidFill>
                          <a:latin typeface="Arial Nova Light" pitchFamily="34" charset="0"/>
                          <a:ea typeface="Arial Nova Light" pitchFamily="34" charset="-122"/>
                          <a:cs typeface="Arial Nova Light" pitchFamily="34" charset="-120"/>
                        </a:rPr>
                        <a:t>2.3 · 4.2</a:t>
                      </a:r>
                      <a:endParaRPr lang="en-US" sz="1200" dirty="0">
                        <a:latin typeface="Arial Nova Light" charset="0"/>
                        <a:ea typeface="Arial Nova Light" charset="0"/>
                        <a:cs typeface="Arial Nova Light" charset="0"/>
                      </a:endParaRPr>
                    </a:p>
                  </a:txBody>
                  <a:tcPr marL="64008" marR="64008" marT="64008" marB="64008"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402336">
                <a:tc>
                  <a:txBody>
                    <a:bodyPr/>
                    <a:lstStyle/>
                    <a:p>
                      <a:pPr algn="ctr" indent="0" marL="0">
                        <a:buNone/>
                      </a:pPr>
                      <a:r>
                        <a:rPr lang="en-US" sz="1200" dirty="0">
                          <a:solidFill>
                            <a:srgbClr val="333333"/>
                          </a:solidFill>
                          <a:latin typeface="Arial Nova Light" pitchFamily="34" charset="0"/>
                          <a:ea typeface="Arial Nova Light" pitchFamily="34" charset="-122"/>
                          <a:cs typeface="Arial Nova Light" pitchFamily="34" charset="-120"/>
                        </a:rPr>
                        <a:t>☐</a:t>
                      </a:r>
                      <a:endParaRPr lang="en-US" sz="1200" dirty="0">
                        <a:latin typeface="Arial Nova Light" charset="0"/>
                        <a:ea typeface="Arial Nova Light" charset="0"/>
                        <a:cs typeface="Arial Nova Light" charset="0"/>
                      </a:endParaRPr>
                    </a:p>
                  </a:txBody>
                  <a:tcPr marL="64008" marR="64008" marT="64008" marB="64008"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indent="0" marL="0">
                        <a:buNone/>
                      </a:pPr>
                      <a:r>
                        <a:rPr lang="en-US" sz="1200" dirty="0">
                          <a:solidFill>
                            <a:srgbClr val="333333"/>
                          </a:solidFill>
                          <a:latin typeface="Arial Nova Light" pitchFamily="34" charset="0"/>
                          <a:ea typeface="Arial Nova Light" pitchFamily="34" charset="-122"/>
                          <a:cs typeface="Arial Nova Light" pitchFamily="34" charset="-120"/>
                        </a:rPr>
                        <a:t>Cada número tiene su rango</a:t>
                      </a:r>
                      <a:endParaRPr lang="en-US" sz="1200" dirty="0">
                        <a:latin typeface="Arial Nova Light" charset="0"/>
                        <a:ea typeface="Arial Nova Light" charset="0"/>
                        <a:cs typeface="Arial Nova Light" charset="0"/>
                      </a:endParaRPr>
                    </a:p>
                  </a:txBody>
                  <a:tcPr marL="64008" marR="64008" marT="64008" marB="64008"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666666"/>
                          </a:solidFill>
                          <a:latin typeface="Arial Nova Light" pitchFamily="34" charset="0"/>
                          <a:ea typeface="Arial Nova Light" pitchFamily="34" charset="-122"/>
                          <a:cs typeface="Arial Nova Light" pitchFamily="34" charset="-120"/>
                        </a:rPr>
                        <a:t>2.6</a:t>
                      </a:r>
                      <a:endParaRPr lang="en-US" sz="1200" dirty="0">
                        <a:latin typeface="Arial Nova Light" charset="0"/>
                        <a:ea typeface="Arial Nova Light" charset="0"/>
                        <a:cs typeface="Arial Nova Light" charset="0"/>
                      </a:endParaRPr>
                    </a:p>
                  </a:txBody>
                  <a:tcPr marL="64008" marR="64008" marT="64008" marB="64008"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402336">
                <a:tc>
                  <a:txBody>
                    <a:bodyPr/>
                    <a:lstStyle/>
                    <a:p>
                      <a:pPr algn="ctr" indent="0" marL="0">
                        <a:buNone/>
                      </a:pPr>
                      <a:r>
                        <a:rPr lang="en-US" sz="1200" dirty="0">
                          <a:solidFill>
                            <a:srgbClr val="333333"/>
                          </a:solidFill>
                          <a:latin typeface="Arial Nova Light" pitchFamily="34" charset="0"/>
                          <a:ea typeface="Arial Nova Light" pitchFamily="34" charset="-122"/>
                          <a:cs typeface="Arial Nova Light" pitchFamily="34" charset="-120"/>
                        </a:rPr>
                        <a:t>☐</a:t>
                      </a:r>
                      <a:endParaRPr lang="en-US" sz="1200" dirty="0">
                        <a:latin typeface="Arial Nova Light" charset="0"/>
                        <a:ea typeface="Arial Nova Light" charset="0"/>
                        <a:cs typeface="Arial Nova Light" charset="0"/>
                      </a:endParaRPr>
                    </a:p>
                  </a:txBody>
                  <a:tcPr marL="64008" marR="64008" marT="64008" marB="64008"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indent="0" marL="0">
                        <a:buNone/>
                      </a:pPr>
                      <a:r>
                        <a:rPr lang="en-US" sz="1200" dirty="0">
                          <a:solidFill>
                            <a:srgbClr val="333333"/>
                          </a:solidFill>
                          <a:latin typeface="Arial Nova Light" pitchFamily="34" charset="0"/>
                          <a:ea typeface="Arial Nova Light" pitchFamily="34" charset="-122"/>
                          <a:cs typeface="Arial Nova Light" pitchFamily="34" charset="-120"/>
                        </a:rPr>
                        <a:t>Hay al menos 2 segmentos analizados</a:t>
                      </a:r>
                      <a:endParaRPr lang="en-US" sz="1200" dirty="0">
                        <a:latin typeface="Arial Nova Light" charset="0"/>
                        <a:ea typeface="Arial Nova Light" charset="0"/>
                        <a:cs typeface="Arial Nova Light" charset="0"/>
                      </a:endParaRPr>
                    </a:p>
                  </a:txBody>
                  <a:tcPr marL="64008" marR="64008" marT="64008" marB="64008"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666666"/>
                          </a:solidFill>
                          <a:latin typeface="Arial Nova Light" pitchFamily="34" charset="0"/>
                          <a:ea typeface="Arial Nova Light" pitchFamily="34" charset="-122"/>
                          <a:cs typeface="Arial Nova Light" pitchFamily="34" charset="-120"/>
                        </a:rPr>
                        <a:t>2.7</a:t>
                      </a:r>
                      <a:endParaRPr lang="en-US" sz="1200" dirty="0">
                        <a:latin typeface="Arial Nova Light" charset="0"/>
                        <a:ea typeface="Arial Nova Light" charset="0"/>
                        <a:cs typeface="Arial Nova Light" charset="0"/>
                      </a:endParaRPr>
                    </a:p>
                  </a:txBody>
                  <a:tcPr marL="64008" marR="64008" marT="64008" marB="64008"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402336">
                <a:tc>
                  <a:txBody>
                    <a:bodyPr/>
                    <a:lstStyle/>
                    <a:p>
                      <a:pPr algn="ctr" indent="0" marL="0">
                        <a:buNone/>
                      </a:pPr>
                      <a:r>
                        <a:rPr lang="en-US" sz="1200" dirty="0">
                          <a:solidFill>
                            <a:srgbClr val="333333"/>
                          </a:solidFill>
                          <a:latin typeface="Arial Nova Light" pitchFamily="34" charset="0"/>
                          <a:ea typeface="Arial Nova Light" pitchFamily="34" charset="-122"/>
                          <a:cs typeface="Arial Nova Light" pitchFamily="34" charset="-120"/>
                        </a:rPr>
                        <a:t>☐</a:t>
                      </a:r>
                      <a:endParaRPr lang="en-US" sz="1200" dirty="0">
                        <a:latin typeface="Arial Nova Light" charset="0"/>
                        <a:ea typeface="Arial Nova Light" charset="0"/>
                        <a:cs typeface="Arial Nova Light" charset="0"/>
                      </a:endParaRPr>
                    </a:p>
                  </a:txBody>
                  <a:tcPr marL="64008" marR="64008" marT="64008" marB="64008"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indent="0" marL="0">
                        <a:buNone/>
                      </a:pPr>
                      <a:r>
                        <a:rPr lang="en-US" sz="1200" dirty="0">
                          <a:solidFill>
                            <a:srgbClr val="333333"/>
                          </a:solidFill>
                          <a:latin typeface="Arial Nova Light" pitchFamily="34" charset="0"/>
                          <a:ea typeface="Arial Nova Light" pitchFamily="34" charset="-122"/>
                          <a:cs typeface="Arial Nova Light" pitchFamily="34" charset="-120"/>
                        </a:rPr>
                        <a:t>La Model Card tiene sus 8 cajas llenas o con «No aplica»</a:t>
                      </a:r>
                      <a:endParaRPr lang="en-US" sz="1200" dirty="0">
                        <a:latin typeface="Arial Nova Light" charset="0"/>
                        <a:ea typeface="Arial Nova Light" charset="0"/>
                        <a:cs typeface="Arial Nova Light" charset="0"/>
                      </a:endParaRPr>
                    </a:p>
                  </a:txBody>
                  <a:tcPr marL="64008" marR="64008" marT="64008" marB="64008"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666666"/>
                          </a:solidFill>
                          <a:latin typeface="Arial Nova Light" pitchFamily="34" charset="0"/>
                          <a:ea typeface="Arial Nova Light" pitchFamily="34" charset="-122"/>
                          <a:cs typeface="Arial Nova Light" pitchFamily="34" charset="-120"/>
                        </a:rPr>
                        <a:t>5.3</a:t>
                      </a:r>
                      <a:endParaRPr lang="en-US" sz="1200" dirty="0">
                        <a:latin typeface="Arial Nova Light" charset="0"/>
                        <a:ea typeface="Arial Nova Light" charset="0"/>
                        <a:cs typeface="Arial Nova Light" charset="0"/>
                      </a:endParaRPr>
                    </a:p>
                  </a:txBody>
                  <a:tcPr marL="64008" marR="64008" marT="64008" marB="64008"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402336">
                <a:tc>
                  <a:txBody>
                    <a:bodyPr/>
                    <a:lstStyle/>
                    <a:p>
                      <a:pPr algn="ctr" indent="0" marL="0">
                        <a:buNone/>
                      </a:pPr>
                      <a:r>
                        <a:rPr lang="en-US" sz="1200" dirty="0">
                          <a:solidFill>
                            <a:srgbClr val="333333"/>
                          </a:solidFill>
                          <a:latin typeface="Arial Nova Light" pitchFamily="34" charset="0"/>
                          <a:ea typeface="Arial Nova Light" pitchFamily="34" charset="-122"/>
                          <a:cs typeface="Arial Nova Light" pitchFamily="34" charset="-120"/>
                        </a:rPr>
                        <a:t>☐</a:t>
                      </a:r>
                      <a:endParaRPr lang="en-US" sz="1200" dirty="0">
                        <a:latin typeface="Arial Nova Light" charset="0"/>
                        <a:ea typeface="Arial Nova Light" charset="0"/>
                        <a:cs typeface="Arial Nova Light" charset="0"/>
                      </a:endParaRPr>
                    </a:p>
                  </a:txBody>
                  <a:tcPr marL="64008" marR="64008" marT="64008" marB="64008"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indent="0" marL="0">
                        <a:buNone/>
                      </a:pPr>
                      <a:r>
                        <a:rPr lang="en-US" sz="1200" dirty="0">
                          <a:solidFill>
                            <a:srgbClr val="333333"/>
                          </a:solidFill>
                          <a:latin typeface="Arial Nova Light" pitchFamily="34" charset="0"/>
                          <a:ea typeface="Arial Nova Light" pitchFamily="34" charset="-122"/>
                          <a:cs typeface="Arial Nova Light" pitchFamily="34" charset="-120"/>
                        </a:rPr>
                        <a:t>Los 3 riesgos tienen señal de alerta con fecha y responsable</a:t>
                      </a:r>
                      <a:endParaRPr lang="en-US" sz="1200" dirty="0">
                        <a:latin typeface="Arial Nova Light" charset="0"/>
                        <a:ea typeface="Arial Nova Light" charset="0"/>
                        <a:cs typeface="Arial Nova Light" charset="0"/>
                      </a:endParaRPr>
                    </a:p>
                  </a:txBody>
                  <a:tcPr marL="64008" marR="64008" marT="64008" marB="64008"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666666"/>
                          </a:solidFill>
                          <a:latin typeface="Arial Nova Light" pitchFamily="34" charset="0"/>
                          <a:ea typeface="Arial Nova Light" pitchFamily="34" charset="-122"/>
                          <a:cs typeface="Arial Nova Light" pitchFamily="34" charset="-120"/>
                        </a:rPr>
                        <a:t>5.4</a:t>
                      </a:r>
                      <a:endParaRPr lang="en-US" sz="1200" dirty="0">
                        <a:latin typeface="Arial Nova Light" charset="0"/>
                        <a:ea typeface="Arial Nova Light" charset="0"/>
                        <a:cs typeface="Arial Nova Light" charset="0"/>
                      </a:endParaRPr>
                    </a:p>
                  </a:txBody>
                  <a:tcPr marL="64008" marR="64008" marT="64008" marB="64008"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402336">
                <a:tc>
                  <a:txBody>
                    <a:bodyPr/>
                    <a:lstStyle/>
                    <a:p>
                      <a:pPr algn="ctr" indent="0" marL="0">
                        <a:buNone/>
                      </a:pPr>
                      <a:r>
                        <a:rPr lang="en-US" sz="1200" dirty="0">
                          <a:solidFill>
                            <a:srgbClr val="333333"/>
                          </a:solidFill>
                          <a:latin typeface="Arial Nova Light" pitchFamily="34" charset="0"/>
                          <a:ea typeface="Arial Nova Light" pitchFamily="34" charset="-122"/>
                          <a:cs typeface="Arial Nova Light" pitchFamily="34" charset="-120"/>
                        </a:rPr>
                        <a:t>☐</a:t>
                      </a:r>
                      <a:endParaRPr lang="en-US" sz="1200" dirty="0">
                        <a:latin typeface="Arial Nova Light" charset="0"/>
                        <a:ea typeface="Arial Nova Light" charset="0"/>
                        <a:cs typeface="Arial Nova Light" charset="0"/>
                      </a:endParaRPr>
                    </a:p>
                  </a:txBody>
                  <a:tcPr marL="64008" marR="64008" marT="64008" marB="64008"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indent="0" marL="0">
                        <a:buNone/>
                      </a:pPr>
                      <a:r>
                        <a:rPr lang="en-US" sz="1200" dirty="0">
                          <a:solidFill>
                            <a:srgbClr val="333333"/>
                          </a:solidFill>
                          <a:latin typeface="Arial Nova Light" pitchFamily="34" charset="0"/>
                          <a:ea typeface="Arial Nova Light" pitchFamily="34" charset="-122"/>
                          <a:cs typeface="Arial Nova Light" pitchFamily="34" charset="-120"/>
                        </a:rPr>
                        <a:t>Se borraron todas las pistas en gris</a:t>
                      </a:r>
                      <a:endParaRPr lang="en-US" sz="1200" dirty="0">
                        <a:latin typeface="Arial Nova Light" charset="0"/>
                        <a:ea typeface="Arial Nova Light" charset="0"/>
                        <a:cs typeface="Arial Nova Light" charset="0"/>
                      </a:endParaRPr>
                    </a:p>
                  </a:txBody>
                  <a:tcPr marL="64008" marR="64008" marT="64008" marB="64008"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666666"/>
                          </a:solidFill>
                          <a:latin typeface="Arial Nova Light" pitchFamily="34" charset="0"/>
                          <a:ea typeface="Arial Nova Light" pitchFamily="34" charset="-122"/>
                          <a:cs typeface="Arial Nova Light" pitchFamily="34" charset="-120"/>
                        </a:rPr>
                        <a:t>—</a:t>
                      </a:r>
                      <a:endParaRPr lang="en-US" sz="1200" dirty="0">
                        <a:latin typeface="Arial Nova Light" charset="0"/>
                        <a:ea typeface="Arial Nova Light" charset="0"/>
                        <a:cs typeface="Arial Nova Light" charset="0"/>
                      </a:endParaRPr>
                    </a:p>
                  </a:txBody>
                  <a:tcPr marL="64008" marR="64008" marT="64008" marB="64008"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16" name="Text 12"/>
          <p:cNvSpPr/>
          <p:nvPr/>
        </p:nvSpPr>
        <p:spPr>
          <a:xfrm>
            <a:off x="8762695" y="6400800"/>
            <a:ext cx="2743200" cy="274320"/>
          </a:xfrm>
          <a:prstGeom prst="rect">
            <a:avLst/>
          </a:prstGeom>
          <a:noFill/>
          <a:ln/>
        </p:spPr>
        <p:txBody>
          <a:bodyPr wrap="square" lIns="0" tIns="0" rIns="0" bIns="0" rtlCol="0" anchor="ctr"/>
          <a:lstStyle/>
          <a:p>
            <a:pPr algn="r" indent="0" marL="0">
              <a:buNone/>
            </a:pPr>
            <a:r>
              <a:rPr lang="en-US" sz="1000" dirty="0">
                <a:solidFill>
                  <a:srgbClr val="666666"/>
                </a:solidFill>
                <a:latin typeface="Arial Nova Light" pitchFamily="34" charset="0"/>
                <a:ea typeface="Arial Nova Light" pitchFamily="34" charset="-122"/>
                <a:cs typeface="Arial Nova Light" pitchFamily="34" charset="-120"/>
              </a:rPr>
              <a:t>E5 · Equipo N.º ____</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E5 · Plantilla de evaluación del modelo</dc:title>
  <dc:subject>PptxGenJS Presentation</dc:subject>
  <dc:creator>Diego Benavides Huaita</dc:creator>
  <cp:lastModifiedBy>Diego Benavides Huaita</cp:lastModifiedBy>
  <cp:revision>1</cp:revision>
  <dcterms:created xsi:type="dcterms:W3CDTF">2026-10-25T01:26:34Z</dcterms:created>
  <dcterms:modified xsi:type="dcterms:W3CDTF">2026-10-25T01:26:34Z</dcterms:modified>
</cp:coreProperties>
</file>