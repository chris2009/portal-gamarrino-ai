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2194560" cy="4297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2743200"/>
            <a:ext cx="4572000" cy="502920"/>
          </a:xfrm>
          <a:prstGeom prst="rect">
            <a:avLst/>
          </a:prstGeom>
          <a:solidFill>
            <a:srgbClr val="00E1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2743200"/>
            <a:ext cx="45720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CAPSTONE PROJECT I · E5 · EJEMPLO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85800" y="352044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E4B4C"/>
                </a:solidFill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Evaluación del modelo: plan, baseline, Model Card y riesgos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58064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4B4C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Equipo de ejemplo · Proyecto: Lista inteligente de cobranza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4B4C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Caso ficticio para mostrar el nivel de detalle esperado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04169"/>
            <a:ext cx="5242255" cy="3049661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2557668"/>
            <a:ext cx="4236415" cy="17426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2194560" cy="4297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09728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Cómo leer este ejemplo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85800" y="178308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Es el caso de cobranza de la Semana 6, llevado a la plantilla. Es un modelo de ML clásico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85800" y="2331720"/>
            <a:ext cx="55778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" y="2441448"/>
            <a:ext cx="5248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El caso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50392" y="2807208"/>
            <a:ext cx="5248656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Decisión (E2): a qué clientes llama cada semana el equipo de cobranza para recuperar cuotas vencidas. El equipo puede hacer 50 llamadas por semana.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Producto: una lista de 50 clientes ordenada por probabilidad de regularizar, con el motivo principal, en el CRM del supervisor, cada lunes a las 8:00.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Fíjense en tres cosas: cada número tiene su rango; la tabla compara contra lo que se hace hoy; y el equipo dice dónde falla su modelo.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92240" y="2331720"/>
            <a:ext cx="5013655" cy="3931920"/>
          </a:xfrm>
          <a:prstGeom prst="rect">
            <a:avLst/>
          </a:prstGeom>
          <a:solidFill>
            <a:srgbClr val="4E4B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20840" y="2514600"/>
            <a:ext cx="4556455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E1FF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Si su solución usa un LLM o un agente, cambia: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Métrica: compuesta (calidad con rúbrica humana y κ, más costo y latencia).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Datos de prueba: separados antes de iterar el prompt.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Rango: varias corridas por caso, además del bootstrap.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Tabla: la columna de costo y latencia es obligatoria.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Model Card: modelo base y versión, prompt, RAG o herramientas.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Dónde falla: por tipo de consulta; en agentes, por paso.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Ejemplo ilustrativo: caso y valores ficticios, ajenos a los proyectos del curso.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2194560" cy="4297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09728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Plan de evaluación (1/2)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202375" y="457200"/>
            <a:ext cx="5303520" cy="347472"/>
          </a:xfrm>
          <a:prstGeom prst="rect">
            <a:avLst/>
          </a:prstGeom>
          <a:solidFill>
            <a:srgbClr val="00E1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02375" y="457200"/>
            <a:ext cx="530352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EJEMPLO · SECCIÓN 1 · PLAN DE EVALUACIÓN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85800" y="1920240"/>
            <a:ext cx="3454298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" y="2029968"/>
            <a:ext cx="31251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1 · Problema de ML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50392" y="2395728"/>
            <a:ext cx="3125114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Tarea: ranking (clasificación binaria ordenada por probabilidad).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Unidad: cliente × semana.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Momento: lunes 8:00, cuando el supervisor arma la lista.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Horizonte: ¿regulariza su deuda en los próximos 30 días?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68698" y="1920240"/>
            <a:ext cx="3454298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33290" y="2029968"/>
            <a:ext cx="31251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2 · Métrica ↔ KPI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33290" y="2395728"/>
            <a:ext cx="3125114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Métrica: Recall@50, el porcentaje de los clientes que regularizarían que queda dentro de las 50 llamadas.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Por qué: solo hay 50 llamadas; el error más caro es dejar fuera a quien sí pagaría.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KPI de impacto: recupero de cartera vencida.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Contrapeso: quejas por cada 100 llamadas ≤ 2,1 (nivel actual).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051597" y="1920240"/>
            <a:ext cx="3454298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16189" y="2029968"/>
            <a:ext cx="31251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3 · Baselines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16189" y="2395728"/>
            <a:ext cx="3125114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No hacer nada: 50 clientes al azar.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Lo que se hace hoy (alternativa dominante del A2): llamar a quienes tienen más días de mora.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Modelo simple: regresión logística con 6 variables.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Ejemplo ilustrativo: caso y valores ficticios, ajenos a los proyectos del curso.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2194560" cy="4297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09728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Plan de evaluación (2/2)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202375" y="457200"/>
            <a:ext cx="5303520" cy="347472"/>
          </a:xfrm>
          <a:prstGeom prst="rect">
            <a:avLst/>
          </a:prstGeom>
          <a:solidFill>
            <a:srgbClr val="00E1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02375" y="457200"/>
            <a:ext cx="530352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EJEMPLO · SECCIÓN 1 · PLAN DE EVALUACIÓN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85800" y="1920240"/>
            <a:ext cx="3454298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" y="2029968"/>
            <a:ext cx="31251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4 · Con qué datos se prueba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50392" y="2395728"/>
            <a:ext cx="3125114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Entrenamiento: enero 2024 – junio 2025.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Prueba: julio – septiembre 2025 (13 semanas, 26 000 filas), nunca usada para ajustar.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Corte temporal: las variables se calculan solo con datos hasta el domingo 23:59 (revisado en el CAL-4 del E4).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68698" y="1920240"/>
            <a:ext cx="3454298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33290" y="2029968"/>
            <a:ext cx="31251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5 · Un rango y dónde falla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33290" y="2395728"/>
            <a:ext cx="3125114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Rango: intervalo de confianza del 95 % por bootstrap, remuestreando semanas (1 000 repeticiones).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Segmentos para el error: antigüedad del cliente, monto de la deuda y teléfono validado.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051597" y="1920240"/>
            <a:ext cx="3454298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16189" y="2029968"/>
            <a:ext cx="31251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6 · Criterio de decisión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16189" y="2395728"/>
            <a:ext cx="3125114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Si el modelo v0 no supera a lo que se hace hoy por más que el rango, nos quedamos con la regresión logística y trabajamos las variables.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Si las quejas suben sobre 2,1, se ajusta el guion de llamada antes de cambiar el modelo.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Ejemplo ilustrativo: caso y valores ficticios, ajenos a los proyectos del curso.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2194560" cy="4297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09728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Baseline contra modelo v0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85800" y="178308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Conjunto de prueba: 13 semanas (julio – septiembre 2025)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836615" y="457200"/>
            <a:ext cx="5669280" cy="347472"/>
          </a:xfrm>
          <a:prstGeom prst="rect">
            <a:avLst/>
          </a:prstGeom>
          <a:solidFill>
            <a:srgbClr val="00E1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36615" y="457200"/>
            <a:ext cx="566928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EJEMPLO · SECCIÓN 2 · BASELINE CONTRA MODELO V0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86000"/>
          <a:ext cx="10820095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2103120"/>
                <a:gridCol w="2103120"/>
                <a:gridCol w="1965960"/>
                <a:gridCol w="1493215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Opción</a:t>
                      </a:r>
                      <a:endParaRPr lang="en-US" sz="120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Recall@50 [IC 95 %]</a:t>
                      </a:r>
                      <a:endParaRPr lang="en-US" sz="120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Quejas por 100 llamadas</a:t>
                      </a:r>
                      <a:endParaRPr lang="en-US" sz="120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Costo y latencia por caso</a:t>
                      </a:r>
                      <a:endParaRPr lang="en-US" sz="120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N.º de casos de prueba</a:t>
                      </a:r>
                      <a:endParaRPr lang="en-US" sz="120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No hacer nada (azar)</a:t>
                      </a:r>
                      <a:endParaRPr lang="en-US" sz="120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0,12 [0,08–0,16]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2,3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—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26 000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Lo que se hace hoy (días de mora)</a:t>
                      </a:r>
                      <a:endParaRPr lang="en-US" sz="120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0,35 [0,29–0,41]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2,1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—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26 000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Modelo simple (reg. logística)</a:t>
                      </a:r>
                      <a:endParaRPr lang="en-US" sz="120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0,55 [0,48–0,61]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2,0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Lote semanal, &lt; 5 min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26 000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Modelo v0 (gradient boosting)</a:t>
                      </a:r>
                      <a:endParaRPr lang="en-US" sz="120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0,62 [0,55–0,68]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1,9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Lote semanal, &lt; 5 min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26 000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85800" y="4572000"/>
            <a:ext cx="10820095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50392" y="4681728"/>
            <a:ext cx="10490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Lectura en tres líneas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50392" y="5047488"/>
            <a:ext cx="10490911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1) De 0,35 con lo que se hace hoy a 0,62 con el modelo v0: de cada 100 clientes que regularizarían, 62 están en la lista en lugar de 35. Las quejas no suben (1,9 frente a 2,1).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2) Frente a lo que se hace hoy, la diferencia es mayor que el rango (los intervalos no se cruzan). Frente al modelo simple, la mejora es de 0,07 y los intervalos se cruzan: no es concluyente.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3) Para la decisión: seguimos con el modelo v0, pero mantenemos la regresión logística como alternativa, porque es más simple de explicar y casi igual de buena.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Ejemplo ilustrativo: caso y valores ficticios, ajenos a los proyectos del curso.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2194560" cy="4297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09728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Dónde falla el modelo v0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85800" y="178308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Recall@50 por segmento en el conjunto de prueba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836615" y="457200"/>
            <a:ext cx="5669280" cy="347472"/>
          </a:xfrm>
          <a:prstGeom prst="rect">
            <a:avLst/>
          </a:prstGeom>
          <a:solidFill>
            <a:srgbClr val="00E1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36615" y="457200"/>
            <a:ext cx="566928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EJEMPLO · SECCIÓN 2 · BASELINE CONTRA MODELO V0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86000"/>
          <a:ext cx="1082009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280160"/>
                <a:gridCol w="1645920"/>
                <a:gridCol w="1737360"/>
                <a:gridCol w="3504895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Segmento</a:t>
                      </a:r>
                      <a:endParaRPr lang="en-US" sz="115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N.º de casos</a:t>
                      </a:r>
                      <a:endParaRPr lang="en-US" sz="115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Recall@50</a:t>
                      </a:r>
                      <a:endParaRPr lang="en-US" sz="115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Frente al total</a:t>
                      </a:r>
                      <a:endParaRPr lang="en-US" sz="115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Por qué creemos que pasa</a:t>
                      </a:r>
                      <a:endParaRPr lang="en-US" sz="115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Total</a:t>
                      </a:r>
                      <a:endParaRPr lang="en-US" sz="115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26 000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0,62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—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—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Clientes con menos de 6 meses</a:t>
                      </a:r>
                      <a:endParaRPr lang="en-US" sz="115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3 900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0,41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−0,21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Tienen poco historial de pagos: las variables de comportamiento casi no tienen información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Sin teléfono validado</a:t>
                      </a:r>
                      <a:endParaRPr lang="en-US" sz="115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2 100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0,48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−0,14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Se los prioriza, pero no se los puede contactar: es un problema del dato, no del modelo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Deuda mayor a S/ 5 000</a:t>
                      </a:r>
                      <a:endParaRPr lang="en-US" sz="115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2 600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0,58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−0,04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Diferencia dentro del rango: no es concluyente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85800" y="4892040"/>
            <a:ext cx="10820095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50392" y="5001768"/>
            <a:ext cx="10490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Qué haremos con esto antes del 21 de noviembre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50392" y="5367528"/>
            <a:ext cx="10490911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Clientes nuevos: probaremos una variable del primer mes de pagos; si no mejora, se declara como limitación y para ellos se usa la regla actual.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Sin teléfono validado: se excluyen de la lista antes de ordenar, como cambio de alcance acordado con el asesor.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Ejemplo ilustrativo: caso y valores ficticios, ajenos a los proyectos del curso.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2194560" cy="4297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09728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Model Card v0 (1/2)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796735" y="457200"/>
            <a:ext cx="4709160" cy="347472"/>
          </a:xfrm>
          <a:prstGeom prst="rect">
            <a:avLst/>
          </a:prstGeom>
          <a:solidFill>
            <a:srgbClr val="00E1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796735" y="457200"/>
            <a:ext cx="470916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EJEMPLO · SECCIÓN 3 · MODEL CARD V0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85800" y="1920240"/>
            <a:ext cx="5295748" cy="207568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" y="2029968"/>
            <a:ext cx="4966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Qué 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50392" y="2395728"/>
            <a:ext cx="496656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Gradient boosting (LightGBM) con 18 variables: historial de pagos, días de mora, monto, contactos previos y canal. Versión v0 del 26 de octubre de 2026.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0148" y="1920240"/>
            <a:ext cx="5295748" cy="207568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74740" y="2029968"/>
            <a:ext cx="4966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Uso previsto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374740" y="2395728"/>
            <a:ext cx="496656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El supervisor de cobranza, cada lunes a las 8:00, para ordenar a quién llamar esa semana. La lista llega al CRM con el motivo principal de cada cliente.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4133088"/>
            <a:ext cx="5295748" cy="207568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" y="4242816"/>
            <a:ext cx="4966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Uso no previsto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50392" y="4608576"/>
            <a:ext cx="496656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No sirve para decidir refinanciaciones, castigos de deuda, acciones legales ni evaluación de crédito: no se entrenó ni se evaluó para eso.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10148" y="4133088"/>
            <a:ext cx="5295748" cy="207568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74740" y="4242816"/>
            <a:ext cx="4966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Datos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74740" y="4608576"/>
            <a:ext cx="496656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Entrenamiento: enero 2024 – junio 2025 (unas 150 000 filas cliente × semana). Prueba: julio – septiembre 2025 (26 000 filas). Detalle en el datasheet del E4.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Ejemplo ilustrativo: caso y valores ficticios, ajenos a los proyectos del curso.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2194560" cy="4297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09728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Model Card v0 (2/2)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796735" y="457200"/>
            <a:ext cx="4709160" cy="347472"/>
          </a:xfrm>
          <a:prstGeom prst="rect">
            <a:avLst/>
          </a:prstGeom>
          <a:solidFill>
            <a:srgbClr val="00E1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796735" y="457200"/>
            <a:ext cx="470916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EJEMPLO · SECCIÓN 3 · MODEL CARD V0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85800" y="1920240"/>
            <a:ext cx="5295748" cy="207568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" y="2029968"/>
            <a:ext cx="4966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Resultados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50392" y="2395728"/>
            <a:ext cx="496656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Recall@50 = 0,62 [IC 95 %: 0,55–0,68], frente a 0,35 de lo que se hace hoy. Quejas: 1,9 por cada 100 llamadas. Segmento más débil: clientes con menos de 6 meses (0,41).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0148" y="1920240"/>
            <a:ext cx="5295748" cy="207568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74740" y="2029968"/>
            <a:ext cx="4966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Cómo se evaluó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374740" y="2395728"/>
            <a:ext cx="496656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Corte temporal; 13 semanas de prueba que nunca se usaron para ajustar. Rango por bootstrap remuestreando semanas. Comparación contra tres baselines.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4133088"/>
            <a:ext cx="5295748" cy="207568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" y="4242816"/>
            <a:ext cx="4966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Limitaciones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50392" y="4608576"/>
            <a:ext cx="496656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Funciona peor con clientes nuevos. Supone 50 llamadas por semana: con otra capacidad, hay que recalcular la métrica. Si cambia la política de cobranza, hay que reentrenar.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10148" y="4133088"/>
            <a:ext cx="5295748" cy="207568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74740" y="4242816"/>
            <a:ext cx="4966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Consideraciones éticas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74740" y="4608576"/>
            <a:ext cx="496656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Usa datos personales de deuda: acceso restringido y datos anonimizados en desarrollo (Ley 29733). Se revisó el recall por región y por sexo: diferencias dentro del rango. La decisión final es siempre del supervisor.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Ejemplo ilustrativo: caso y valores ficticios, ajenos a los proyectos del curso.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2194560" cy="4297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09728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Registro de los 3 riesgos principales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509967" y="457200"/>
            <a:ext cx="3995928" cy="347472"/>
          </a:xfrm>
          <a:prstGeom prst="rect">
            <a:avLst/>
          </a:prstGeom>
          <a:solidFill>
            <a:srgbClr val="00E1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09967" y="457200"/>
            <a:ext cx="399592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EJEMPLO · SECCIÓN 4 · RIESGOS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11680"/>
          <a:ext cx="1082009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40280"/>
                <a:gridCol w="1051560"/>
                <a:gridCol w="731520"/>
                <a:gridCol w="868680"/>
                <a:gridCol w="2468880"/>
                <a:gridCol w="1783080"/>
                <a:gridCol w="1218895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#</a:t>
                      </a:r>
                      <a:endParaRPr lang="en-US" sz="115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Riesgo</a:t>
                      </a:r>
                      <a:endParaRPr lang="en-US" sz="115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Categoría</a:t>
                      </a:r>
                      <a:endParaRPr lang="en-US" sz="115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Prob.</a:t>
                      </a:r>
                      <a:endParaRPr lang="en-US" sz="115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Impacto</a:t>
                      </a:r>
                      <a:endParaRPr lang="en-US" sz="115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Mitigación</a:t>
                      </a:r>
                      <a:endParaRPr lang="en-US" sz="115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Señal de alerta</a:t>
                      </a:r>
                      <a:endParaRPr lang="en-US" sz="115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Responsable</a:t>
                      </a:r>
                      <a:endParaRPr lang="en-US" sz="115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1</a:t>
                      </a:r>
                      <a:endParaRPr lang="en-US" sz="115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TI no habilita la extracción semanal automática de los datos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Datos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Alta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Alto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Extracción manual, declarada como paso manual en el contrato de alcance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Sin acceso al 7 de noviembre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Integrante 2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2</a:t>
                      </a:r>
                      <a:endParaRPr lang="en-US" sz="115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El modelo pierde desempeño con la nueva política de cobranza de 2026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Modelo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Media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Alto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Medir el Recall@50 cada mes con datos nuevos y reentrenar si cae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Recall@50 bajo 0,55 dos semanas seguidas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Integrante 1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3</a:t>
                      </a:r>
                      <a:endParaRPr lang="en-US" sz="115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Los supervisores no confían en la lista y siguen ordenando por días de mora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Adopción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Media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Alto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Mostrar el motivo de cada cliente; prueba de uso con 3 supervisores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Menos de la mitad de las llamadas siguen la lista en la prueba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Integrante 3</a:t>
                      </a:r>
                      <a:endParaRPr lang="en-US" sz="115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85800" y="557784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Cada señal de alerta es observable y tiene fecha o umbral. Cada mitigación tiene responsable.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Ejemplo ilustrativo: caso y valores ficticios, ajenos a los proyectos del curso.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2194560" cy="4297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09728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Anexo: enlaces y verificación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9174175" y="457200"/>
            <a:ext cx="2331720" cy="347472"/>
          </a:xfrm>
          <a:prstGeom prst="rect">
            <a:avLst/>
          </a:prstGeom>
          <a:solidFill>
            <a:srgbClr val="00E1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74175" y="457200"/>
            <a:ext cx="233172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EJEMPLO · ANEXO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85800" y="1920240"/>
            <a:ext cx="4937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" y="2029968"/>
            <a:ext cx="4608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Enlaces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50392" y="2395728"/>
            <a:ext cx="460857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Repositorio: github.com/equipo-ejemplo/cobranza-v0 (ilustrativo).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Datasheet: pestaña DS del libro del E4.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Plan del taller: foto del 17 de octubre, en la carpeta del equipo.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" y="4297680"/>
            <a:ext cx="4937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" y="4407408"/>
            <a:ext cx="4608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Lo que no aplica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50392" y="4773168"/>
            <a:ext cx="460857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Costo y latencia por caso: no aplica como restricción. El modelo corre una vez por semana, en menos de 5 minutos, fuera del horario de llamadas.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852160" y="1920240"/>
            <a:ext cx="5653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Lista de verificación antes de entregar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2331720"/>
          <a:ext cx="565373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007815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✓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Verificación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Evidencia P4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☑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La métrica principal se conecta con el KPI de impacto y el contrapeso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2.4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☑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Los datos de prueba no se usaron para entrenar ni para ajustar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2.5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☑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Hay al menos dos baselines en la tabla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2.3 · 4.2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☑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Cada número tiene su rango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2.6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☑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Hay al menos 2 segmentos analizados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2.7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☑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La Model Card tiene sus 8 cajas llenas o con «No aplica»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5.3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☑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Los 3 riesgos tienen señal de alerta con fecha y responsable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5.4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☑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Se borraron todas las pistas en gris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—</a:t>
                      </a:r>
                      <a:endParaRPr lang="en-US" sz="120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Ejemplo ilustrativo: caso y valores ficticios, ajenos a los proyectos del curso.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E5 · Ejemplo lleno (caso de cobranza)</dc:title>
  <dc:subject>PptxGenJS Presentation</dc:subject>
  <dc:creator>Diego Benavides Huaita</dc:creator>
  <cp:lastModifiedBy>Diego Benavides Huaita</cp:lastModifiedBy>
  <cp:revision>1</cp:revision>
  <dcterms:created xsi:type="dcterms:W3CDTF">2026-10-25T01:43:08Z</dcterms:created>
  <dcterms:modified xsi:type="dcterms:W3CDTF">2026-10-25T01:43:08Z</dcterms:modified>
</cp:coreProperties>
</file>